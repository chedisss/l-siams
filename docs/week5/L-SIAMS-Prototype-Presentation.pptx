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33A"/>
                </a:solidFill>
                <a:latin typeface="Calibri"/>
              </a:rPr>
              <a:t>Automated suite — cases passed by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 passed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0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Simultaneous sessions</c:v>
                  </c:pt>
                  <c:pt idx="1">
                    <c:v>Duplicate race (50 taps)</c:v>
                  </c:pt>
                  <c:pt idx="2">
                    <c:v>Cross-device race</c:v>
                  </c:pt>
                  <c:pt idx="3">
                    <c:v>Section mismatch</c:v>
                  </c:pt>
                  <c:pt idx="4">
                    <c:v>Time-in / time-out</c:v>
                  </c:pt>
                  <c:pt idx="5">
                    <c:v>Status resolver</c:v>
                  </c:pt>
                  <c:pt idx="6">
                    <c:v>Session close</c:v>
                  </c:pt>
                  <c:pt idx="7">
                    <c:v>Idempotent retry</c:v>
                  </c:pt>
                  <c:pt idx="8">
                    <c:v>Offline replay</c:v>
                  </c:pt>
                  <c:pt idx="9">
                    <c:v>Throughput</c:v>
                  </c:pt>
                  <c:pt idx="10">
                    <c:v>Realtime sequencing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3</c:v>
                </c:pt>
                <c:pt idx="6">
                  <c:v>6</c:v>
                </c:pt>
                <c:pt idx="7">
                  <c:v>2</c:v>
                </c:pt>
                <c:pt idx="8">
                  <c:v>5</c:v>
                </c:pt>
                <c:pt idx="9">
                  <c:v>2</c:v>
                </c:pt>
                <c:pt idx="1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450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b"/>
        <c:majorGridlines>
          <c:spPr>
            <a:ln w="12700" cap="flat">
              <a:solidFill>
                <a:srgbClr val="EA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7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presenting L-SIAMS, an attendance monitoring system that runs entirely on the school's own network. What you will see today is the Alpha Version — the full attendance path, working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define this system. Students tap in and out; the teacher must be physically present to open the register; the server, not the device, decides what a tap means; and none of it depends on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five failures we set out to remove. Each one maps to a specific design decision you will see in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objectives. Each of the five problems on the previous slide is answered by at least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layers. Note the division of responsibility: the terminal reports, the server decides, the database has the last word. That is what makes a tampered terminal harmless.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stages. Stage three is where a forged or replayed request dies; stage five is where a double-record becomes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enforces the rules that matter, rather than trusting the application to remember them. Under fifty simultaneous taps, a UNIQUE key holds where a PHP check would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session rules are the heart of the system. The one to emphasise is the first: a register cannot exist without the teacher physically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each assuming the one above it has already failed. Every claim on this slide was tested against the running system, not inferred from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report types, three export formats, and twenty administration modules — all of which returned live data during Week 5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capture from the running Alpha Version during Week 5 testing — a live session with eighteen students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steps. Steps five and six are the ones worth watching — they show that the server, not the terminal, is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kinds of checking, and all three had to agree before anything was marked Pass. The suite alone is forty-four cases across eleven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showing the defects rather than hiding them. Finding these is what Week 5 was for — the seeder defect alone would have stopped this demonstration at its first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items. Four are before Week 6; TLS is a deployment concern rather than a demonstration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of thirteen module groups are complete. The two that are not are both on the terminal side, and both are scheduled before Week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the Alpha Version carries the whole attendance path, forty-four of forty-four tests pass, seven defects were found and fixed, and nothing critical is open. We are ready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6766560" cy="6766560"/>
          </a:xfrm>
          <a:prstGeom prst="roundRect">
            <a:avLst>
              <a:gd name="adj" fmla="val 6757"/>
            </a:avLst>
          </a:prstGeom>
          <a:solidFill>
            <a:srgbClr val="17355F"/>
          </a:solidFill>
          <a:ln w="12700">
            <a:solidFill>
              <a:srgbClr val="1735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206240"/>
            <a:ext cx="5486400" cy="5486400"/>
          </a:xfrm>
          <a:prstGeom prst="roundRect">
            <a:avLst>
              <a:gd name="adj" fmla="val 8333"/>
            </a:avLst>
          </a:prstGeom>
          <a:solidFill>
            <a:srgbClr val="133055"/>
          </a:solidFill>
          <a:ln w="12700">
            <a:solidFill>
              <a:srgbClr val="13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L-SIAMS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IoT-Based Multi-Layer Secured Attendance Monitoring System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RFID and Biometric Authentication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Prototype Presentation   ·   [Group Leader], [Member 2], [Member 3], [Member 4], [Member 5]   ·   Adviser: [Project Adviser]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register that cannot be signed by the wrong person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8424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in, tap out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present an RFID card on a classroom terminal. Arrival and departure are separate facts, not one ambiguous word.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8424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must be there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0" y="2404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opens only when the teacher proves presence with a fingerprint on that terminal — and only for a class they are scheduled to teach.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13308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760" y="455371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reports "this card was presented at this time". Whether that is an arrival, a departure or a refusal is decided server-side.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3308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school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0" y="455371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service, no external API, no internet dependency at runtime. One machine inside the building runs all of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 with the registers schools keep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329184" cy="3291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17720" y="1737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 answers for an absent student, or signs the sheet on their behalf. Nothing about a paper register can tell the difference.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34640"/>
            <a:ext cx="329184" cy="3291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066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departure record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67919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marked present at 8:00 may have left at 8:20. One word — "present" — hides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76472"/>
            <a:ext cx="329184" cy="3291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6484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that can be edited afterwards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362102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register can be changed later by anyone who can open the file, and it will not show that it was changed.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71416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18304"/>
            <a:ext cx="329184" cy="3291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18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90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known until it is typed up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45628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reach an adviser days later, by which time the reason is gone.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13248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660136"/>
            <a:ext cx="329184" cy="3291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660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532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stop when the internet does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55046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attendance system in a school with intermittent connectivity fails exactly when the class is starting.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has to do to fix that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4140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attendance to a physical card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626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cannot be created without the card being present at the terminal.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36008" y="24140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the teacher to be present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29626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fingerprint on the classroom terminal is the only thing that opens a register.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57616" y="24140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arrival and departure separately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29626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distinct final statuses, so "late and left early" is not flattened.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87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4400" y="4562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record permanent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logs cannot be deleted or re-attributed, at three independent layers.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1688" y="388620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36008" y="4087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36008" y="4562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as it happens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36008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to the administrator and the adviser, not a next-day summary.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388620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57616" y="4087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57616" y="4562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working without the internet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7616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the system runs on the school LAN, including the queue for a terminal that loses its link.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all of them inside the school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0" cy="969264"/>
          </a:xfrm>
          <a:prstGeom prst="roundRect">
            <a:avLst>
              <a:gd name="adj" fmla="val 1132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96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TERMINALS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MFRC522 RFID reader · AS608 fingerprint sensor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41080" y="18379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what happened. Decides nothing.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10800000">
            <a:off x="4416552" y="2660904"/>
            <a:ext cx="219456" cy="146304"/>
          </a:xfrm>
          <a:prstGeom prst="triangle">
            <a:avLst/>
          </a:prstGeom>
          <a:solidFill>
            <a:srgbClr val="B9C6D8"/>
          </a:solidFill>
          <a:ln w="12700">
            <a:solidFill>
              <a:srgbClr val="B9C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25496"/>
            <a:ext cx="7772400" cy="969264"/>
          </a:xfrm>
          <a:prstGeom prst="roundRect">
            <a:avLst>
              <a:gd name="adj" fmla="val 11321"/>
            </a:avLst>
          </a:prstGeom>
          <a:solidFill>
            <a:srgbClr val="2C6E9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53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3009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LAN · per-request HMAC-SHA256 signing · CIDR allowlist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4108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key is useless from the wrong subnet.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10800000">
            <a:off x="4416552" y="3794760"/>
            <a:ext cx="219456" cy="146304"/>
          </a:xfrm>
          <a:prstGeom prst="triangle">
            <a:avLst/>
          </a:prstGeom>
          <a:solidFill>
            <a:srgbClr val="B9C6D8"/>
          </a:solidFill>
          <a:ln w="12700">
            <a:solidFill>
              <a:srgbClr val="B9C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59352"/>
            <a:ext cx="7772400" cy="969264"/>
          </a:xfrm>
          <a:prstGeom prst="roundRect">
            <a:avLst>
              <a:gd name="adj" fmla="val 11321"/>
            </a:avLst>
          </a:prstGeom>
          <a:solidFill>
            <a:srgbClr val="17355F"/>
          </a:solidFill>
          <a:ln w="12700">
            <a:solidFill>
              <a:srgbClr val="1735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87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8.1+ · 35 services · 13 middleware · realtime WebSocket server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41080" y="41056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every tap. Holds every rule.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4416552" y="4928616"/>
            <a:ext cx="219456" cy="146304"/>
          </a:xfrm>
          <a:prstGeom prst="triangle">
            <a:avLst/>
          </a:prstGeom>
          <a:solidFill>
            <a:srgbClr val="B9C6D8"/>
          </a:solidFill>
          <a:ln w="12700">
            <a:solidFill>
              <a:srgbClr val="B9C6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093208"/>
            <a:ext cx="7772400" cy="969264"/>
          </a:xfrm>
          <a:prstGeom prst="roundRect">
            <a:avLst>
              <a:gd name="adj" fmla="val 11321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212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56869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10.6+ · 60 tables · 13 triggers · invariants as UNIQUE keys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41080" y="52395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word on what is true.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Composer packages. The XLSX writer, the PDF writer, the WebSocket server and the autoloader are all in the repository — the target network may have no route to the internet at all.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between the card and the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933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751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presented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reads the UID and takes a timestamp at the moment of the tap.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4290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9933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38928" y="19751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signed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36008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over method, path, device id, timestamp, nonce and body hash.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4290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9933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0536" y="19751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checks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address, rate limit, key, device state, allowlist, timestamp, nonce, signature, idempotency.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90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879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1696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resolved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decides: time in, time out, or refusal — from session state and schedule windows.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3931920"/>
            <a:ext cx="34290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1879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41696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36008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key over generated columns makes a duplicate row impossible, even under a race.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931920"/>
            <a:ext cx="34290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879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0536" y="41696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live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7616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reaches every open screen through the realtime server, with sequence replay.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Alpha Version: 6.5 ms median, 7.7 ms at the 95th percentile, against an 800 ms budget.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schema is the specification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143000"/>
          </a:xfrm>
          <a:prstGeom prst="roundRect">
            <a:avLst>
              <a:gd name="adj" fmla="val 1120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514600" cy="1143000"/>
          </a:xfrm>
          <a:prstGeom prst="roundRect">
            <a:avLst>
              <a:gd name="adj" fmla="val 1120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37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042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514600" cy="1143000"/>
          </a:xfrm>
          <a:prstGeom prst="roundRect">
            <a:avLst>
              <a:gd name="adj" fmla="val 1120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37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042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514600" cy="1143000"/>
          </a:xfrm>
          <a:prstGeom prst="roundRect">
            <a:avLst>
              <a:gd name="adj" fmla="val 1120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37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042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live in the schema, not in application checks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753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session per classroom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566160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register cannot be opened in a room that already has one.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card per student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352544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reissued card deactivates the old one in the same statement.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93208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48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attendance row per student per session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5138928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UNIQUE key over generated columns — a check-then-insert in code would lose the race.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879592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344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identity is immutable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92531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rejects any update that changes the student, session, subject, teacher, room or card. Times and statuses can be corrected; a row can never become somebody else's.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and session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01952"/>
            <a:ext cx="274320" cy="274320"/>
          </a:xfrm>
          <a:prstGeom prst="ellipse">
            <a:avLst/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288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opens on a fingerprint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2128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opens one — no password, no button, no administrator action on the web side. A password failover exists only when the reader cannot read a teacher, and it is recorded as such.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901952"/>
            <a:ext cx="274320" cy="274320"/>
          </a:xfrm>
          <a:prstGeom prst="ellipse">
            <a:avLst/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8288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arrival and departure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221284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late, left early, incomplete, absent, excused and auto-closed — seven distinct final statuses.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474720"/>
            <a:ext cx="274320" cy="274320"/>
          </a:xfrm>
          <a:prstGeom prst="ellipse">
            <a:avLst/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4015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stay enforced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78561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taps out immediately after arriving is refused, with the remaining time shown on the terminal.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218688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474720"/>
            <a:ext cx="274320" cy="274320"/>
          </a:xfrm>
          <a:prstGeom prst="ellipse">
            <a:avLst/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4015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378561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left open by a terminal that lost power is closed by the maintenance worker; absences and auto time-outs resolve on close.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91456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047488"/>
            <a:ext cx="274320" cy="274320"/>
          </a:xfrm>
          <a:prstGeom prst="ellipse">
            <a:avLst/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9743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tolerant by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535838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tap carries its own timestamp and an idempotency key, so a replayed queue can never double-record.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791456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5047488"/>
            <a:ext cx="274320" cy="274320"/>
          </a:xfrm>
          <a:prstGeom prst="ellipse">
            <a:avLst/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9743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frozen on the record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535838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Section, subject, teacher and room are copied onto each row, so a student who transfers in January does not have their October attendance rewritten.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layer assumes the one above it failed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7355F"/>
          </a:solidFill>
          <a:ln w="12700">
            <a:solidFill>
              <a:srgbClr val="244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9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5000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HMAC-SHA256. Ten checks before any attendance logic runs: source address, rate limit, key, device state, IP allowlist, timestamp within ±30 s, nonce, signature, idempotency.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7355F"/>
          </a:solidFill>
          <a:ln w="12700">
            <a:solidFill>
              <a:srgbClr val="2444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29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35000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at cost 12, twelve-character minimum, forced change of any shared password, server-side idle timeout that background traffic cannot extend.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7355F"/>
          </a:solidFill>
          <a:ln w="12700">
            <a:solidFill>
              <a:srgbClr val="244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32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5312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three times over: no service method writes twice, database triggers raise SQLSTATE 45000, and the application user holds no privilege to change a log.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7947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7355F"/>
          </a:solidFill>
          <a:ln w="12700">
            <a:solidFill>
              <a:srgbClr val="2444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032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445312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interface and the device API are each restricted to their own CIDR range. A stolen device key is useless from the wrong subnet.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asserted: a forged signature, a stale timestamp and an unregistered card were each refused by the running system during Week 5 testing.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Reporting, live updates and administration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report types × 3 formats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 and monthly attendance · per student · per teacher · per subject · section sheets, summaries and comparisons · adviser reports · roster with RFID status · chronic absence · device uptime · audit log · security log.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33467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PDF, Excel or CSV — every writer built in this repository.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with a fallback that always works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first, then Server-Sent Events, then long polling — whichever the network allows. Every event carries a sequence number, so a screen that reconnects replays exactly what it missed and nothing twice.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33467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sequences strictly monotonic, replay returns exactly the missed events.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administration modules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177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71216" y="461772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1216" y="46177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02352" y="461772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46177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33488" y="461772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46177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64624" y="4617720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46177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093208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932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71216" y="5093208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50932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02352" y="5093208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50932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33488" y="5093208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3488" y="50932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64624" y="5093208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64624" y="50932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568696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5686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71216" y="5568696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71216" y="55686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02352" y="5568696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55686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33488" y="5568696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33488" y="55686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64624" y="5568696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64624" y="55686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604418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04418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71216" y="604418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71216" y="604418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centre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02352" y="604418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604418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33488" y="604418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33488" y="604418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564624" y="6044184"/>
            <a:ext cx="2084832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64624" y="604418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Alpha Version, running</a:t>
            </a:r>
            <a:endParaRPr lang="en-US" sz="3000" dirty="0"/>
          </a:p>
        </p:txBody>
      </p:sp>
      <p:pic>
        <p:nvPicPr>
          <p:cNvPr id="4" name="Image 0" descr="/tmp/claude-0/-home-user-L-SIAMS/21e5fe94-2d37-5887-ba82-f6d76c4698ea/scratchpad/shots/03-session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7863840" cy="4919472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778240" y="16916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ATT-2026-000102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78240" y="20391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by fingerprint — the panel records how, not just who.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78240" y="291693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in the room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0" y="32644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count, updating as each card is presented.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778240" y="4142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not yet seen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78240" y="4489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absent automatically when the session closes.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78240" y="536752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78240" y="57150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realtime pill: this screen is on a WebSocket, not a refresh timer.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 you, in eight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73352" y="2020824"/>
            <a:ext cx="457200" cy="457200"/>
          </a:xfrm>
          <a:prstGeom prst="ellipse">
            <a:avLst/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7335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9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2666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counts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202082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569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schedule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302666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bound to Room 101, window open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51192" y="2020824"/>
            <a:ext cx="457200" cy="457200"/>
          </a:xfrm>
          <a:prstGeom prst="ellipse">
            <a:avLst/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569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fingerprint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302666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opens — teacher, subject, section named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40112" y="202082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2569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89720" y="302666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appear live on the session 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73352" y="4261104"/>
            <a:ext cx="457200" cy="457200"/>
          </a:xfrm>
          <a:prstGeom prst="ellipse">
            <a:avLst/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335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809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again at once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52669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TOO EARLY TO EXIT — 0/20 min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40233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426110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11880" y="4809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 card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11880" y="52669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UNKNOWN CARD, and logged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40233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51192" y="4261104"/>
            <a:ext cx="457200" cy="457200"/>
          </a:xfrm>
          <a:prstGeom prst="ellipse">
            <a:avLst/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119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4809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session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00800" y="52669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resolved; roster fully accounted for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6840" y="4023360"/>
            <a:ext cx="2514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040112" y="426110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4011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89720" y="4809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report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89720" y="52669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downloads, built without any library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in this deck was run, not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556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/ 44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4140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cases pass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556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/ 45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4140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exports valid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556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4140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modules live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556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 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06840" y="24140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latency (p95)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20040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7863840" y="3337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suite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63840" y="36667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a real MariaDB server, not a mock — the guarantees under test belong to the database.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63840" y="4389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API over HTTP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63840" y="47183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with genuinely HMAC-signed requests: claim, clock sync, heartbeat, sync, and start / tap / end.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0" y="5440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fetched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863840" y="576986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administrator modules and all 45 report exports pulled from the running server.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defects found. All seven fixed.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 would have been visible during this presentation.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03120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03120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2011680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could open a session on demonstration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200253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seeder wrote fingerprint templates but never bound them to a sensor. The demo would have stopped at step three.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761488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761488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670048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with a drifted clock had no way 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66090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cure sat behind the very check that was failing, and the 401 discarded the server clock it carried.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419856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1985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3328416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command died on a hardened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31927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required rights the deployment guide deliberately withholds — so it failed exactly when it was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41064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078224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78224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3986784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log could be silently rewritten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39776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a delete trigger but no update trigger. "Immutable three times over" held only for the audit log.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599432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736592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736592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4645152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database hardening could not be applied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63600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REVOKE statements fail with error 1147 — leaving an administrator believing a layer was in place when it was not.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257800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3F6FA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5394960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394960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37360" y="5303520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schema file was four migrations behind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52943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phpMyAdmin install got a database missing a whole table.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916168"/>
            <a:ext cx="1088136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6053328"/>
            <a:ext cx="749808" cy="301752"/>
          </a:xfrm>
          <a:prstGeom prst="roundRect">
            <a:avLst>
              <a:gd name="adj" fmla="val 24242"/>
            </a:avLst>
          </a:prstGeom>
          <a:solidFill>
            <a:srgbClr val="7A87A0"/>
          </a:solidFill>
          <a:ln w="12700">
            <a:solidFill>
              <a:srgbClr val="7A8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6053328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37360" y="5961888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way to run one test group did nothing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595274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 in the README is not the flag the runner parses.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left before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in the shipping firmware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83480" y="1783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side is complete and tested. The terminal sketch still needs it before a power cut can be survived without losing taps.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12680" y="1929384"/>
            <a:ext cx="1280160" cy="347472"/>
          </a:xfrm>
          <a:prstGeom prst="roundRect">
            <a:avLst>
              <a:gd name="adj" fmla="val 23684"/>
            </a:avLst>
          </a:prstGeom>
          <a:solidFill>
            <a:srgbClr val="F3F6FA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19293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rehearsal on the physical hardware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83480" y="27249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 this deck was produced against the server. The ESP32 path needs its own dry run.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871216"/>
            <a:ext cx="1280160" cy="347472"/>
          </a:xfrm>
          <a:prstGeom prst="roundRect">
            <a:avLst>
              <a:gd name="adj" fmla="val 23684"/>
            </a:avLst>
          </a:prstGeom>
          <a:solidFill>
            <a:srgbClr val="F3F6FA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12680" y="28712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75304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6667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 the realtime server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83480" y="366674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plaintext on the bench. Attendance events should not cross a school network in the clear.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3813048"/>
            <a:ext cx="1280160" cy="347472"/>
          </a:xfrm>
          <a:prstGeom prst="roundRect">
            <a:avLst>
              <a:gd name="adj" fmla="val 23684"/>
            </a:avLst>
          </a:prstGeom>
          <a:solidFill>
            <a:srgbClr val="F3F6FA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3813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60857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test for the fingerprint binding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83480" y="46085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seeder defect was invisible to the existing suite. It should not be able to return unnoticed.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4754880"/>
            <a:ext cx="1280160" cy="347472"/>
          </a:xfrm>
          <a:prstGeom prst="roundRect">
            <a:avLst>
              <a:gd name="adj" fmla="val 23684"/>
            </a:avLst>
          </a:prstGeom>
          <a:solidFill>
            <a:srgbClr val="F3F6FA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4754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5458968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5504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run on the presentation machine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83480" y="55504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environment the demonstration will actually run 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5696712"/>
            <a:ext cx="1280160" cy="347472"/>
          </a:xfrm>
          <a:prstGeom prst="roundRect">
            <a:avLst>
              <a:gd name="adj" fmla="val 23684"/>
            </a:avLst>
          </a:prstGeom>
          <a:solidFill>
            <a:srgbClr val="F3F6FA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2680" y="5696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before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0F7B5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schema and invariants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the security chain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structure and scheduling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cards and fingerprints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registry and provisioning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engine and status resolver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API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server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export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worker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64592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6008" y="187452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36008" y="242316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terminal firmware — offline replay queue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rehearsal on the physical terminals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64592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87452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57616" y="242316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 for the realtime server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 for fingerprint binding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run on the presentation machine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737360"/>
            <a:ext cx="6400800" cy="6400800"/>
          </a:xfrm>
          <a:prstGeom prst="roundRect">
            <a:avLst>
              <a:gd name="adj" fmla="val 7143"/>
            </a:avLst>
          </a:prstGeom>
          <a:solidFill>
            <a:srgbClr val="17355F"/>
          </a:solidFill>
          <a:ln w="12700">
            <a:solidFill>
              <a:srgbClr val="173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Alpha Version works end to end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opens a register with their fingerprint. Students tap in and out. The server decides every tap, the record is written once, and it can never be re-attributed. Fifteen kinds of report come out the other end — and none of it needs the internet.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44/44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559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108960" y="5559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fixed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94960" y="5559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2026-08-22T13:00:50Z</dcterms:created>
  <dcterms:modified xsi:type="dcterms:W3CDTF">2026-08-22T13:00:50Z</dcterms:modified>
</cp:coreProperties>
</file>