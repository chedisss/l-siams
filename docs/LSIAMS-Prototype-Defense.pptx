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L-SIAMS, a classroom attendance system built for a school LAN, with network security as its focus. The system is built and running; the school evaluation has not yet been conducted, and we will be clear about that boundary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observed numbers from the partner school. The key point is the last one: the existing system monitors entry to the campus, not presence in the classroom. That gap is what the study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framed the problem as a security problem, not only an efficiency one. Each of these four gaps maps to a control we implemented, and we will show each one running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explicit with the panel: objectives one to three are done and we will demonstrate them. Objective four is the evaluation, which happens on deployment at the school. Nothing in this deck presents evaluation results, because we do not have them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running system, not a mock-up. Every screenshot in this deck was captured from the application against a populated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defence-in-depth structure. Read down the right-hand column: each layer contributes an independent control. If one is defeated, the others still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failover matters. A panel will ask what happens when the sensor fails. The answer is that the class still runs, but the bypass is logged and an administrator can see how often it is used and by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two dashed boxes with your own photographs of the assembled unit before the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Walk left to right. Emphasise that steps three to five are what a key-only scheme cannot do: proving possession of a secret, bounding the reuse window, and making each request single-use.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the manuscript and the system differed: we implemented signing during development because keys alone did not meet the threat model, and we have now aligned the document to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automatic revocation line is worth saying aloud — it shows the system responds to compromise rather than only recording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evidence that multi-layer security in our title is real and not a claim. Each of these is a defined event type that the running system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panel asks about threat modelling, this is the answer. We used STRIDE and every row names a control that exists, not one we intend to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this is development-time verification of the TLS setup, not the full security evaluation. Saying so protects you if the panel asks what has actually been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an IT administrator lives in. Everything on it is produced by the controls described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these are deliberately separate. The audit log is for accountability; the security log is for investigation and has a resolution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 registered terminal can transmit. From the detail view we issue, rotate and revoke a terminal’s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termination screen is our direct response capability if an account is believed compromised.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teacher cannot see or act on another teacher’s classes. That is the role-based access control working, not a UI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this before the panel finds it. It reads as engineering judgement rather than a gap, and it is the honest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Chapters one to four are complete; there is no Chapter five yet because the evaluation has not run. That is the expected shape of a prototype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straight from Table 6 of the manuscript. Fixing thresholds before evaluation is the methodological point worth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Anticipated questions: why LAN and not cloud; what happens when the fingerprint reader fails; how you know the terminal is genuine; what the offline limit is; and what testing has actually been done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640080" y="1600200"/>
            <a:ext cx="10911535" cy="914400"/>
          </a:xfrm>
          <a:prstGeom prst="rect">
            <a:avLst/>
          </a:prstGeom>
          <a:noFill/>
          <a:ln/>
        </p:spPr>
        <p:txBody>
          <a:bodyPr wrap="square" lIns="0" tIns="0" rIns="0" bIns="0" rtlCol="0" anchor="ctr"/>
          <a:lstStyle/>
          <a:p>
            <a:pPr indent="0" marL="0">
              <a:buNone/>
            </a:pPr>
            <a:r>
              <a:rPr lang="en-US" sz="6000" b="1" spc="100" kern="0" dirty="0">
                <a:solidFill>
                  <a:srgbClr val="FFFFFF"/>
                </a:solidFill>
                <a:latin typeface="Cambria" pitchFamily="34" charset="0"/>
                <a:ea typeface="Cambria" pitchFamily="34" charset="-122"/>
                <a:cs typeface="Cambria" pitchFamily="34" charset="-120"/>
              </a:rPr>
              <a:t>L-SIAMS</a:t>
            </a:r>
            <a:endParaRPr lang="en-US" sz="6000" dirty="0"/>
          </a:p>
        </p:txBody>
      </p:sp>
      <p:sp>
        <p:nvSpPr>
          <p:cNvPr id="3" name="Text 1"/>
          <p:cNvSpPr txBox="1"/>
          <p:nvPr/>
        </p:nvSpPr>
        <p:spPr>
          <a:xfrm>
            <a:off x="640080" y="2542032"/>
            <a:ext cx="8595360" cy="868680"/>
          </a:xfrm>
          <a:prstGeom prst="rect">
            <a:avLst/>
          </a:prstGeom>
          <a:noFill/>
          <a:ln/>
        </p:spPr>
        <p:txBody>
          <a:bodyPr wrap="square" lIns="0" tIns="0" rIns="0" bIns="0" rtlCol="0" anchor="ctr"/>
          <a:lstStyle/>
          <a:p>
            <a:pPr indent="0" marL="0">
              <a:lnSpc>
                <a:spcPts val="2600"/>
              </a:lnSpc>
              <a:buNone/>
            </a:pPr>
            <a:r>
              <a:rPr lang="en-US" sz="1700" dirty="0">
                <a:solidFill>
                  <a:srgbClr val="E9EEF5"/>
                </a:solidFill>
                <a:latin typeface="Calibri" pitchFamily="34" charset="0"/>
                <a:ea typeface="Calibri" pitchFamily="34" charset="-122"/>
                <a:cs typeface="Calibri" pitchFamily="34" charset="-120"/>
              </a:rPr>
              <a:t>A Local IoT-Based Multi-Layer Secured Attendance Monitoring System</a:t>
            </a:r>
            <a:endParaRPr lang="en-US" sz="1700" dirty="0"/>
          </a:p>
          <a:p>
            <a:pPr indent="0" marL="0">
              <a:lnSpc>
                <a:spcPts val="2600"/>
              </a:lnSpc>
              <a:buNone/>
            </a:pPr>
            <a:r>
              <a:rPr lang="en-US" sz="1700" dirty="0">
                <a:solidFill>
                  <a:srgbClr val="E9EEF5"/>
                </a:solidFill>
                <a:latin typeface="Calibri" pitchFamily="34" charset="0"/>
                <a:ea typeface="Calibri" pitchFamily="34" charset="-122"/>
                <a:cs typeface="Calibri" pitchFamily="34" charset="-120"/>
              </a:rPr>
              <a:t>with RFID and Biometric Authentication</a:t>
            </a:r>
            <a:endParaRPr lang="en-US" sz="1700" dirty="0"/>
          </a:p>
        </p:txBody>
      </p:sp>
      <p:sp>
        <p:nvSpPr>
          <p:cNvPr id="4" name="Shape 2"/>
          <p:cNvSpPr/>
          <p:nvPr/>
        </p:nvSpPr>
        <p:spPr>
          <a:xfrm>
            <a:off x="640080" y="3611880"/>
            <a:ext cx="2286000" cy="384048"/>
          </a:xfrm>
          <a:prstGeom prst="roundRect">
            <a:avLst>
              <a:gd name="adj" fmla="val 23810"/>
            </a:avLst>
          </a:prstGeom>
          <a:solidFill>
            <a:srgbClr val="E8A33D"/>
          </a:solidFill>
          <a:ln/>
        </p:spPr>
      </p:sp>
      <p:sp>
        <p:nvSpPr>
          <p:cNvPr id="5" name="Text 3"/>
          <p:cNvSpPr txBox="1"/>
          <p:nvPr/>
        </p:nvSpPr>
        <p:spPr>
          <a:xfrm>
            <a:off x="640080" y="3611880"/>
            <a:ext cx="2286000" cy="384048"/>
          </a:xfrm>
          <a:prstGeom prst="rect">
            <a:avLst/>
          </a:prstGeom>
          <a:noFill/>
          <a:ln/>
        </p:spPr>
        <p:txBody>
          <a:bodyPr wrap="square" lIns="0" tIns="0" rIns="0" bIns="0" rtlCol="0" anchor="ctr"/>
          <a:lstStyle/>
          <a:p>
            <a:pPr algn="ctr" indent="0" marL="0">
              <a:buNone/>
            </a:pPr>
            <a:r>
              <a:rPr lang="en-US" sz="1100" b="1" spc="100" kern="0" dirty="0">
                <a:solidFill>
                  <a:srgbClr val="1A1206"/>
                </a:solidFill>
                <a:latin typeface="Calibri" pitchFamily="34" charset="0"/>
                <a:ea typeface="Calibri" pitchFamily="34" charset="-122"/>
                <a:cs typeface="Calibri" pitchFamily="34" charset="-120"/>
              </a:rPr>
              <a:t>PROTOTYPE DEFENSE</a:t>
            </a:r>
            <a:endParaRPr lang="en-US" sz="1100" dirty="0"/>
          </a:p>
        </p:txBody>
      </p:sp>
      <p:sp>
        <p:nvSpPr>
          <p:cNvPr id="6" name="Text 4"/>
          <p:cNvSpPr txBox="1"/>
          <p:nvPr/>
        </p:nvSpPr>
        <p:spPr>
          <a:xfrm>
            <a:off x="640080" y="4480560"/>
            <a:ext cx="9601200" cy="731520"/>
          </a:xfrm>
          <a:prstGeom prst="rect">
            <a:avLst/>
          </a:prstGeom>
          <a:noFill/>
          <a:ln/>
        </p:spPr>
        <p:txBody>
          <a:bodyPr wrap="square" lIns="0" tIns="0" rIns="0" bIns="0" rtlCol="0" anchor="ctr"/>
          <a:lstStyle/>
          <a:p>
            <a:pPr indent="0" marL="0">
              <a:lnSpc>
                <a:spcPts val="2200"/>
              </a:lnSpc>
              <a:buNone/>
            </a:pPr>
            <a:r>
              <a:rPr lang="en-US" sz="1300" dirty="0">
                <a:solidFill>
                  <a:srgbClr val="9FB0C4"/>
                </a:solidFill>
                <a:latin typeface="Calibri" pitchFamily="34" charset="0"/>
                <a:ea typeface="Calibri" pitchFamily="34" charset="-122"/>
                <a:cs typeface="Calibri" pitchFamily="34" charset="-120"/>
              </a:rPr>
              <a:t>Ched Nikko P. Pangilinan   ·   Joshkirby Tyler M. Bote   ·   Naph Yvan P. Villamar</a:t>
            </a:r>
            <a:endParaRPr lang="en-US" sz="1300" dirty="0"/>
          </a:p>
          <a:p>
            <a:pPr indent="0" marL="0">
              <a:lnSpc>
                <a:spcPts val="2200"/>
              </a:lnSpc>
              <a:buNone/>
            </a:pPr>
            <a:r>
              <a:rPr lang="en-US" sz="1300" dirty="0">
                <a:solidFill>
                  <a:srgbClr val="9FB0C4"/>
                </a:solidFill>
                <a:latin typeface="Calibri" pitchFamily="34" charset="0"/>
                <a:ea typeface="Calibri" pitchFamily="34" charset="-122"/>
                <a:cs typeface="Calibri" pitchFamily="34" charset="-120"/>
              </a:rPr>
              <a:t>BS Information Technology  ·  Isabela State University – Echague Campus</a:t>
            </a:r>
            <a:endParaRPr lang="en-US" sz="1300" dirty="0"/>
          </a:p>
        </p:txBody>
      </p:sp>
      <p:sp>
        <p:nvSpPr>
          <p:cNvPr id="8" name="Text 5"/>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9" name="Text 6"/>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Attendance at TAPS today</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One RFID terminal at the gate — and manual roll call in every classroom</a:t>
            </a:r>
            <a:endParaRPr lang="en-US" sz="1400" dirty="0"/>
          </a:p>
        </p:txBody>
      </p:sp>
      <p:sp>
        <p:nvSpPr>
          <p:cNvPr id="4" name="Shape 2"/>
          <p:cNvSpPr/>
          <p:nvPr/>
        </p:nvSpPr>
        <p:spPr>
          <a:xfrm>
            <a:off x="640080" y="1874520"/>
            <a:ext cx="2606040" cy="1965960"/>
          </a:xfrm>
          <a:prstGeom prst="roundRect">
            <a:avLst>
              <a:gd name="adj" fmla="val 2326"/>
            </a:avLst>
          </a:prstGeom>
          <a:solidFill>
            <a:srgbClr val="FFFFFF"/>
          </a:solidFill>
          <a:ln/>
          <a:effectLst>
            <a:outerShdw sx="100000" sy="100000" kx="0" ky="0" algn="bl" rotWithShape="0" blurRad="127000" dist="19050" dir="5400000">
              <a:srgbClr val="9AA9BC">
                <a:alpha val="18000"/>
              </a:srgbClr>
            </a:outerShdw>
          </a:effectLst>
        </p:spPr>
      </p:sp>
      <p:sp>
        <p:nvSpPr>
          <p:cNvPr id="5" name="Text 3"/>
          <p:cNvSpPr txBox="1"/>
          <p:nvPr/>
        </p:nvSpPr>
        <p:spPr>
          <a:xfrm>
            <a:off x="640080" y="2084832"/>
            <a:ext cx="2606040" cy="777240"/>
          </a:xfrm>
          <a:prstGeom prst="rect">
            <a:avLst/>
          </a:prstGeom>
          <a:noFill/>
          <a:ln/>
        </p:spPr>
        <p:txBody>
          <a:bodyPr wrap="square" lIns="0" tIns="0" rIns="0" bIns="0" rtlCol="0" anchor="ctr"/>
          <a:lstStyle/>
          <a:p>
            <a:pPr algn="ctr" indent="0" marL="0">
              <a:buNone/>
            </a:pPr>
            <a:r>
              <a:rPr lang="en-US" sz="3600" b="1" dirty="0">
                <a:solidFill>
                  <a:srgbClr val="2E6F9E"/>
                </a:solidFill>
                <a:latin typeface="Cambria" pitchFamily="34" charset="0"/>
                <a:ea typeface="Cambria" pitchFamily="34" charset="-122"/>
                <a:cs typeface="Cambria" pitchFamily="34" charset="-120"/>
              </a:rPr>
              <a:t>300–500</a:t>
            </a:r>
            <a:endParaRPr lang="en-US" sz="3600" dirty="0"/>
          </a:p>
        </p:txBody>
      </p:sp>
      <p:sp>
        <p:nvSpPr>
          <p:cNvPr id="6" name="Text 4"/>
          <p:cNvSpPr txBox="1"/>
          <p:nvPr/>
        </p:nvSpPr>
        <p:spPr>
          <a:xfrm>
            <a:off x="822960" y="2880360"/>
            <a:ext cx="2240280" cy="777240"/>
          </a:xfrm>
          <a:prstGeom prst="rect">
            <a:avLst/>
          </a:prstGeom>
          <a:noFill/>
          <a:ln/>
        </p:spPr>
        <p:txBody>
          <a:bodyPr wrap="square" lIns="0" tIns="0" rIns="0" bIns="0" rtlCol="0" anchor="ctr"/>
          <a:lstStyle/>
          <a:p>
            <a:pPr algn="ctr" indent="0" marL="0">
              <a:lnSpc>
                <a:spcPts val="1800"/>
              </a:lnSpc>
              <a:buNone/>
            </a:pPr>
            <a:r>
              <a:rPr lang="en-US" sz="1300" dirty="0">
                <a:solidFill>
                  <a:srgbClr val="6B7A8D"/>
                </a:solidFill>
                <a:latin typeface="Calibri" pitchFamily="34" charset="0"/>
                <a:ea typeface="Calibri" pitchFamily="34" charset="-122"/>
                <a:cs typeface="Calibri" pitchFamily="34" charset="-120"/>
              </a:rPr>
              <a:t>students tapping</a:t>
            </a:r>
            <a:endParaRPr lang="en-US" sz="1300" dirty="0"/>
          </a:p>
          <a:p>
            <a:pPr algn="ctr" indent="0" marL="0">
              <a:lnSpc>
                <a:spcPts val="1800"/>
              </a:lnSpc>
              <a:buNone/>
            </a:pPr>
            <a:r>
              <a:rPr lang="en-US" sz="1300" dirty="0">
                <a:solidFill>
                  <a:srgbClr val="6B7A8D"/>
                </a:solidFill>
                <a:latin typeface="Calibri" pitchFamily="34" charset="0"/>
                <a:ea typeface="Calibri" pitchFamily="34" charset="-122"/>
                <a:cs typeface="Calibri" pitchFamily="34" charset="-120"/>
              </a:rPr>
              <a:t>daily</a:t>
            </a:r>
            <a:endParaRPr lang="en-US" sz="1300" dirty="0"/>
          </a:p>
        </p:txBody>
      </p:sp>
      <p:sp>
        <p:nvSpPr>
          <p:cNvPr id="7" name="Shape 5"/>
          <p:cNvSpPr/>
          <p:nvPr/>
        </p:nvSpPr>
        <p:spPr>
          <a:xfrm>
            <a:off x="3547872" y="1874520"/>
            <a:ext cx="2606040" cy="1965960"/>
          </a:xfrm>
          <a:prstGeom prst="roundRect">
            <a:avLst>
              <a:gd name="adj" fmla="val 2326"/>
            </a:avLst>
          </a:prstGeom>
          <a:solidFill>
            <a:srgbClr val="FFFFFF"/>
          </a:solidFill>
          <a:ln/>
          <a:effectLst>
            <a:outerShdw sx="100000" sy="100000" kx="0" ky="0" algn="bl" rotWithShape="0" blurRad="127000" dist="19050" dir="5400000">
              <a:srgbClr val="9AA9BC">
                <a:alpha val="18000"/>
              </a:srgbClr>
            </a:outerShdw>
          </a:effectLst>
        </p:spPr>
      </p:sp>
      <p:sp>
        <p:nvSpPr>
          <p:cNvPr id="8" name="Text 6"/>
          <p:cNvSpPr txBox="1"/>
          <p:nvPr/>
        </p:nvSpPr>
        <p:spPr>
          <a:xfrm>
            <a:off x="3547872" y="2084832"/>
            <a:ext cx="2606040" cy="777240"/>
          </a:xfrm>
          <a:prstGeom prst="rect">
            <a:avLst/>
          </a:prstGeom>
          <a:noFill/>
          <a:ln/>
        </p:spPr>
        <p:txBody>
          <a:bodyPr wrap="square" lIns="0" tIns="0" rIns="0" bIns="0" rtlCol="0" anchor="ctr"/>
          <a:lstStyle/>
          <a:p>
            <a:pPr algn="ctr" indent="0" marL="0">
              <a:buNone/>
            </a:pPr>
            <a:r>
              <a:rPr lang="en-US" sz="3600" b="1" dirty="0">
                <a:solidFill>
                  <a:srgbClr val="E8A33D"/>
                </a:solidFill>
                <a:latin typeface="Cambria" pitchFamily="34" charset="0"/>
                <a:ea typeface="Cambria" pitchFamily="34" charset="-122"/>
                <a:cs typeface="Cambria" pitchFamily="34" charset="-120"/>
              </a:rPr>
              <a:t>20–30</a:t>
            </a:r>
            <a:endParaRPr lang="en-US" sz="3600" dirty="0"/>
          </a:p>
        </p:txBody>
      </p:sp>
      <p:sp>
        <p:nvSpPr>
          <p:cNvPr id="9" name="Text 7"/>
          <p:cNvSpPr txBox="1"/>
          <p:nvPr/>
        </p:nvSpPr>
        <p:spPr>
          <a:xfrm>
            <a:off x="3730752" y="2880360"/>
            <a:ext cx="2240280" cy="777240"/>
          </a:xfrm>
          <a:prstGeom prst="rect">
            <a:avLst/>
          </a:prstGeom>
          <a:noFill/>
          <a:ln/>
        </p:spPr>
        <p:txBody>
          <a:bodyPr wrap="square" lIns="0" tIns="0" rIns="0" bIns="0" rtlCol="0" anchor="ctr"/>
          <a:lstStyle/>
          <a:p>
            <a:pPr algn="ctr" indent="0" marL="0">
              <a:lnSpc>
                <a:spcPts val="1800"/>
              </a:lnSpc>
              <a:buNone/>
            </a:pPr>
            <a:r>
              <a:rPr lang="en-US" sz="1300" dirty="0">
                <a:solidFill>
                  <a:srgbClr val="6B7A8D"/>
                </a:solidFill>
                <a:latin typeface="Calibri" pitchFamily="34" charset="0"/>
                <a:ea typeface="Calibri" pitchFamily="34" charset="-122"/>
                <a:cs typeface="Calibri" pitchFamily="34" charset="-120"/>
              </a:rPr>
              <a:t>students queued</a:t>
            </a:r>
            <a:endParaRPr lang="en-US" sz="1300" dirty="0"/>
          </a:p>
          <a:p>
            <a:pPr algn="ctr" indent="0" marL="0">
              <a:lnSpc>
                <a:spcPts val="1800"/>
              </a:lnSpc>
              <a:buNone/>
            </a:pPr>
            <a:r>
              <a:rPr lang="en-US" sz="1300" dirty="0">
                <a:solidFill>
                  <a:srgbClr val="6B7A8D"/>
                </a:solidFill>
                <a:latin typeface="Calibri" pitchFamily="34" charset="0"/>
                <a:ea typeface="Calibri" pitchFamily="34" charset="-122"/>
                <a:cs typeface="Calibri" pitchFamily="34" charset="-120"/>
              </a:rPr>
              <a:t>at peak</a:t>
            </a:r>
            <a:endParaRPr lang="en-US" sz="1300" dirty="0"/>
          </a:p>
        </p:txBody>
      </p:sp>
      <p:sp>
        <p:nvSpPr>
          <p:cNvPr id="10" name="Shape 8"/>
          <p:cNvSpPr/>
          <p:nvPr/>
        </p:nvSpPr>
        <p:spPr>
          <a:xfrm>
            <a:off x="6455664" y="1874520"/>
            <a:ext cx="2606040" cy="1965960"/>
          </a:xfrm>
          <a:prstGeom prst="roundRect">
            <a:avLst>
              <a:gd name="adj" fmla="val 2326"/>
            </a:avLst>
          </a:prstGeom>
          <a:solidFill>
            <a:srgbClr val="FFFFFF"/>
          </a:solidFill>
          <a:ln/>
          <a:effectLst>
            <a:outerShdw sx="100000" sy="100000" kx="0" ky="0" algn="bl" rotWithShape="0" blurRad="127000" dist="19050" dir="5400000">
              <a:srgbClr val="9AA9BC">
                <a:alpha val="18000"/>
              </a:srgbClr>
            </a:outerShdw>
          </a:effectLst>
        </p:spPr>
      </p:sp>
      <p:sp>
        <p:nvSpPr>
          <p:cNvPr id="11" name="Text 9"/>
          <p:cNvSpPr txBox="1"/>
          <p:nvPr/>
        </p:nvSpPr>
        <p:spPr>
          <a:xfrm>
            <a:off x="6455664" y="2084832"/>
            <a:ext cx="2606040" cy="777240"/>
          </a:xfrm>
          <a:prstGeom prst="rect">
            <a:avLst/>
          </a:prstGeom>
          <a:noFill/>
          <a:ln/>
        </p:spPr>
        <p:txBody>
          <a:bodyPr wrap="square" lIns="0" tIns="0" rIns="0" bIns="0" rtlCol="0" anchor="ctr"/>
          <a:lstStyle/>
          <a:p>
            <a:pPr algn="ctr" indent="0" marL="0">
              <a:buNone/>
            </a:pPr>
            <a:r>
              <a:rPr lang="en-US" sz="3600" b="1" dirty="0">
                <a:solidFill>
                  <a:srgbClr val="C0453B"/>
                </a:solidFill>
                <a:latin typeface="Cambria" pitchFamily="34" charset="0"/>
                <a:ea typeface="Cambria" pitchFamily="34" charset="-122"/>
                <a:cs typeface="Cambria" pitchFamily="34" charset="-120"/>
              </a:rPr>
              <a:t>5–10 min</a:t>
            </a:r>
            <a:endParaRPr lang="en-US" sz="3600" dirty="0"/>
          </a:p>
        </p:txBody>
      </p:sp>
      <p:sp>
        <p:nvSpPr>
          <p:cNvPr id="12" name="Text 10"/>
          <p:cNvSpPr txBox="1"/>
          <p:nvPr/>
        </p:nvSpPr>
        <p:spPr>
          <a:xfrm>
            <a:off x="6638544" y="2880360"/>
            <a:ext cx="2240280" cy="777240"/>
          </a:xfrm>
          <a:prstGeom prst="rect">
            <a:avLst/>
          </a:prstGeom>
          <a:noFill/>
          <a:ln/>
        </p:spPr>
        <p:txBody>
          <a:bodyPr wrap="square" lIns="0" tIns="0" rIns="0" bIns="0" rtlCol="0" anchor="ctr"/>
          <a:lstStyle/>
          <a:p>
            <a:pPr algn="ctr" indent="0" marL="0">
              <a:lnSpc>
                <a:spcPts val="1800"/>
              </a:lnSpc>
              <a:buNone/>
            </a:pPr>
            <a:r>
              <a:rPr lang="en-US" sz="1300" dirty="0">
                <a:solidFill>
                  <a:srgbClr val="6B7A8D"/>
                </a:solidFill>
                <a:latin typeface="Calibri" pitchFamily="34" charset="0"/>
                <a:ea typeface="Calibri" pitchFamily="34" charset="-122"/>
                <a:cs typeface="Calibri" pitchFamily="34" charset="-120"/>
              </a:rPr>
              <a:t>lost to roll call</a:t>
            </a:r>
            <a:endParaRPr lang="en-US" sz="1300" dirty="0"/>
          </a:p>
          <a:p>
            <a:pPr algn="ctr" indent="0" marL="0">
              <a:lnSpc>
                <a:spcPts val="1800"/>
              </a:lnSpc>
              <a:buNone/>
            </a:pPr>
            <a:r>
              <a:rPr lang="en-US" sz="1300" dirty="0">
                <a:solidFill>
                  <a:srgbClr val="6B7A8D"/>
                </a:solidFill>
                <a:latin typeface="Calibri" pitchFamily="34" charset="0"/>
                <a:ea typeface="Calibri" pitchFamily="34" charset="-122"/>
                <a:cs typeface="Calibri" pitchFamily="34" charset="-120"/>
              </a:rPr>
              <a:t>per 40-min class</a:t>
            </a:r>
            <a:endParaRPr lang="en-US" sz="1300" dirty="0"/>
          </a:p>
        </p:txBody>
      </p:sp>
      <p:sp>
        <p:nvSpPr>
          <p:cNvPr id="13" name="Shape 11"/>
          <p:cNvSpPr/>
          <p:nvPr/>
        </p:nvSpPr>
        <p:spPr>
          <a:xfrm>
            <a:off x="9363456" y="1874520"/>
            <a:ext cx="2606040" cy="1965960"/>
          </a:xfrm>
          <a:prstGeom prst="roundRect">
            <a:avLst>
              <a:gd name="adj" fmla="val 2326"/>
            </a:avLst>
          </a:prstGeom>
          <a:solidFill>
            <a:srgbClr val="FFFFFF"/>
          </a:solidFill>
          <a:ln/>
          <a:effectLst>
            <a:outerShdw sx="100000" sy="100000" kx="0" ky="0" algn="bl" rotWithShape="0" blurRad="127000" dist="19050" dir="5400000">
              <a:srgbClr val="9AA9BC">
                <a:alpha val="18000"/>
              </a:srgbClr>
            </a:outerShdw>
          </a:effectLst>
        </p:spPr>
      </p:sp>
      <p:sp>
        <p:nvSpPr>
          <p:cNvPr id="14" name="Text 12"/>
          <p:cNvSpPr txBox="1"/>
          <p:nvPr/>
        </p:nvSpPr>
        <p:spPr>
          <a:xfrm>
            <a:off x="9363456" y="2084832"/>
            <a:ext cx="2606040" cy="777240"/>
          </a:xfrm>
          <a:prstGeom prst="rect">
            <a:avLst/>
          </a:prstGeom>
          <a:noFill/>
          <a:ln/>
        </p:spPr>
        <p:txBody>
          <a:bodyPr wrap="square" lIns="0" tIns="0" rIns="0" bIns="0" rtlCol="0" anchor="ctr"/>
          <a:lstStyle/>
          <a:p>
            <a:pPr algn="ctr" indent="0" marL="0">
              <a:buNone/>
            </a:pPr>
            <a:r>
              <a:rPr lang="en-US" sz="3600" b="1" dirty="0">
                <a:solidFill>
                  <a:srgbClr val="0E1A2B"/>
                </a:solidFill>
                <a:latin typeface="Cambria" pitchFamily="34" charset="0"/>
                <a:ea typeface="Cambria" pitchFamily="34" charset="-122"/>
                <a:cs typeface="Cambria" pitchFamily="34" charset="-120"/>
              </a:rPr>
              <a:t>0</a:t>
            </a:r>
            <a:endParaRPr lang="en-US" sz="3600" dirty="0"/>
          </a:p>
        </p:txBody>
      </p:sp>
      <p:sp>
        <p:nvSpPr>
          <p:cNvPr id="15" name="Text 13"/>
          <p:cNvSpPr txBox="1"/>
          <p:nvPr/>
        </p:nvSpPr>
        <p:spPr>
          <a:xfrm>
            <a:off x="9546336" y="2880360"/>
            <a:ext cx="2240280" cy="777240"/>
          </a:xfrm>
          <a:prstGeom prst="rect">
            <a:avLst/>
          </a:prstGeom>
          <a:noFill/>
          <a:ln/>
        </p:spPr>
        <p:txBody>
          <a:bodyPr wrap="square" lIns="0" tIns="0" rIns="0" bIns="0" rtlCol="0" anchor="ctr"/>
          <a:lstStyle/>
          <a:p>
            <a:pPr algn="ctr" indent="0" marL="0">
              <a:lnSpc>
                <a:spcPts val="1800"/>
              </a:lnSpc>
              <a:buNone/>
            </a:pPr>
            <a:r>
              <a:rPr lang="en-US" sz="1300" dirty="0">
                <a:solidFill>
                  <a:srgbClr val="6B7A8D"/>
                </a:solidFill>
                <a:latin typeface="Calibri" pitchFamily="34" charset="0"/>
                <a:ea typeface="Calibri" pitchFamily="34" charset="-122"/>
                <a:cs typeface="Calibri" pitchFamily="34" charset="-120"/>
              </a:rPr>
              <a:t>classroom-level</a:t>
            </a:r>
            <a:endParaRPr lang="en-US" sz="1300" dirty="0"/>
          </a:p>
          <a:p>
            <a:pPr algn="ctr" indent="0" marL="0">
              <a:lnSpc>
                <a:spcPts val="1800"/>
              </a:lnSpc>
              <a:buNone/>
            </a:pPr>
            <a:r>
              <a:rPr lang="en-US" sz="1300" dirty="0">
                <a:solidFill>
                  <a:srgbClr val="6B7A8D"/>
                </a:solidFill>
                <a:latin typeface="Calibri" pitchFamily="34" charset="0"/>
                <a:ea typeface="Calibri" pitchFamily="34" charset="-122"/>
                <a:cs typeface="Calibri" pitchFamily="34" charset="-120"/>
              </a:rPr>
              <a:t>validation</a:t>
            </a:r>
            <a:endParaRPr lang="en-US" sz="1300" dirty="0"/>
          </a:p>
        </p:txBody>
      </p:sp>
      <p:sp>
        <p:nvSpPr>
          <p:cNvPr id="16" name="Text 14"/>
          <p:cNvSpPr txBox="1"/>
          <p:nvPr/>
        </p:nvSpPr>
        <p:spPr>
          <a:xfrm>
            <a:off x="640080" y="4206240"/>
            <a:ext cx="10911535" cy="822960"/>
          </a:xfrm>
          <a:prstGeom prst="rect">
            <a:avLst/>
          </a:prstGeom>
          <a:noFill/>
          <a:ln/>
        </p:spPr>
        <p:txBody>
          <a:bodyPr wrap="square" lIns="0" tIns="0" rIns="0" bIns="0" rtlCol="0" anchor="ctr"/>
          <a:lstStyle/>
          <a:p>
            <a:pPr indent="0" marL="0">
              <a:lnSpc>
                <a:spcPts val="2400"/>
              </a:lnSpc>
              <a:buNone/>
            </a:pPr>
            <a:r>
              <a:rPr lang="en-US" sz="1500" dirty="0">
                <a:solidFill>
                  <a:srgbClr val="16202E"/>
                </a:solidFill>
                <a:latin typeface="Calibri" pitchFamily="34" charset="0"/>
                <a:ea typeface="Calibri" pitchFamily="34" charset="-122"/>
                <a:cs typeface="Calibri" pitchFamily="34" charset="-120"/>
              </a:rPr>
              <a:t>The gate terminal tells parents a child entered the campus. It cannot say whether that child was in the room when the lesson began — so students bypass it, and teachers still call the roll by hand.</a:t>
            </a:r>
            <a:endParaRPr lang="en-US" sz="1500" dirty="0"/>
          </a:p>
        </p:txBody>
      </p:sp>
      <p:sp>
        <p:nvSpPr>
          <p:cNvPr id="18" name="Text 15"/>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9" name="Text 16"/>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And nothing protects the data</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9FB0C4"/>
                </a:solidFill>
                <a:latin typeface="Calibri" pitchFamily="34" charset="0"/>
                <a:ea typeface="Calibri" pitchFamily="34" charset="-122"/>
                <a:cs typeface="Calibri" pitchFamily="34" charset="-120"/>
              </a:rPr>
              <a:t>The current setup transmits attendance with none of these controls in place</a:t>
            </a:r>
            <a:endParaRPr lang="en-US" sz="1400" dirty="0"/>
          </a:p>
        </p:txBody>
      </p:sp>
      <p:sp>
        <p:nvSpPr>
          <p:cNvPr id="4" name="Shape 2"/>
          <p:cNvSpPr/>
          <p:nvPr/>
        </p:nvSpPr>
        <p:spPr>
          <a:xfrm>
            <a:off x="640080" y="1920240"/>
            <a:ext cx="5394960" cy="1170432"/>
          </a:xfrm>
          <a:prstGeom prst="roundRect">
            <a:avLst>
              <a:gd name="adj" fmla="val 3906"/>
            </a:avLst>
          </a:prstGeom>
          <a:solidFill>
            <a:srgbClr val="17273D"/>
          </a:solidFill>
          <a:ln/>
        </p:spPr>
      </p:sp>
      <p:sp>
        <p:nvSpPr>
          <p:cNvPr id="5" name="Shape 3"/>
          <p:cNvSpPr/>
          <p:nvPr/>
        </p:nvSpPr>
        <p:spPr>
          <a:xfrm>
            <a:off x="914400" y="2194560"/>
            <a:ext cx="384048" cy="384048"/>
          </a:xfrm>
          <a:prstGeom prst="roundRect">
            <a:avLst>
              <a:gd name="adj" fmla="val 19048"/>
            </a:avLst>
          </a:prstGeom>
          <a:solidFill>
            <a:srgbClr val="C0453B"/>
          </a:solidFill>
          <a:ln/>
        </p:spPr>
      </p:sp>
      <p:sp>
        <p:nvSpPr>
          <p:cNvPr id="6" name="Text 4"/>
          <p:cNvSpPr txBox="1"/>
          <p:nvPr/>
        </p:nvSpPr>
        <p:spPr>
          <a:xfrm>
            <a:off x="914400" y="2194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txBox="1"/>
          <p:nvPr/>
        </p:nvSpPr>
        <p:spPr>
          <a:xfrm>
            <a:off x="1481328" y="2121408"/>
            <a:ext cx="429768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encrypted transport</a:t>
            </a:r>
            <a:endParaRPr lang="en-US" sz="1500" dirty="0"/>
          </a:p>
        </p:txBody>
      </p:sp>
      <p:sp>
        <p:nvSpPr>
          <p:cNvPr id="8" name="Text 6"/>
          <p:cNvSpPr txBox="1"/>
          <p:nvPr/>
        </p:nvSpPr>
        <p:spPr>
          <a:xfrm>
            <a:off x="1481328" y="2450592"/>
            <a:ext cx="4297680" cy="530352"/>
          </a:xfrm>
          <a:prstGeom prst="rect">
            <a:avLst/>
          </a:prstGeom>
          <a:noFill/>
          <a:ln/>
        </p:spPr>
        <p:txBody>
          <a:bodyPr wrap="square" lIns="0" tIns="0" rIns="0" bIns="0" rtlCol="0" anchor="ctr"/>
          <a:lstStyle/>
          <a:p>
            <a:pPr indent="0" marL="0">
              <a:lnSpc>
                <a:spcPts val="1600"/>
              </a:lnSpc>
              <a:buNone/>
            </a:pPr>
            <a:r>
              <a:rPr lang="en-US" sz="1200" dirty="0">
                <a:solidFill>
                  <a:srgbClr val="9FB0C4"/>
                </a:solidFill>
                <a:latin typeface="Calibri" pitchFamily="34" charset="0"/>
                <a:ea typeface="Calibri" pitchFamily="34" charset="-122"/>
                <a:cs typeface="Calibri" pitchFamily="34" charset="-120"/>
              </a:rPr>
              <a:t>Attendance data crosses the network in the clear and can be read by anyone on it.</a:t>
            </a:r>
            <a:endParaRPr lang="en-US" sz="1200" dirty="0"/>
          </a:p>
        </p:txBody>
      </p:sp>
      <p:sp>
        <p:nvSpPr>
          <p:cNvPr id="9" name="Shape 7"/>
          <p:cNvSpPr/>
          <p:nvPr/>
        </p:nvSpPr>
        <p:spPr>
          <a:xfrm>
            <a:off x="6492240" y="1920240"/>
            <a:ext cx="5394960" cy="1170432"/>
          </a:xfrm>
          <a:prstGeom prst="roundRect">
            <a:avLst>
              <a:gd name="adj" fmla="val 3906"/>
            </a:avLst>
          </a:prstGeom>
          <a:solidFill>
            <a:srgbClr val="17273D"/>
          </a:solidFill>
          <a:ln/>
        </p:spPr>
      </p:sp>
      <p:sp>
        <p:nvSpPr>
          <p:cNvPr id="10" name="Shape 8"/>
          <p:cNvSpPr/>
          <p:nvPr/>
        </p:nvSpPr>
        <p:spPr>
          <a:xfrm>
            <a:off x="6766560" y="2194560"/>
            <a:ext cx="384048" cy="384048"/>
          </a:xfrm>
          <a:prstGeom prst="roundRect">
            <a:avLst>
              <a:gd name="adj" fmla="val 19048"/>
            </a:avLst>
          </a:prstGeom>
          <a:solidFill>
            <a:srgbClr val="C0453B"/>
          </a:solidFill>
          <a:ln/>
        </p:spPr>
      </p:sp>
      <p:sp>
        <p:nvSpPr>
          <p:cNvPr id="11" name="Text 9"/>
          <p:cNvSpPr txBox="1"/>
          <p:nvPr/>
        </p:nvSpPr>
        <p:spPr>
          <a:xfrm>
            <a:off x="6766560" y="2194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7333488" y="2121408"/>
            <a:ext cx="429768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device authentication</a:t>
            </a:r>
            <a:endParaRPr lang="en-US" sz="1500" dirty="0"/>
          </a:p>
        </p:txBody>
      </p:sp>
      <p:sp>
        <p:nvSpPr>
          <p:cNvPr id="13" name="Text 11"/>
          <p:cNvSpPr txBox="1"/>
          <p:nvPr/>
        </p:nvSpPr>
        <p:spPr>
          <a:xfrm>
            <a:off x="7333488" y="2450592"/>
            <a:ext cx="4297680" cy="530352"/>
          </a:xfrm>
          <a:prstGeom prst="rect">
            <a:avLst/>
          </a:prstGeom>
          <a:noFill/>
          <a:ln/>
        </p:spPr>
        <p:txBody>
          <a:bodyPr wrap="square" lIns="0" tIns="0" rIns="0" bIns="0" rtlCol="0" anchor="ctr"/>
          <a:lstStyle/>
          <a:p>
            <a:pPr indent="0" marL="0">
              <a:lnSpc>
                <a:spcPts val="1600"/>
              </a:lnSpc>
              <a:buNone/>
            </a:pPr>
            <a:r>
              <a:rPr lang="en-US" sz="1200" dirty="0">
                <a:solidFill>
                  <a:srgbClr val="9FB0C4"/>
                </a:solidFill>
                <a:latin typeface="Calibri" pitchFamily="34" charset="0"/>
                <a:ea typeface="Calibri" pitchFamily="34" charset="-122"/>
                <a:cs typeface="Calibri" pitchFamily="34" charset="-120"/>
              </a:rPr>
              <a:t>Any device that can reach the server can claim to be a classroom terminal.</a:t>
            </a:r>
            <a:endParaRPr lang="en-US" sz="1200" dirty="0"/>
          </a:p>
        </p:txBody>
      </p:sp>
      <p:sp>
        <p:nvSpPr>
          <p:cNvPr id="14" name="Shape 12"/>
          <p:cNvSpPr/>
          <p:nvPr/>
        </p:nvSpPr>
        <p:spPr>
          <a:xfrm>
            <a:off x="640080" y="3474720"/>
            <a:ext cx="5394960" cy="1170432"/>
          </a:xfrm>
          <a:prstGeom prst="roundRect">
            <a:avLst>
              <a:gd name="adj" fmla="val 3906"/>
            </a:avLst>
          </a:prstGeom>
          <a:solidFill>
            <a:srgbClr val="17273D"/>
          </a:solidFill>
          <a:ln/>
        </p:spPr>
      </p:sp>
      <p:sp>
        <p:nvSpPr>
          <p:cNvPr id="15" name="Shape 13"/>
          <p:cNvSpPr/>
          <p:nvPr/>
        </p:nvSpPr>
        <p:spPr>
          <a:xfrm>
            <a:off x="914400" y="3749040"/>
            <a:ext cx="384048" cy="384048"/>
          </a:xfrm>
          <a:prstGeom prst="roundRect">
            <a:avLst>
              <a:gd name="adj" fmla="val 19048"/>
            </a:avLst>
          </a:prstGeom>
          <a:solidFill>
            <a:srgbClr val="C0453B"/>
          </a:solidFill>
          <a:ln/>
        </p:spPr>
      </p:sp>
      <p:sp>
        <p:nvSpPr>
          <p:cNvPr id="16" name="Text 14"/>
          <p:cNvSpPr txBox="1"/>
          <p:nvPr/>
        </p:nvSpPr>
        <p:spPr>
          <a:xfrm>
            <a:off x="914400" y="3749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txBox="1"/>
          <p:nvPr/>
        </p:nvSpPr>
        <p:spPr>
          <a:xfrm>
            <a:off x="1481328" y="3675888"/>
            <a:ext cx="429768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access control</a:t>
            </a:r>
            <a:endParaRPr lang="en-US" sz="1500" dirty="0"/>
          </a:p>
        </p:txBody>
      </p:sp>
      <p:sp>
        <p:nvSpPr>
          <p:cNvPr id="18" name="Text 16"/>
          <p:cNvSpPr txBox="1"/>
          <p:nvPr/>
        </p:nvSpPr>
        <p:spPr>
          <a:xfrm>
            <a:off x="1481328" y="4005072"/>
            <a:ext cx="4297680" cy="530352"/>
          </a:xfrm>
          <a:prstGeom prst="rect">
            <a:avLst/>
          </a:prstGeom>
          <a:noFill/>
          <a:ln/>
        </p:spPr>
        <p:txBody>
          <a:bodyPr wrap="square" lIns="0" tIns="0" rIns="0" bIns="0" rtlCol="0" anchor="ctr"/>
          <a:lstStyle/>
          <a:p>
            <a:pPr indent="0" marL="0">
              <a:lnSpc>
                <a:spcPts val="1600"/>
              </a:lnSpc>
              <a:buNone/>
            </a:pPr>
            <a:r>
              <a:rPr lang="en-US" sz="1200" dirty="0">
                <a:solidFill>
                  <a:srgbClr val="9FB0C4"/>
                </a:solidFill>
                <a:latin typeface="Calibri" pitchFamily="34" charset="0"/>
                <a:ea typeface="Calibri" pitchFamily="34" charset="-122"/>
                <a:cs typeface="Calibri" pitchFamily="34" charset="-120"/>
              </a:rPr>
              <a:t>Nothing distinguishes who may read or change an attendance record.</a:t>
            </a:r>
            <a:endParaRPr lang="en-US" sz="1200" dirty="0"/>
          </a:p>
        </p:txBody>
      </p:sp>
      <p:sp>
        <p:nvSpPr>
          <p:cNvPr id="19" name="Shape 17"/>
          <p:cNvSpPr/>
          <p:nvPr/>
        </p:nvSpPr>
        <p:spPr>
          <a:xfrm>
            <a:off x="6492240" y="3474720"/>
            <a:ext cx="5394960" cy="1170432"/>
          </a:xfrm>
          <a:prstGeom prst="roundRect">
            <a:avLst>
              <a:gd name="adj" fmla="val 3906"/>
            </a:avLst>
          </a:prstGeom>
          <a:solidFill>
            <a:srgbClr val="17273D"/>
          </a:solidFill>
          <a:ln/>
        </p:spPr>
      </p:sp>
      <p:sp>
        <p:nvSpPr>
          <p:cNvPr id="20" name="Shape 18"/>
          <p:cNvSpPr/>
          <p:nvPr/>
        </p:nvSpPr>
        <p:spPr>
          <a:xfrm>
            <a:off x="6766560" y="3749040"/>
            <a:ext cx="384048" cy="384048"/>
          </a:xfrm>
          <a:prstGeom prst="roundRect">
            <a:avLst>
              <a:gd name="adj" fmla="val 19048"/>
            </a:avLst>
          </a:prstGeom>
          <a:solidFill>
            <a:srgbClr val="C0453B"/>
          </a:solidFill>
          <a:ln/>
        </p:spPr>
      </p:sp>
      <p:sp>
        <p:nvSpPr>
          <p:cNvPr id="21" name="Text 19"/>
          <p:cNvSpPr txBox="1"/>
          <p:nvPr/>
        </p:nvSpPr>
        <p:spPr>
          <a:xfrm>
            <a:off x="6766560" y="3749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2" name="Text 20"/>
          <p:cNvSpPr txBox="1"/>
          <p:nvPr/>
        </p:nvSpPr>
        <p:spPr>
          <a:xfrm>
            <a:off x="7333488" y="3675888"/>
            <a:ext cx="429768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 audit trail</a:t>
            </a:r>
            <a:endParaRPr lang="en-US" sz="1500" dirty="0"/>
          </a:p>
        </p:txBody>
      </p:sp>
      <p:sp>
        <p:nvSpPr>
          <p:cNvPr id="23" name="Text 21"/>
          <p:cNvSpPr txBox="1"/>
          <p:nvPr/>
        </p:nvSpPr>
        <p:spPr>
          <a:xfrm>
            <a:off x="7333488" y="4005072"/>
            <a:ext cx="4297680" cy="530352"/>
          </a:xfrm>
          <a:prstGeom prst="rect">
            <a:avLst/>
          </a:prstGeom>
          <a:noFill/>
          <a:ln/>
        </p:spPr>
        <p:txBody>
          <a:bodyPr wrap="square" lIns="0" tIns="0" rIns="0" bIns="0" rtlCol="0" anchor="ctr"/>
          <a:lstStyle/>
          <a:p>
            <a:pPr indent="0" marL="0">
              <a:lnSpc>
                <a:spcPts val="1600"/>
              </a:lnSpc>
              <a:buNone/>
            </a:pPr>
            <a:r>
              <a:rPr lang="en-US" sz="1200" dirty="0">
                <a:solidFill>
                  <a:srgbClr val="9FB0C4"/>
                </a:solidFill>
                <a:latin typeface="Calibri" pitchFamily="34" charset="0"/>
                <a:ea typeface="Calibri" pitchFamily="34" charset="-122"/>
                <a:cs typeface="Calibri" pitchFamily="34" charset="-120"/>
              </a:rPr>
              <a:t>A record can be altered with no evidence that it ever changed.</a:t>
            </a:r>
            <a:endParaRPr lang="en-US" sz="1200" dirty="0"/>
          </a:p>
        </p:txBody>
      </p:sp>
      <p:sp>
        <p:nvSpPr>
          <p:cNvPr id="24" name="Text 22"/>
          <p:cNvSpPr txBox="1"/>
          <p:nvPr/>
        </p:nvSpPr>
        <p:spPr>
          <a:xfrm>
            <a:off x="640080" y="5138928"/>
            <a:ext cx="10911535" cy="365760"/>
          </a:xfrm>
          <a:prstGeom prst="rect">
            <a:avLst/>
          </a:prstGeom>
          <a:noFill/>
          <a:ln/>
        </p:spPr>
        <p:txBody>
          <a:bodyPr wrap="square" lIns="0" tIns="0" rIns="0" bIns="0" rtlCol="0" anchor="ctr"/>
          <a:lstStyle/>
          <a:p>
            <a:pPr indent="0" marL="0">
              <a:buNone/>
            </a:pPr>
            <a:r>
              <a:rPr lang="en-US" sz="1500" i="1" dirty="0">
                <a:solidFill>
                  <a:srgbClr val="E8A33D"/>
                </a:solidFill>
                <a:latin typeface="Calibri" pitchFamily="34" charset="0"/>
                <a:ea typeface="Calibri" pitchFamily="34" charset="-122"/>
                <a:cs typeface="Calibri" pitchFamily="34" charset="-120"/>
              </a:rPr>
              <a:t>Our major is network security. These four gaps define the work.</a:t>
            </a:r>
            <a:endParaRPr lang="en-US" sz="1500" dirty="0"/>
          </a:p>
        </p:txBody>
      </p:sp>
      <p:sp>
        <p:nvSpPr>
          <p:cNvPr id="26" name="Text 23"/>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27" name="Text 24"/>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What we set out to do</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Three objectives are realised in the prototype; the fourth is the evaluation ahead</a:t>
            </a:r>
            <a:endParaRPr lang="en-US" sz="1400" dirty="0"/>
          </a:p>
        </p:txBody>
      </p:sp>
      <p:sp>
        <p:nvSpPr>
          <p:cNvPr id="4" name="Shape 2"/>
          <p:cNvSpPr/>
          <p:nvPr/>
        </p:nvSpPr>
        <p:spPr>
          <a:xfrm>
            <a:off x="640080" y="1783080"/>
            <a:ext cx="10911535" cy="932688"/>
          </a:xfrm>
          <a:prstGeom prst="roundRect">
            <a:avLst>
              <a:gd name="adj" fmla="val 4902"/>
            </a:avLst>
          </a:prstGeom>
          <a:solidFill>
            <a:srgbClr val="FFFFFF"/>
          </a:solidFill>
          <a:ln/>
          <a:effectLst>
            <a:outerShdw sx="100000" sy="100000" kx="0" ky="0" algn="bl" rotWithShape="0" blurRad="127000" dist="19050" dir="5400000">
              <a:srgbClr val="9AA9BC">
                <a:alpha val="18000"/>
              </a:srgbClr>
            </a:outerShdw>
          </a:effectLst>
        </p:spPr>
      </p:sp>
      <p:sp>
        <p:nvSpPr>
          <p:cNvPr id="5" name="Shape 3"/>
          <p:cNvSpPr/>
          <p:nvPr/>
        </p:nvSpPr>
        <p:spPr>
          <a:xfrm>
            <a:off x="914400" y="2039112"/>
            <a:ext cx="420624" cy="420624"/>
          </a:xfrm>
          <a:prstGeom prst="roundRect">
            <a:avLst>
              <a:gd name="adj" fmla="val 17391"/>
            </a:avLst>
          </a:prstGeom>
          <a:solidFill>
            <a:srgbClr val="2E6F9E"/>
          </a:solidFill>
          <a:ln/>
        </p:spPr>
      </p:sp>
      <p:sp>
        <p:nvSpPr>
          <p:cNvPr id="6" name="Text 4"/>
          <p:cNvSpPr txBox="1"/>
          <p:nvPr/>
        </p:nvSpPr>
        <p:spPr>
          <a:xfrm>
            <a:off x="914400" y="20391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08760" y="1911096"/>
            <a:ext cx="5852160" cy="329184"/>
          </a:xfrm>
          <a:prstGeom prst="rect">
            <a:avLst/>
          </a:prstGeom>
          <a:noFill/>
          <a:ln/>
        </p:spPr>
        <p:txBody>
          <a:bodyPr wrap="square" lIns="0" tIns="0" rIns="0" bIns="0" rtlCol="0" anchor="ctr"/>
          <a:lstStyle/>
          <a:p>
            <a:pPr indent="0" marL="0">
              <a:buNone/>
            </a:pPr>
            <a:r>
              <a:rPr lang="en-US" sz="1550" b="1" dirty="0">
                <a:solidFill>
                  <a:srgbClr val="16202E"/>
                </a:solidFill>
                <a:latin typeface="Calibri" pitchFamily="34" charset="0"/>
                <a:ea typeface="Calibri" pitchFamily="34" charset="-122"/>
                <a:cs typeface="Calibri" pitchFamily="34" charset="-120"/>
              </a:rPr>
              <a:t>Build the IoT capture device</a:t>
            </a:r>
            <a:endParaRPr lang="en-US" sz="1550" dirty="0"/>
          </a:p>
        </p:txBody>
      </p:sp>
      <p:sp>
        <p:nvSpPr>
          <p:cNvPr id="8" name="Text 6"/>
          <p:cNvSpPr txBox="1"/>
          <p:nvPr/>
        </p:nvSpPr>
        <p:spPr>
          <a:xfrm>
            <a:off x="1508760" y="2240280"/>
            <a:ext cx="7498080" cy="384048"/>
          </a:xfrm>
          <a:prstGeom prst="rect">
            <a:avLst/>
          </a:prstGeom>
          <a:noFill/>
          <a:ln/>
        </p:spPr>
        <p:txBody>
          <a:bodyPr wrap="square" lIns="0" tIns="0" rIns="0" bIns="0" rtlCol="0" anchor="ctr"/>
          <a:lstStyle/>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RFID tap at the classroom door, fingerprint verification of the teacher before a session opens.</a:t>
            </a:r>
            <a:endParaRPr lang="en-US" sz="1150" dirty="0"/>
          </a:p>
        </p:txBody>
      </p:sp>
      <p:sp>
        <p:nvSpPr>
          <p:cNvPr id="9" name="Shape 7"/>
          <p:cNvSpPr/>
          <p:nvPr/>
        </p:nvSpPr>
        <p:spPr>
          <a:xfrm>
            <a:off x="10225735" y="2066544"/>
            <a:ext cx="1051560" cy="365760"/>
          </a:xfrm>
          <a:prstGeom prst="roundRect">
            <a:avLst>
              <a:gd name="adj" fmla="val 25000"/>
            </a:avLst>
          </a:prstGeom>
          <a:solidFill>
            <a:srgbClr val="2E9E6B"/>
          </a:solidFill>
          <a:ln/>
        </p:spPr>
      </p:sp>
      <p:sp>
        <p:nvSpPr>
          <p:cNvPr id="10" name="Text 8"/>
          <p:cNvSpPr txBox="1"/>
          <p:nvPr/>
        </p:nvSpPr>
        <p:spPr>
          <a:xfrm>
            <a:off x="10225735" y="2066544"/>
            <a:ext cx="1051560" cy="365760"/>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BUILT</a:t>
            </a:r>
            <a:endParaRPr lang="en-US" sz="1000" dirty="0"/>
          </a:p>
        </p:txBody>
      </p:sp>
      <p:sp>
        <p:nvSpPr>
          <p:cNvPr id="11" name="Shape 9"/>
          <p:cNvSpPr/>
          <p:nvPr/>
        </p:nvSpPr>
        <p:spPr>
          <a:xfrm>
            <a:off x="640080" y="2862072"/>
            <a:ext cx="10911535" cy="932688"/>
          </a:xfrm>
          <a:prstGeom prst="roundRect">
            <a:avLst>
              <a:gd name="adj" fmla="val 4902"/>
            </a:avLst>
          </a:prstGeom>
          <a:solidFill>
            <a:srgbClr val="FFFFFF"/>
          </a:solidFill>
          <a:ln/>
          <a:effectLst>
            <a:outerShdw sx="100000" sy="100000" kx="0" ky="0" algn="bl" rotWithShape="0" blurRad="127000" dist="19050" dir="5400000">
              <a:srgbClr val="9AA9BC">
                <a:alpha val="18000"/>
              </a:srgbClr>
            </a:outerShdw>
          </a:effectLst>
        </p:spPr>
      </p:sp>
      <p:sp>
        <p:nvSpPr>
          <p:cNvPr id="12" name="Shape 10"/>
          <p:cNvSpPr/>
          <p:nvPr/>
        </p:nvSpPr>
        <p:spPr>
          <a:xfrm>
            <a:off x="914400" y="3118104"/>
            <a:ext cx="420624" cy="420624"/>
          </a:xfrm>
          <a:prstGeom prst="roundRect">
            <a:avLst>
              <a:gd name="adj" fmla="val 17391"/>
            </a:avLst>
          </a:prstGeom>
          <a:solidFill>
            <a:srgbClr val="2E6F9E"/>
          </a:solidFill>
          <a:ln/>
        </p:spPr>
      </p:sp>
      <p:sp>
        <p:nvSpPr>
          <p:cNvPr id="13" name="Text 11"/>
          <p:cNvSpPr txBox="1"/>
          <p:nvPr/>
        </p:nvSpPr>
        <p:spPr>
          <a:xfrm>
            <a:off x="914400" y="311810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508760" y="2990088"/>
            <a:ext cx="5852160" cy="329184"/>
          </a:xfrm>
          <a:prstGeom prst="rect">
            <a:avLst/>
          </a:prstGeom>
          <a:noFill/>
          <a:ln/>
        </p:spPr>
        <p:txBody>
          <a:bodyPr wrap="square" lIns="0" tIns="0" rIns="0" bIns="0" rtlCol="0" anchor="ctr"/>
          <a:lstStyle/>
          <a:p>
            <a:pPr indent="0" marL="0">
              <a:buNone/>
            </a:pPr>
            <a:r>
              <a:rPr lang="en-US" sz="1550" b="1" dirty="0">
                <a:solidFill>
                  <a:srgbClr val="16202E"/>
                </a:solidFill>
                <a:latin typeface="Calibri" pitchFamily="34" charset="0"/>
                <a:ea typeface="Calibri" pitchFamily="34" charset="-122"/>
                <a:cs typeface="Calibri" pitchFamily="34" charset="-120"/>
              </a:rPr>
              <a:t>Build the locally hosted system</a:t>
            </a:r>
            <a:endParaRPr lang="en-US" sz="1550" dirty="0"/>
          </a:p>
        </p:txBody>
      </p:sp>
      <p:sp>
        <p:nvSpPr>
          <p:cNvPr id="15" name="Text 13"/>
          <p:cNvSpPr txBox="1"/>
          <p:nvPr/>
        </p:nvSpPr>
        <p:spPr>
          <a:xfrm>
            <a:off x="1508760" y="3319272"/>
            <a:ext cx="7498080" cy="384048"/>
          </a:xfrm>
          <a:prstGeom prst="rect">
            <a:avLst/>
          </a:prstGeom>
          <a:noFill/>
          <a:ln/>
        </p:spPr>
        <p:txBody>
          <a:bodyPr wrap="square" lIns="0" tIns="0" rIns="0" bIns="0" rtlCol="0" anchor="ctr"/>
          <a:lstStyle/>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Registration, central database, dashboards and reports — all on the school’s own server.</a:t>
            </a:r>
            <a:endParaRPr lang="en-US" sz="1150" dirty="0"/>
          </a:p>
        </p:txBody>
      </p:sp>
      <p:sp>
        <p:nvSpPr>
          <p:cNvPr id="16" name="Shape 14"/>
          <p:cNvSpPr/>
          <p:nvPr/>
        </p:nvSpPr>
        <p:spPr>
          <a:xfrm>
            <a:off x="10225735" y="3145536"/>
            <a:ext cx="1051560" cy="365760"/>
          </a:xfrm>
          <a:prstGeom prst="roundRect">
            <a:avLst>
              <a:gd name="adj" fmla="val 25000"/>
            </a:avLst>
          </a:prstGeom>
          <a:solidFill>
            <a:srgbClr val="2E9E6B"/>
          </a:solidFill>
          <a:ln/>
        </p:spPr>
      </p:sp>
      <p:sp>
        <p:nvSpPr>
          <p:cNvPr id="17" name="Text 15"/>
          <p:cNvSpPr txBox="1"/>
          <p:nvPr/>
        </p:nvSpPr>
        <p:spPr>
          <a:xfrm>
            <a:off x="10225735" y="3145536"/>
            <a:ext cx="1051560" cy="365760"/>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BUILT</a:t>
            </a:r>
            <a:endParaRPr lang="en-US" sz="1000" dirty="0"/>
          </a:p>
        </p:txBody>
      </p:sp>
      <p:sp>
        <p:nvSpPr>
          <p:cNvPr id="18" name="Shape 16"/>
          <p:cNvSpPr/>
          <p:nvPr/>
        </p:nvSpPr>
        <p:spPr>
          <a:xfrm>
            <a:off x="640080" y="3941064"/>
            <a:ext cx="10911535" cy="932688"/>
          </a:xfrm>
          <a:prstGeom prst="roundRect">
            <a:avLst>
              <a:gd name="adj" fmla="val 4902"/>
            </a:avLst>
          </a:prstGeom>
          <a:solidFill>
            <a:srgbClr val="FFFFFF"/>
          </a:solidFill>
          <a:ln/>
          <a:effectLst>
            <a:outerShdw sx="100000" sy="100000" kx="0" ky="0" algn="bl" rotWithShape="0" blurRad="127000" dist="19050" dir="5400000">
              <a:srgbClr val="9AA9BC">
                <a:alpha val="18000"/>
              </a:srgbClr>
            </a:outerShdw>
          </a:effectLst>
        </p:spPr>
      </p:sp>
      <p:sp>
        <p:nvSpPr>
          <p:cNvPr id="19" name="Shape 17"/>
          <p:cNvSpPr/>
          <p:nvPr/>
        </p:nvSpPr>
        <p:spPr>
          <a:xfrm>
            <a:off x="914400" y="4197096"/>
            <a:ext cx="420624" cy="420624"/>
          </a:xfrm>
          <a:prstGeom prst="roundRect">
            <a:avLst>
              <a:gd name="adj" fmla="val 17391"/>
            </a:avLst>
          </a:prstGeom>
          <a:solidFill>
            <a:srgbClr val="2E6F9E"/>
          </a:solidFill>
          <a:ln/>
        </p:spPr>
      </p:sp>
      <p:sp>
        <p:nvSpPr>
          <p:cNvPr id="20" name="Text 18"/>
          <p:cNvSpPr txBox="1"/>
          <p:nvPr/>
        </p:nvSpPr>
        <p:spPr>
          <a:xfrm>
            <a:off x="914400" y="41970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1508760" y="4069080"/>
            <a:ext cx="5852160" cy="329184"/>
          </a:xfrm>
          <a:prstGeom prst="rect">
            <a:avLst/>
          </a:prstGeom>
          <a:noFill/>
          <a:ln/>
        </p:spPr>
        <p:txBody>
          <a:bodyPr wrap="square" lIns="0" tIns="0" rIns="0" bIns="0" rtlCol="0" anchor="ctr"/>
          <a:lstStyle/>
          <a:p>
            <a:pPr indent="0" marL="0">
              <a:buNone/>
            </a:pPr>
            <a:r>
              <a:rPr lang="en-US" sz="1550" b="1" dirty="0">
                <a:solidFill>
                  <a:srgbClr val="16202E"/>
                </a:solidFill>
                <a:latin typeface="Calibri" pitchFamily="34" charset="0"/>
                <a:ea typeface="Calibri" pitchFamily="34" charset="-122"/>
                <a:cs typeface="Calibri" pitchFamily="34" charset="-120"/>
              </a:rPr>
              <a:t>Implement the security mechanisms</a:t>
            </a:r>
            <a:endParaRPr lang="en-US" sz="1550" dirty="0"/>
          </a:p>
        </p:txBody>
      </p:sp>
      <p:sp>
        <p:nvSpPr>
          <p:cNvPr id="22" name="Text 20"/>
          <p:cNvSpPr txBox="1"/>
          <p:nvPr/>
        </p:nvSpPr>
        <p:spPr>
          <a:xfrm>
            <a:off x="1508760" y="4398264"/>
            <a:ext cx="7498080" cy="384048"/>
          </a:xfrm>
          <a:prstGeom prst="rect">
            <a:avLst/>
          </a:prstGeom>
          <a:noFill/>
          <a:ln/>
        </p:spPr>
        <p:txBody>
          <a:bodyPr wrap="square" lIns="0" tIns="0" rIns="0" bIns="0" rtlCol="0" anchor="ctr"/>
          <a:lstStyle/>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Encrypted transport, device authentication, access control, network control, audit logging.</a:t>
            </a:r>
            <a:endParaRPr lang="en-US" sz="1150" dirty="0"/>
          </a:p>
        </p:txBody>
      </p:sp>
      <p:sp>
        <p:nvSpPr>
          <p:cNvPr id="23" name="Shape 21"/>
          <p:cNvSpPr/>
          <p:nvPr/>
        </p:nvSpPr>
        <p:spPr>
          <a:xfrm>
            <a:off x="10225735" y="4224528"/>
            <a:ext cx="1051560" cy="365760"/>
          </a:xfrm>
          <a:prstGeom prst="roundRect">
            <a:avLst>
              <a:gd name="adj" fmla="val 25000"/>
            </a:avLst>
          </a:prstGeom>
          <a:solidFill>
            <a:srgbClr val="2E9E6B"/>
          </a:solidFill>
          <a:ln/>
        </p:spPr>
      </p:sp>
      <p:sp>
        <p:nvSpPr>
          <p:cNvPr id="24" name="Text 22"/>
          <p:cNvSpPr txBox="1"/>
          <p:nvPr/>
        </p:nvSpPr>
        <p:spPr>
          <a:xfrm>
            <a:off x="10225735" y="4224528"/>
            <a:ext cx="1051560" cy="365760"/>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BUILT</a:t>
            </a:r>
            <a:endParaRPr lang="en-US" sz="1000" dirty="0"/>
          </a:p>
        </p:txBody>
      </p:sp>
      <p:sp>
        <p:nvSpPr>
          <p:cNvPr id="25" name="Shape 23"/>
          <p:cNvSpPr/>
          <p:nvPr/>
        </p:nvSpPr>
        <p:spPr>
          <a:xfrm>
            <a:off x="640080" y="5020056"/>
            <a:ext cx="10911535" cy="932688"/>
          </a:xfrm>
          <a:prstGeom prst="roundRect">
            <a:avLst>
              <a:gd name="adj" fmla="val 4902"/>
            </a:avLst>
          </a:prstGeom>
          <a:solidFill>
            <a:srgbClr val="FFFFFF"/>
          </a:solidFill>
          <a:ln/>
          <a:effectLst>
            <a:outerShdw sx="100000" sy="100000" kx="0" ky="0" algn="bl" rotWithShape="0" blurRad="127000" dist="19050" dir="5400000">
              <a:srgbClr val="9AA9BC">
                <a:alpha val="18000"/>
              </a:srgbClr>
            </a:outerShdw>
          </a:effectLst>
        </p:spPr>
      </p:sp>
      <p:sp>
        <p:nvSpPr>
          <p:cNvPr id="26" name="Shape 24"/>
          <p:cNvSpPr/>
          <p:nvPr/>
        </p:nvSpPr>
        <p:spPr>
          <a:xfrm>
            <a:off x="914400" y="5276088"/>
            <a:ext cx="420624" cy="420624"/>
          </a:xfrm>
          <a:prstGeom prst="roundRect">
            <a:avLst>
              <a:gd name="adj" fmla="val 17391"/>
            </a:avLst>
          </a:prstGeom>
          <a:solidFill>
            <a:srgbClr val="E8A33D"/>
          </a:solidFill>
          <a:ln/>
        </p:spPr>
      </p:sp>
      <p:sp>
        <p:nvSpPr>
          <p:cNvPr id="27" name="Text 25"/>
          <p:cNvSpPr txBox="1"/>
          <p:nvPr/>
        </p:nvSpPr>
        <p:spPr>
          <a:xfrm>
            <a:off x="914400" y="52760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8" name="Text 26"/>
          <p:cNvSpPr txBox="1"/>
          <p:nvPr/>
        </p:nvSpPr>
        <p:spPr>
          <a:xfrm>
            <a:off x="1508760" y="5148072"/>
            <a:ext cx="5852160" cy="329184"/>
          </a:xfrm>
          <a:prstGeom prst="rect">
            <a:avLst/>
          </a:prstGeom>
          <a:noFill/>
          <a:ln/>
        </p:spPr>
        <p:txBody>
          <a:bodyPr wrap="square" lIns="0" tIns="0" rIns="0" bIns="0" rtlCol="0" anchor="ctr"/>
          <a:lstStyle/>
          <a:p>
            <a:pPr indent="0" marL="0">
              <a:buNone/>
            </a:pPr>
            <a:r>
              <a:rPr lang="en-US" sz="1550" b="1" dirty="0">
                <a:solidFill>
                  <a:srgbClr val="16202E"/>
                </a:solidFill>
                <a:latin typeface="Calibri" pitchFamily="34" charset="0"/>
                <a:ea typeface="Calibri" pitchFamily="34" charset="-122"/>
                <a:cs typeface="Calibri" pitchFamily="34" charset="-120"/>
              </a:rPr>
              <a:t>Evaluate and validate</a:t>
            </a:r>
            <a:endParaRPr lang="en-US" sz="1550" dirty="0"/>
          </a:p>
        </p:txBody>
      </p:sp>
      <p:sp>
        <p:nvSpPr>
          <p:cNvPr id="29" name="Text 27"/>
          <p:cNvSpPr txBox="1"/>
          <p:nvPr/>
        </p:nvSpPr>
        <p:spPr>
          <a:xfrm>
            <a:off x="1508760" y="5477256"/>
            <a:ext cx="7498080" cy="384048"/>
          </a:xfrm>
          <a:prstGeom prst="rect">
            <a:avLst/>
          </a:prstGeom>
          <a:noFill/>
          <a:ln/>
        </p:spPr>
        <p:txBody>
          <a:bodyPr wrap="square" lIns="0" tIns="0" rIns="0" bIns="0" rtlCol="0" anchor="ctr"/>
          <a:lstStyle/>
          <a:p>
            <a:pPr indent="0" marL="0">
              <a:lnSpc>
                <a:spcPts val="1500"/>
              </a:lnSpc>
              <a:buNone/>
            </a:pPr>
            <a:r>
              <a:rPr lang="en-US" sz="1150" dirty="0">
                <a:solidFill>
                  <a:srgbClr val="6B7A8D"/>
                </a:solidFill>
                <a:latin typeface="Calibri" pitchFamily="34" charset="0"/>
                <a:ea typeface="Calibri" pitchFamily="34" charset="-122"/>
                <a:cs typeface="Calibri" pitchFamily="34" charset="-120"/>
              </a:rPr>
              <a:t>Timing and accuracy against manual roll call, controlled security testing, SUS/TAM with 41 participants.</a:t>
            </a:r>
            <a:endParaRPr lang="en-US" sz="1150" dirty="0"/>
          </a:p>
        </p:txBody>
      </p:sp>
      <p:sp>
        <p:nvSpPr>
          <p:cNvPr id="30" name="Shape 28"/>
          <p:cNvSpPr/>
          <p:nvPr/>
        </p:nvSpPr>
        <p:spPr>
          <a:xfrm>
            <a:off x="10225735" y="5303520"/>
            <a:ext cx="1051560" cy="365760"/>
          </a:xfrm>
          <a:prstGeom prst="roundRect">
            <a:avLst>
              <a:gd name="adj" fmla="val 25000"/>
            </a:avLst>
          </a:prstGeom>
          <a:solidFill>
            <a:srgbClr val="E8A33D"/>
          </a:solidFill>
          <a:ln/>
        </p:spPr>
      </p:sp>
      <p:sp>
        <p:nvSpPr>
          <p:cNvPr id="31" name="Text 29"/>
          <p:cNvSpPr txBox="1"/>
          <p:nvPr/>
        </p:nvSpPr>
        <p:spPr>
          <a:xfrm>
            <a:off x="10225735" y="5303520"/>
            <a:ext cx="1051560" cy="365760"/>
          </a:xfrm>
          <a:prstGeom prst="rect">
            <a:avLst/>
          </a:prstGeom>
          <a:noFill/>
          <a:ln/>
        </p:spPr>
        <p:txBody>
          <a:bodyPr wrap="square" lIns="0" tIns="0" rIns="0" bIns="0" rtlCol="0" anchor="ctr"/>
          <a:lstStyle/>
          <a:p>
            <a:pPr algn="ctr" indent="0" marL="0">
              <a:buNone/>
            </a:pPr>
            <a:r>
              <a:rPr lang="en-US" sz="1000" b="1" spc="50" kern="0" dirty="0">
                <a:solidFill>
                  <a:srgbClr val="FFFFFF"/>
                </a:solidFill>
                <a:latin typeface="Calibri" pitchFamily="34" charset="0"/>
                <a:ea typeface="Calibri" pitchFamily="34" charset="-122"/>
                <a:cs typeface="Calibri" pitchFamily="34" charset="-120"/>
              </a:rPr>
              <a:t>PENDING</a:t>
            </a:r>
            <a:endParaRPr lang="en-US" sz="1000" dirty="0"/>
          </a:p>
        </p:txBody>
      </p:sp>
      <p:sp>
        <p:nvSpPr>
          <p:cNvPr id="33" name="Text 30"/>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34" name="Text 31"/>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What we built</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A complete system running entirely inside the school — no cloud, no internet dependency</a:t>
            </a:r>
            <a:endParaRPr lang="en-US" sz="1400" dirty="0"/>
          </a:p>
        </p:txBody>
      </p:sp>
      <p:sp>
        <p:nvSpPr>
          <p:cNvPr id="4" name="Text 2"/>
          <p:cNvSpPr txBox="1"/>
          <p:nvPr/>
        </p:nvSpPr>
        <p:spPr>
          <a:xfrm>
            <a:off x="640080" y="1783080"/>
            <a:ext cx="5212080" cy="3017520"/>
          </a:xfrm>
          <a:prstGeom prst="rect">
            <a:avLst/>
          </a:prstGeom>
          <a:noFill/>
          <a:ln/>
        </p:spPr>
        <p:txBody>
          <a:bodyPr wrap="square" lIns="0" tIns="0" rIns="0" bIns="0" rtlCol="0" anchor="ctr"/>
          <a:lstStyle/>
          <a:p>
            <a:pPr marL="342900" indent="-342900">
              <a:lnSpc>
                <a:spcPts val="2000"/>
              </a:lnSpc>
              <a:spcAft>
                <a:spcPts val="1200"/>
              </a:spcAft>
              <a:buSzPct val="100000"/>
              <a:buChar char="•"/>
            </a:pPr>
            <a:r>
              <a:rPr lang="en-US" sz="1350" dirty="0">
                <a:solidFill>
                  <a:srgbClr val="16202E"/>
                </a:solidFill>
                <a:latin typeface="Calibri" pitchFamily="34" charset="0"/>
                <a:ea typeface="Calibri" pitchFamily="34" charset="-122"/>
                <a:cs typeface="Calibri" pitchFamily="34" charset="-120"/>
              </a:rPr>
              <a:t>Classroom terminals capture tap-in and tap-out; the server decides intent, not the device</a:t>
            </a:r>
            <a:endParaRPr lang="en-US" sz="1350" dirty="0"/>
          </a:p>
          <a:p>
            <a:pPr marL="342900" indent="-342900">
              <a:lnSpc>
                <a:spcPts val="2000"/>
              </a:lnSpc>
              <a:spcAft>
                <a:spcPts val="1200"/>
              </a:spcAft>
              <a:buSzPct val="100000"/>
              <a:buChar char="•"/>
            </a:pPr>
            <a:r>
              <a:rPr lang="en-US" sz="1350" dirty="0">
                <a:solidFill>
                  <a:srgbClr val="16202E"/>
                </a:solidFill>
                <a:latin typeface="Calibri" pitchFamily="34" charset="0"/>
                <a:ea typeface="Calibri" pitchFamily="34" charset="-122"/>
                <a:cs typeface="Calibri" pitchFamily="34" charset="-120"/>
              </a:rPr>
              <a:t>A session opens only when an assigned teacher verifies a fingerprint on that terminal</a:t>
            </a:r>
            <a:endParaRPr lang="en-US" sz="1350" dirty="0"/>
          </a:p>
          <a:p>
            <a:pPr marL="342900" indent="-342900">
              <a:lnSpc>
                <a:spcPts val="2000"/>
              </a:lnSpc>
              <a:spcAft>
                <a:spcPts val="1200"/>
              </a:spcAft>
              <a:buSzPct val="100000"/>
              <a:buChar char="•"/>
            </a:pPr>
            <a:r>
              <a:rPr lang="en-US" sz="1350" dirty="0">
                <a:solidFill>
                  <a:srgbClr val="16202E"/>
                </a:solidFill>
                <a:latin typeface="Calibri" pitchFamily="34" charset="0"/>
                <a:ea typeface="Calibri" pitchFamily="34" charset="-122"/>
                <a:cs typeface="Calibri" pitchFamily="34" charset="-120"/>
              </a:rPr>
              <a:t>Separate arrival, departure and final statuses — “late and left early” is not flattened</a:t>
            </a:r>
            <a:endParaRPr lang="en-US" sz="1350" dirty="0"/>
          </a:p>
          <a:p>
            <a:pPr marL="342900" indent="-342900">
              <a:lnSpc>
                <a:spcPts val="2000"/>
              </a:lnSpc>
              <a:spcAft>
                <a:spcPts val="1200"/>
              </a:spcAft>
              <a:buSzPct val="100000"/>
              <a:buChar char="•"/>
            </a:pPr>
            <a:r>
              <a:rPr lang="en-US" sz="1350" dirty="0">
                <a:solidFill>
                  <a:srgbClr val="16202E"/>
                </a:solidFill>
                <a:latin typeface="Calibri" pitchFamily="34" charset="0"/>
                <a:ea typeface="Calibri" pitchFamily="34" charset="-122"/>
                <a:cs typeface="Calibri" pitchFamily="34" charset="-120"/>
              </a:rPr>
              <a:t>15 report types exported to PDF, Excel and CSV with no third-party library</a:t>
            </a:r>
            <a:endParaRPr lang="en-US" sz="1350" dirty="0"/>
          </a:p>
          <a:p>
            <a:pPr marL="342900" indent="-342900">
              <a:lnSpc>
                <a:spcPts val="2000"/>
              </a:lnSpc>
              <a:spcAft>
                <a:spcPts val="1200"/>
              </a:spcAft>
              <a:buSzPct val="100000"/>
              <a:buChar char="•"/>
            </a:pPr>
            <a:r>
              <a:rPr lang="en-US" sz="1350" dirty="0">
                <a:solidFill>
                  <a:srgbClr val="16202E"/>
                </a:solidFill>
                <a:latin typeface="Calibri" pitchFamily="34" charset="0"/>
                <a:ea typeface="Calibri" pitchFamily="34" charset="-122"/>
                <a:cs typeface="Calibri" pitchFamily="34" charset="-120"/>
              </a:rPr>
              <a:t>Live monitoring over WebSocket, with automatic fallbacks and gap-free replay</a:t>
            </a:r>
            <a:endParaRPr lang="en-US" sz="1350" dirty="0"/>
          </a:p>
        </p:txBody>
      </p:sp>
      <p:sp>
        <p:nvSpPr>
          <p:cNvPr id="5" name="Text 3"/>
          <p:cNvSpPr txBox="1"/>
          <p:nvPr/>
        </p:nvSpPr>
        <p:spPr>
          <a:xfrm>
            <a:off x="640080" y="4956048"/>
            <a:ext cx="5212080" cy="1097280"/>
          </a:xfrm>
          <a:prstGeom prst="rect">
            <a:avLst/>
          </a:prstGeom>
          <a:noFill/>
          <a:ln/>
        </p:spPr>
        <p:txBody>
          <a:bodyPr wrap="square" lIns="0" tIns="0" rIns="0" bIns="0" rtlCol="0" anchor="ctr"/>
          <a:lstStyle/>
          <a:p>
            <a:pPr indent="0" marL="0">
              <a:lnSpc>
                <a:spcPts val="1600"/>
              </a:lnSpc>
              <a:buNone/>
            </a:pPr>
            <a:r>
              <a:rPr lang="en-US" sz="1150" i="1" dirty="0">
                <a:solidFill>
                  <a:srgbClr val="6B7A8D"/>
                </a:solidFill>
                <a:latin typeface="Calibri" pitchFamily="34" charset="0"/>
                <a:ea typeface="Calibri" pitchFamily="34" charset="-122"/>
                <a:cs typeface="Calibri" pitchFamily="34" charset="-120"/>
              </a:rPr>
              <a:t>No Composer packages. The autoloader, report writers, WebSocket server and chart renderer are all written in-project, because the target network may have no route to the internet — which also removes the third-party supply chain as an attack surface.</a:t>
            </a:r>
            <a:endParaRPr lang="en-US" sz="1150" dirty="0"/>
          </a:p>
        </p:txBody>
      </p:sp>
      <p:pic>
        <p:nvPicPr>
          <p:cNvPr id="6" name="Image 0" descr="/tmp/claude-0/-home-user-L-SIAMS/2182bf50-fd56-59f4-b4f8-a067e79520bc/scratchpad/slideimg/admin-01-dashboard.png">    </p:cNvPr>
          <p:cNvPicPr>
            <a:picLocks noChangeAspect="1"/>
          </p:cNvPicPr>
          <p:nvPr/>
        </p:nvPicPr>
        <p:blipFill>
          <a:blip r:embed="rId1"/>
          <a:stretch>
            <a:fillRect/>
          </a:stretch>
        </p:blipFill>
        <p:spPr>
          <a:xfrm>
            <a:off x="6172200" y="1783080"/>
            <a:ext cx="5349240" cy="3346704"/>
          </a:xfrm>
          <a:prstGeom prst="rect">
            <a:avLst/>
          </a:prstGeom>
          <a:effectLst>
            <a:outerShdw sx="100000" sy="100000" kx="0" ky="0" algn="bl" rotWithShape="0" blurRad="152400" dist="25400" dir="5400000">
              <a:srgbClr val="7C8CA0">
                <a:alpha val="30000"/>
              </a:srgbClr>
            </a:outerShdw>
          </a:effectLst>
        </p:spPr>
      </p:pic>
      <p:sp>
        <p:nvSpPr>
          <p:cNvPr id="7" name="Text 4"/>
          <p:cNvSpPr txBox="1"/>
          <p:nvPr/>
        </p:nvSpPr>
        <p:spPr>
          <a:xfrm>
            <a:off x="6172200" y="5193792"/>
            <a:ext cx="5349240" cy="274320"/>
          </a:xfrm>
          <a:prstGeom prst="rect">
            <a:avLst/>
          </a:prstGeom>
          <a:noFill/>
          <a:ln/>
        </p:spPr>
        <p:txBody>
          <a:bodyPr wrap="square" lIns="0" tIns="0" rIns="0" bIns="0" rtlCol="0" anchor="ctr"/>
          <a:lstStyle/>
          <a:p>
            <a:pPr algn="ctr" indent="0" marL="0">
              <a:buNone/>
            </a:pPr>
            <a:r>
              <a:rPr lang="en-US" sz="1050" dirty="0">
                <a:solidFill>
                  <a:srgbClr val="6B7A8D"/>
                </a:solidFill>
                <a:latin typeface="Calibri" pitchFamily="34" charset="0"/>
                <a:ea typeface="Calibri" pitchFamily="34" charset="-122"/>
                <a:cs typeface="Calibri" pitchFamily="34" charset="-120"/>
              </a:rPr>
              <a:t>Administrator dashboard — live system, seeded data</a:t>
            </a:r>
            <a:endParaRPr lang="en-US" sz="1050" dirty="0"/>
          </a:p>
        </p:txBody>
      </p:sp>
      <p:sp>
        <p:nvSpPr>
          <p:cNvPr id="9" name="Text 5"/>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0" name="Text 6"/>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six-layer architecture</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9FB0C4"/>
                </a:solidFill>
                <a:latin typeface="Calibri" pitchFamily="34" charset="0"/>
                <a:ea typeface="Calibri" pitchFamily="34" charset="-122"/>
                <a:cs typeface="Calibri" pitchFamily="34" charset="-120"/>
              </a:rPr>
              <a:t>Each layer carries its own control, so no single failure grants access to attendance data</a:t>
            </a:r>
            <a:endParaRPr lang="en-US" sz="1400" dirty="0"/>
          </a:p>
        </p:txBody>
      </p:sp>
      <p:sp>
        <p:nvSpPr>
          <p:cNvPr id="4" name="Shape 2"/>
          <p:cNvSpPr/>
          <p:nvPr/>
        </p:nvSpPr>
        <p:spPr>
          <a:xfrm>
            <a:off x="640080" y="1783080"/>
            <a:ext cx="10911535" cy="658368"/>
          </a:xfrm>
          <a:prstGeom prst="roundRect">
            <a:avLst>
              <a:gd name="adj" fmla="val 5556"/>
            </a:avLst>
          </a:prstGeom>
          <a:solidFill>
            <a:srgbClr val="1B2E48"/>
          </a:solidFill>
          <a:ln/>
        </p:spPr>
      </p:sp>
      <p:sp>
        <p:nvSpPr>
          <p:cNvPr id="5" name="Text 3"/>
          <p:cNvSpPr txBox="1"/>
          <p:nvPr/>
        </p:nvSpPr>
        <p:spPr>
          <a:xfrm>
            <a:off x="896112" y="1783080"/>
            <a:ext cx="1691640" cy="658368"/>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Device</a:t>
            </a:r>
            <a:endParaRPr lang="en-US" sz="1450" dirty="0"/>
          </a:p>
        </p:txBody>
      </p:sp>
      <p:sp>
        <p:nvSpPr>
          <p:cNvPr id="6" name="Text 4"/>
          <p:cNvSpPr txBox="1"/>
          <p:nvPr/>
        </p:nvSpPr>
        <p:spPr>
          <a:xfrm>
            <a:off x="2606040" y="1783080"/>
            <a:ext cx="3749040" cy="658368"/>
          </a:xfrm>
          <a:prstGeom prst="rect">
            <a:avLst/>
          </a:prstGeom>
          <a:noFill/>
          <a:ln/>
        </p:spPr>
        <p:txBody>
          <a:bodyPr wrap="square" lIns="0" tIns="0" rIns="0" bIns="0" rtlCol="0" anchor="ctr"/>
          <a:lstStyle/>
          <a:p>
            <a:pPr indent="0" marL="0">
              <a:buNone/>
            </a:pPr>
            <a:r>
              <a:rPr lang="en-US" sz="1250" dirty="0">
                <a:solidFill>
                  <a:srgbClr val="E9EEF5"/>
                </a:solidFill>
                <a:latin typeface="Calibri" pitchFamily="34" charset="0"/>
                <a:ea typeface="Calibri" pitchFamily="34" charset="-122"/>
                <a:cs typeface="Calibri" pitchFamily="34" charset="-120"/>
              </a:rPr>
              <a:t>RFID reader, fingerprint sensor, ESP32</a:t>
            </a:r>
            <a:endParaRPr lang="en-US" sz="1250" dirty="0"/>
          </a:p>
        </p:txBody>
      </p:sp>
      <p:sp>
        <p:nvSpPr>
          <p:cNvPr id="7" name="Text 5"/>
          <p:cNvSpPr txBox="1"/>
          <p:nvPr/>
        </p:nvSpPr>
        <p:spPr>
          <a:xfrm>
            <a:off x="6492240" y="1783080"/>
            <a:ext cx="4846320" cy="658368"/>
          </a:xfrm>
          <a:prstGeom prst="rect">
            <a:avLst/>
          </a:prstGeom>
          <a:noFill/>
          <a:ln/>
        </p:spPr>
        <p:txBody>
          <a:bodyPr wrap="square" lIns="0" tIns="0" rIns="0" bIns="0" rtlCol="0" anchor="ctr"/>
          <a:lstStyle/>
          <a:p>
            <a:pPr indent="0" marL="0">
              <a:buNone/>
            </a:pPr>
            <a:r>
              <a:rPr lang="en-US" sz="1250" dirty="0">
                <a:solidFill>
                  <a:srgbClr val="9FB0C4"/>
                </a:solidFill>
                <a:latin typeface="Calibri" pitchFamily="34" charset="0"/>
                <a:ea typeface="Calibri" pitchFamily="34" charset="-122"/>
                <a:cs typeface="Calibri" pitchFamily="34" charset="-120"/>
              </a:rPr>
              <a:t>Signed requests, per-device credentials</a:t>
            </a:r>
            <a:endParaRPr lang="en-US" sz="1250" dirty="0"/>
          </a:p>
        </p:txBody>
      </p:sp>
      <p:sp>
        <p:nvSpPr>
          <p:cNvPr id="8" name="Shape 6"/>
          <p:cNvSpPr/>
          <p:nvPr/>
        </p:nvSpPr>
        <p:spPr>
          <a:xfrm>
            <a:off x="640080" y="2505456"/>
            <a:ext cx="10911535" cy="658368"/>
          </a:xfrm>
          <a:prstGeom prst="roundRect">
            <a:avLst>
              <a:gd name="adj" fmla="val 5556"/>
            </a:avLst>
          </a:prstGeom>
          <a:solidFill>
            <a:srgbClr val="17273D"/>
          </a:solidFill>
          <a:ln/>
        </p:spPr>
      </p:sp>
      <p:sp>
        <p:nvSpPr>
          <p:cNvPr id="9" name="Text 7"/>
          <p:cNvSpPr txBox="1"/>
          <p:nvPr/>
        </p:nvSpPr>
        <p:spPr>
          <a:xfrm>
            <a:off x="896112" y="2505456"/>
            <a:ext cx="1691640" cy="658368"/>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Network</a:t>
            </a:r>
            <a:endParaRPr lang="en-US" sz="1450" dirty="0"/>
          </a:p>
        </p:txBody>
      </p:sp>
      <p:sp>
        <p:nvSpPr>
          <p:cNvPr id="10" name="Text 8"/>
          <p:cNvSpPr txBox="1"/>
          <p:nvPr/>
        </p:nvSpPr>
        <p:spPr>
          <a:xfrm>
            <a:off x="2606040" y="2505456"/>
            <a:ext cx="3749040" cy="658368"/>
          </a:xfrm>
          <a:prstGeom prst="rect">
            <a:avLst/>
          </a:prstGeom>
          <a:noFill/>
          <a:ln/>
        </p:spPr>
        <p:txBody>
          <a:bodyPr wrap="square" lIns="0" tIns="0" rIns="0" bIns="0" rtlCol="0" anchor="ctr"/>
          <a:lstStyle/>
          <a:p>
            <a:pPr indent="0" marL="0">
              <a:buNone/>
            </a:pPr>
            <a:r>
              <a:rPr lang="en-US" sz="1250" dirty="0">
                <a:solidFill>
                  <a:srgbClr val="E9EEF5"/>
                </a:solidFill>
                <a:latin typeface="Calibri" pitchFamily="34" charset="0"/>
                <a:ea typeface="Calibri" pitchFamily="34" charset="-122"/>
                <a:cs typeface="Calibri" pitchFamily="34" charset="-120"/>
              </a:rPr>
              <a:t>The school LAN</a:t>
            </a:r>
            <a:endParaRPr lang="en-US" sz="1250" dirty="0"/>
          </a:p>
        </p:txBody>
      </p:sp>
      <p:sp>
        <p:nvSpPr>
          <p:cNvPr id="11" name="Text 9"/>
          <p:cNvSpPr txBox="1"/>
          <p:nvPr/>
        </p:nvSpPr>
        <p:spPr>
          <a:xfrm>
            <a:off x="6492240" y="2505456"/>
            <a:ext cx="4846320" cy="658368"/>
          </a:xfrm>
          <a:prstGeom prst="rect">
            <a:avLst/>
          </a:prstGeom>
          <a:noFill/>
          <a:ln/>
        </p:spPr>
        <p:txBody>
          <a:bodyPr wrap="square" lIns="0" tIns="0" rIns="0" bIns="0" rtlCol="0" anchor="ctr"/>
          <a:lstStyle/>
          <a:p>
            <a:pPr indent="0" marL="0">
              <a:buNone/>
            </a:pPr>
            <a:r>
              <a:rPr lang="en-US" sz="1250" dirty="0">
                <a:solidFill>
                  <a:srgbClr val="9FB0C4"/>
                </a:solidFill>
                <a:latin typeface="Calibri" pitchFamily="34" charset="0"/>
                <a:ea typeface="Calibri" pitchFamily="34" charset="-122"/>
                <a:cs typeface="Calibri" pitchFamily="34" charset="-120"/>
              </a:rPr>
              <a:t>Address-range control, firewall, port restriction</a:t>
            </a:r>
            <a:endParaRPr lang="en-US" sz="1250" dirty="0"/>
          </a:p>
        </p:txBody>
      </p:sp>
      <p:sp>
        <p:nvSpPr>
          <p:cNvPr id="12" name="Shape 10"/>
          <p:cNvSpPr/>
          <p:nvPr/>
        </p:nvSpPr>
        <p:spPr>
          <a:xfrm>
            <a:off x="640080" y="3227832"/>
            <a:ext cx="10911535" cy="658368"/>
          </a:xfrm>
          <a:prstGeom prst="roundRect">
            <a:avLst>
              <a:gd name="adj" fmla="val 5556"/>
            </a:avLst>
          </a:prstGeom>
          <a:solidFill>
            <a:srgbClr val="1B2E48"/>
          </a:solidFill>
          <a:ln/>
        </p:spPr>
      </p:sp>
      <p:sp>
        <p:nvSpPr>
          <p:cNvPr id="13" name="Text 11"/>
          <p:cNvSpPr txBox="1"/>
          <p:nvPr/>
        </p:nvSpPr>
        <p:spPr>
          <a:xfrm>
            <a:off x="896112" y="3227832"/>
            <a:ext cx="1691640" cy="658368"/>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Transport</a:t>
            </a:r>
            <a:endParaRPr lang="en-US" sz="1450" dirty="0"/>
          </a:p>
        </p:txBody>
      </p:sp>
      <p:sp>
        <p:nvSpPr>
          <p:cNvPr id="14" name="Text 12"/>
          <p:cNvSpPr txBox="1"/>
          <p:nvPr/>
        </p:nvSpPr>
        <p:spPr>
          <a:xfrm>
            <a:off x="2606040" y="3227832"/>
            <a:ext cx="3749040" cy="658368"/>
          </a:xfrm>
          <a:prstGeom prst="rect">
            <a:avLst/>
          </a:prstGeom>
          <a:noFill/>
          <a:ln/>
        </p:spPr>
        <p:txBody>
          <a:bodyPr wrap="square" lIns="0" tIns="0" rIns="0" bIns="0" rtlCol="0" anchor="ctr"/>
          <a:lstStyle/>
          <a:p>
            <a:pPr indent="0" marL="0">
              <a:buNone/>
            </a:pPr>
            <a:r>
              <a:rPr lang="en-US" sz="1250" dirty="0">
                <a:solidFill>
                  <a:srgbClr val="E9EEF5"/>
                </a:solidFill>
                <a:latin typeface="Calibri" pitchFamily="34" charset="0"/>
                <a:ea typeface="Calibri" pitchFamily="34" charset="-122"/>
                <a:cs typeface="Calibri" pitchFamily="34" charset="-120"/>
              </a:rPr>
              <a:t>Terminal ↔ server link</a:t>
            </a:r>
            <a:endParaRPr lang="en-US" sz="1250" dirty="0"/>
          </a:p>
        </p:txBody>
      </p:sp>
      <p:sp>
        <p:nvSpPr>
          <p:cNvPr id="15" name="Text 13"/>
          <p:cNvSpPr txBox="1"/>
          <p:nvPr/>
        </p:nvSpPr>
        <p:spPr>
          <a:xfrm>
            <a:off x="6492240" y="3227832"/>
            <a:ext cx="4846320" cy="658368"/>
          </a:xfrm>
          <a:prstGeom prst="rect">
            <a:avLst/>
          </a:prstGeom>
          <a:noFill/>
          <a:ln/>
        </p:spPr>
        <p:txBody>
          <a:bodyPr wrap="square" lIns="0" tIns="0" rIns="0" bIns="0" rtlCol="0" anchor="ctr"/>
          <a:lstStyle/>
          <a:p>
            <a:pPr indent="0" marL="0">
              <a:buNone/>
            </a:pPr>
            <a:r>
              <a:rPr lang="en-US" sz="1250" dirty="0">
                <a:solidFill>
                  <a:srgbClr val="9FB0C4"/>
                </a:solidFill>
                <a:latin typeface="Calibri" pitchFamily="34" charset="0"/>
                <a:ea typeface="Calibri" pitchFamily="34" charset="-122"/>
                <a:cs typeface="Calibri" pitchFamily="34" charset="-120"/>
              </a:rPr>
              <a:t>HTTPS/TLS from an internal certificate authority</a:t>
            </a:r>
            <a:endParaRPr lang="en-US" sz="1250" dirty="0"/>
          </a:p>
        </p:txBody>
      </p:sp>
      <p:sp>
        <p:nvSpPr>
          <p:cNvPr id="16" name="Shape 14"/>
          <p:cNvSpPr/>
          <p:nvPr/>
        </p:nvSpPr>
        <p:spPr>
          <a:xfrm>
            <a:off x="640080" y="3950208"/>
            <a:ext cx="10911535" cy="658368"/>
          </a:xfrm>
          <a:prstGeom prst="roundRect">
            <a:avLst>
              <a:gd name="adj" fmla="val 5556"/>
            </a:avLst>
          </a:prstGeom>
          <a:solidFill>
            <a:srgbClr val="17273D"/>
          </a:solidFill>
          <a:ln/>
        </p:spPr>
      </p:sp>
      <p:sp>
        <p:nvSpPr>
          <p:cNvPr id="17" name="Text 15"/>
          <p:cNvSpPr txBox="1"/>
          <p:nvPr/>
        </p:nvSpPr>
        <p:spPr>
          <a:xfrm>
            <a:off x="896112" y="3950208"/>
            <a:ext cx="1691640" cy="658368"/>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Application</a:t>
            </a:r>
            <a:endParaRPr lang="en-US" sz="1450" dirty="0"/>
          </a:p>
        </p:txBody>
      </p:sp>
      <p:sp>
        <p:nvSpPr>
          <p:cNvPr id="18" name="Text 16"/>
          <p:cNvSpPr txBox="1"/>
          <p:nvPr/>
        </p:nvSpPr>
        <p:spPr>
          <a:xfrm>
            <a:off x="2606040" y="3950208"/>
            <a:ext cx="3749040" cy="658368"/>
          </a:xfrm>
          <a:prstGeom prst="rect">
            <a:avLst/>
          </a:prstGeom>
          <a:noFill/>
          <a:ln/>
        </p:spPr>
        <p:txBody>
          <a:bodyPr wrap="square" lIns="0" tIns="0" rIns="0" bIns="0" rtlCol="0" anchor="ctr"/>
          <a:lstStyle/>
          <a:p>
            <a:pPr indent="0" marL="0">
              <a:buNone/>
            </a:pPr>
            <a:r>
              <a:rPr lang="en-US" sz="1250" dirty="0">
                <a:solidFill>
                  <a:srgbClr val="E9EEF5"/>
                </a:solidFill>
                <a:latin typeface="Calibri" pitchFamily="34" charset="0"/>
                <a:ea typeface="Calibri" pitchFamily="34" charset="-122"/>
                <a:cs typeface="Calibri" pitchFamily="34" charset="-120"/>
              </a:rPr>
              <a:t>Attendance and session logic</a:t>
            </a:r>
            <a:endParaRPr lang="en-US" sz="1250" dirty="0"/>
          </a:p>
        </p:txBody>
      </p:sp>
      <p:sp>
        <p:nvSpPr>
          <p:cNvPr id="19" name="Text 17"/>
          <p:cNvSpPr txBox="1"/>
          <p:nvPr/>
        </p:nvSpPr>
        <p:spPr>
          <a:xfrm>
            <a:off x="6492240" y="3950208"/>
            <a:ext cx="4846320" cy="658368"/>
          </a:xfrm>
          <a:prstGeom prst="rect">
            <a:avLst/>
          </a:prstGeom>
          <a:noFill/>
          <a:ln/>
        </p:spPr>
        <p:txBody>
          <a:bodyPr wrap="square" lIns="0" tIns="0" rIns="0" bIns="0" rtlCol="0" anchor="ctr"/>
          <a:lstStyle/>
          <a:p>
            <a:pPr indent="0" marL="0">
              <a:buNone/>
            </a:pPr>
            <a:r>
              <a:rPr lang="en-US" sz="1250" dirty="0">
                <a:solidFill>
                  <a:srgbClr val="9FB0C4"/>
                </a:solidFill>
                <a:latin typeface="Calibri" pitchFamily="34" charset="0"/>
                <a:ea typeface="Calibri" pitchFamily="34" charset="-122"/>
                <a:cs typeface="Calibri" pitchFamily="34" charset="-120"/>
              </a:rPr>
              <a:t>RBAC, CSRF, session binding, rate limiting</a:t>
            </a:r>
            <a:endParaRPr lang="en-US" sz="1250" dirty="0"/>
          </a:p>
        </p:txBody>
      </p:sp>
      <p:sp>
        <p:nvSpPr>
          <p:cNvPr id="20" name="Shape 18"/>
          <p:cNvSpPr/>
          <p:nvPr/>
        </p:nvSpPr>
        <p:spPr>
          <a:xfrm>
            <a:off x="640080" y="4672584"/>
            <a:ext cx="10911535" cy="658368"/>
          </a:xfrm>
          <a:prstGeom prst="roundRect">
            <a:avLst>
              <a:gd name="adj" fmla="val 5556"/>
            </a:avLst>
          </a:prstGeom>
          <a:solidFill>
            <a:srgbClr val="1B2E48"/>
          </a:solidFill>
          <a:ln/>
        </p:spPr>
      </p:sp>
      <p:sp>
        <p:nvSpPr>
          <p:cNvPr id="21" name="Text 19"/>
          <p:cNvSpPr txBox="1"/>
          <p:nvPr/>
        </p:nvSpPr>
        <p:spPr>
          <a:xfrm>
            <a:off x="896112" y="4672584"/>
            <a:ext cx="1691640" cy="658368"/>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Database</a:t>
            </a:r>
            <a:endParaRPr lang="en-US" sz="1450" dirty="0"/>
          </a:p>
        </p:txBody>
      </p:sp>
      <p:sp>
        <p:nvSpPr>
          <p:cNvPr id="22" name="Text 20"/>
          <p:cNvSpPr txBox="1"/>
          <p:nvPr/>
        </p:nvSpPr>
        <p:spPr>
          <a:xfrm>
            <a:off x="2606040" y="4672584"/>
            <a:ext cx="3749040" cy="658368"/>
          </a:xfrm>
          <a:prstGeom prst="rect">
            <a:avLst/>
          </a:prstGeom>
          <a:noFill/>
          <a:ln/>
        </p:spPr>
        <p:txBody>
          <a:bodyPr wrap="square" lIns="0" tIns="0" rIns="0" bIns="0" rtlCol="0" anchor="ctr"/>
          <a:lstStyle/>
          <a:p>
            <a:pPr indent="0" marL="0">
              <a:buNone/>
            </a:pPr>
            <a:r>
              <a:rPr lang="en-US" sz="1250" dirty="0">
                <a:solidFill>
                  <a:srgbClr val="E9EEF5"/>
                </a:solidFill>
                <a:latin typeface="Calibri" pitchFamily="34" charset="0"/>
                <a:ea typeface="Calibri" pitchFamily="34" charset="-122"/>
                <a:cs typeface="Calibri" pitchFamily="34" charset="-120"/>
              </a:rPr>
              <a:t>Records and credentials</a:t>
            </a:r>
            <a:endParaRPr lang="en-US" sz="1250" dirty="0"/>
          </a:p>
        </p:txBody>
      </p:sp>
      <p:sp>
        <p:nvSpPr>
          <p:cNvPr id="23" name="Text 21"/>
          <p:cNvSpPr txBox="1"/>
          <p:nvPr/>
        </p:nvSpPr>
        <p:spPr>
          <a:xfrm>
            <a:off x="6492240" y="4672584"/>
            <a:ext cx="4846320" cy="658368"/>
          </a:xfrm>
          <a:prstGeom prst="rect">
            <a:avLst/>
          </a:prstGeom>
          <a:noFill/>
          <a:ln/>
        </p:spPr>
        <p:txBody>
          <a:bodyPr wrap="square" lIns="0" tIns="0" rIns="0" bIns="0" rtlCol="0" anchor="ctr"/>
          <a:lstStyle/>
          <a:p>
            <a:pPr indent="0" marL="0">
              <a:buNone/>
            </a:pPr>
            <a:r>
              <a:rPr lang="en-US" sz="1250" dirty="0">
                <a:solidFill>
                  <a:srgbClr val="9FB0C4"/>
                </a:solidFill>
                <a:latin typeface="Calibri" pitchFamily="34" charset="0"/>
                <a:ea typeface="Calibri" pitchFamily="34" charset="-122"/>
                <a:cs typeface="Calibri" pitchFamily="34" charset="-120"/>
              </a:rPr>
              <a:t>bcrypt hashes, encrypted secrets, append-only history</a:t>
            </a:r>
            <a:endParaRPr lang="en-US" sz="1250" dirty="0"/>
          </a:p>
        </p:txBody>
      </p:sp>
      <p:sp>
        <p:nvSpPr>
          <p:cNvPr id="24" name="Shape 22"/>
          <p:cNvSpPr/>
          <p:nvPr/>
        </p:nvSpPr>
        <p:spPr>
          <a:xfrm>
            <a:off x="640080" y="5394960"/>
            <a:ext cx="10911535" cy="658368"/>
          </a:xfrm>
          <a:prstGeom prst="roundRect">
            <a:avLst>
              <a:gd name="adj" fmla="val 5556"/>
            </a:avLst>
          </a:prstGeom>
          <a:solidFill>
            <a:srgbClr val="17273D"/>
          </a:solidFill>
          <a:ln/>
        </p:spPr>
      </p:sp>
      <p:sp>
        <p:nvSpPr>
          <p:cNvPr id="25" name="Text 23"/>
          <p:cNvSpPr txBox="1"/>
          <p:nvPr/>
        </p:nvSpPr>
        <p:spPr>
          <a:xfrm>
            <a:off x="896112" y="5394960"/>
            <a:ext cx="1691640" cy="658368"/>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Monitoring</a:t>
            </a:r>
            <a:endParaRPr lang="en-US" sz="1450" dirty="0"/>
          </a:p>
        </p:txBody>
      </p:sp>
      <p:sp>
        <p:nvSpPr>
          <p:cNvPr id="26" name="Text 24"/>
          <p:cNvSpPr txBox="1"/>
          <p:nvPr/>
        </p:nvSpPr>
        <p:spPr>
          <a:xfrm>
            <a:off x="2606040" y="5394960"/>
            <a:ext cx="3749040" cy="658368"/>
          </a:xfrm>
          <a:prstGeom prst="rect">
            <a:avLst/>
          </a:prstGeom>
          <a:noFill/>
          <a:ln/>
        </p:spPr>
        <p:txBody>
          <a:bodyPr wrap="square" lIns="0" tIns="0" rIns="0" bIns="0" rtlCol="0" anchor="ctr"/>
          <a:lstStyle/>
          <a:p>
            <a:pPr indent="0" marL="0">
              <a:buNone/>
            </a:pPr>
            <a:r>
              <a:rPr lang="en-US" sz="1250" dirty="0">
                <a:solidFill>
                  <a:srgbClr val="E9EEF5"/>
                </a:solidFill>
                <a:latin typeface="Calibri" pitchFamily="34" charset="0"/>
                <a:ea typeface="Calibri" pitchFamily="34" charset="-122"/>
                <a:cs typeface="Calibri" pitchFamily="34" charset="-120"/>
              </a:rPr>
              <a:t>Accountability</a:t>
            </a:r>
            <a:endParaRPr lang="en-US" sz="1250" dirty="0"/>
          </a:p>
        </p:txBody>
      </p:sp>
      <p:sp>
        <p:nvSpPr>
          <p:cNvPr id="27" name="Text 25"/>
          <p:cNvSpPr txBox="1"/>
          <p:nvPr/>
        </p:nvSpPr>
        <p:spPr>
          <a:xfrm>
            <a:off x="6492240" y="5394960"/>
            <a:ext cx="4846320" cy="658368"/>
          </a:xfrm>
          <a:prstGeom prst="rect">
            <a:avLst/>
          </a:prstGeom>
          <a:noFill/>
          <a:ln/>
        </p:spPr>
        <p:txBody>
          <a:bodyPr wrap="square" lIns="0" tIns="0" rIns="0" bIns="0" rtlCol="0" anchor="ctr"/>
          <a:lstStyle/>
          <a:p>
            <a:pPr indent="0" marL="0">
              <a:buNone/>
            </a:pPr>
            <a:r>
              <a:rPr lang="en-US" sz="1250" dirty="0">
                <a:solidFill>
                  <a:srgbClr val="9FB0C4"/>
                </a:solidFill>
                <a:latin typeface="Calibri" pitchFamily="34" charset="0"/>
                <a:ea typeface="Calibri" pitchFamily="34" charset="-122"/>
                <a:cs typeface="Calibri" pitchFamily="34" charset="-120"/>
              </a:rPr>
              <a:t>Audit log plus 33 security event types</a:t>
            </a:r>
            <a:endParaRPr lang="en-US" sz="1250" dirty="0"/>
          </a:p>
        </p:txBody>
      </p:sp>
      <p:sp>
        <p:nvSpPr>
          <p:cNvPr id="29" name="Text 26"/>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30" name="Text 27"/>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How a class is taken</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The teacher proves presence first — no session, no attendance</a:t>
            </a:r>
            <a:endParaRPr lang="en-US" sz="1400" dirty="0"/>
          </a:p>
        </p:txBody>
      </p:sp>
      <p:sp>
        <p:nvSpPr>
          <p:cNvPr id="4" name="Shape 2"/>
          <p:cNvSpPr/>
          <p:nvPr/>
        </p:nvSpPr>
        <p:spPr>
          <a:xfrm>
            <a:off x="640080" y="1965960"/>
            <a:ext cx="2084832" cy="2286000"/>
          </a:xfrm>
          <a:prstGeom prst="roundRect">
            <a:avLst>
              <a:gd name="adj" fmla="val 2193"/>
            </a:avLst>
          </a:prstGeom>
          <a:solidFill>
            <a:srgbClr val="FFFFFF"/>
          </a:solidFill>
          <a:ln/>
          <a:effectLst>
            <a:outerShdw sx="100000" sy="100000" kx="0" ky="0" algn="bl" rotWithShape="0" blurRad="127000" dist="19050" dir="5400000">
              <a:srgbClr val="9AA9BC">
                <a:alpha val="18000"/>
              </a:srgbClr>
            </a:outerShdw>
          </a:effectLst>
        </p:spPr>
      </p:sp>
      <p:sp>
        <p:nvSpPr>
          <p:cNvPr id="5" name="Shape 3"/>
          <p:cNvSpPr/>
          <p:nvPr/>
        </p:nvSpPr>
        <p:spPr>
          <a:xfrm>
            <a:off x="896112" y="2212848"/>
            <a:ext cx="402336" cy="402336"/>
          </a:xfrm>
          <a:prstGeom prst="roundRect">
            <a:avLst>
              <a:gd name="adj" fmla="val 18182"/>
            </a:avLst>
          </a:prstGeom>
          <a:solidFill>
            <a:srgbClr val="2E6F9E"/>
          </a:solidFill>
          <a:ln/>
        </p:spPr>
      </p:sp>
      <p:sp>
        <p:nvSpPr>
          <p:cNvPr id="6" name="Text 4"/>
          <p:cNvSpPr txBox="1"/>
          <p:nvPr/>
        </p:nvSpPr>
        <p:spPr>
          <a:xfrm>
            <a:off x="896112" y="2212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896112" y="2743200"/>
            <a:ext cx="1572768" cy="457200"/>
          </a:xfrm>
          <a:prstGeom prst="rect">
            <a:avLst/>
          </a:prstGeom>
          <a:noFill/>
          <a:ln/>
        </p:spPr>
        <p:txBody>
          <a:bodyPr wrap="square" lIns="0" tIns="0" rIns="0" bIns="0" rtlCol="0" anchor="ctr"/>
          <a:lstStyle/>
          <a:p>
            <a:pPr indent="0" marL="0">
              <a:lnSpc>
                <a:spcPts val="1800"/>
              </a:lnSpc>
              <a:buNone/>
            </a:pPr>
            <a:r>
              <a:rPr lang="en-US" sz="1400" b="1" dirty="0">
                <a:solidFill>
                  <a:srgbClr val="16202E"/>
                </a:solidFill>
                <a:latin typeface="Calibri" pitchFamily="34" charset="0"/>
                <a:ea typeface="Calibri" pitchFamily="34" charset="-122"/>
                <a:cs typeface="Calibri" pitchFamily="34" charset="-120"/>
              </a:rPr>
              <a:t>Teacher verifies</a:t>
            </a:r>
            <a:endParaRPr lang="en-US" sz="1400" dirty="0"/>
          </a:p>
        </p:txBody>
      </p:sp>
      <p:sp>
        <p:nvSpPr>
          <p:cNvPr id="8" name="Text 6"/>
          <p:cNvSpPr txBox="1"/>
          <p:nvPr/>
        </p:nvSpPr>
        <p:spPr>
          <a:xfrm>
            <a:off x="896112" y="3218688"/>
            <a:ext cx="1572768" cy="914400"/>
          </a:xfrm>
          <a:prstGeom prst="rect">
            <a:avLst/>
          </a:prstGeom>
          <a:noFill/>
          <a:ln/>
        </p:spPr>
        <p:txBody>
          <a:bodyPr wrap="square" lIns="0" tIns="0" rIns="0" bIns="0" rtlCol="0" anchor="ctr"/>
          <a:lstStyle/>
          <a:p>
            <a:pPr indent="0" marL="0">
              <a:lnSpc>
                <a:spcPts val="1500"/>
              </a:lnSpc>
              <a:buNone/>
            </a:pPr>
            <a:r>
              <a:rPr lang="en-US" sz="1100" dirty="0">
                <a:solidFill>
                  <a:srgbClr val="6B7A8D"/>
                </a:solidFill>
                <a:latin typeface="Calibri" pitchFamily="34" charset="0"/>
                <a:ea typeface="Calibri" pitchFamily="34" charset="-122"/>
                <a:cs typeface="Calibri" pitchFamily="34" charset="-120"/>
              </a:rPr>
              <a:t>Fingerprint on the room’s own terminal, checked against the schedule.</a:t>
            </a:r>
            <a:endParaRPr lang="en-US" sz="1100" dirty="0"/>
          </a:p>
        </p:txBody>
      </p:sp>
      <p:sp>
        <p:nvSpPr>
          <p:cNvPr id="9" name="Text 7"/>
          <p:cNvSpPr txBox="1"/>
          <p:nvPr/>
        </p:nvSpPr>
        <p:spPr>
          <a:xfrm>
            <a:off x="2734056" y="2880360"/>
            <a:ext cx="173736" cy="365760"/>
          </a:xfrm>
          <a:prstGeom prst="rect">
            <a:avLst/>
          </a:prstGeom>
          <a:noFill/>
          <a:ln/>
        </p:spPr>
        <p:txBody>
          <a:bodyPr wrap="square" lIns="0" tIns="0" rIns="0" bIns="0" rtlCol="0" anchor="ctr"/>
          <a:lstStyle/>
          <a:p>
            <a:pPr algn="ctr" indent="0" marL="0">
              <a:buNone/>
            </a:pPr>
            <a:r>
              <a:rPr lang="en-US" sz="2000" dirty="0">
                <a:solidFill>
                  <a:srgbClr val="6B7A8D"/>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98648" y="1965960"/>
            <a:ext cx="2084832" cy="2286000"/>
          </a:xfrm>
          <a:prstGeom prst="roundRect">
            <a:avLst>
              <a:gd name="adj" fmla="val 2193"/>
            </a:avLst>
          </a:prstGeom>
          <a:solidFill>
            <a:srgbClr val="FFFFFF"/>
          </a:solidFill>
          <a:ln/>
          <a:effectLst>
            <a:outerShdw sx="100000" sy="100000" kx="0" ky="0" algn="bl" rotWithShape="0" blurRad="127000" dist="19050" dir="5400000">
              <a:srgbClr val="9AA9BC">
                <a:alpha val="18000"/>
              </a:srgbClr>
            </a:outerShdw>
          </a:effectLst>
        </p:spPr>
      </p:sp>
      <p:sp>
        <p:nvSpPr>
          <p:cNvPr id="11" name="Shape 9"/>
          <p:cNvSpPr/>
          <p:nvPr/>
        </p:nvSpPr>
        <p:spPr>
          <a:xfrm>
            <a:off x="3154680" y="2212848"/>
            <a:ext cx="402336" cy="402336"/>
          </a:xfrm>
          <a:prstGeom prst="roundRect">
            <a:avLst>
              <a:gd name="adj" fmla="val 18182"/>
            </a:avLst>
          </a:prstGeom>
          <a:solidFill>
            <a:srgbClr val="2E6F9E"/>
          </a:solidFill>
          <a:ln/>
        </p:spPr>
      </p:sp>
      <p:sp>
        <p:nvSpPr>
          <p:cNvPr id="12" name="Text 10"/>
          <p:cNvSpPr txBox="1"/>
          <p:nvPr/>
        </p:nvSpPr>
        <p:spPr>
          <a:xfrm>
            <a:off x="3154680" y="2212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154680" y="2743200"/>
            <a:ext cx="1572768" cy="457200"/>
          </a:xfrm>
          <a:prstGeom prst="rect">
            <a:avLst/>
          </a:prstGeom>
          <a:noFill/>
          <a:ln/>
        </p:spPr>
        <p:txBody>
          <a:bodyPr wrap="square" lIns="0" tIns="0" rIns="0" bIns="0" rtlCol="0" anchor="ctr"/>
          <a:lstStyle/>
          <a:p>
            <a:pPr indent="0" marL="0">
              <a:lnSpc>
                <a:spcPts val="1800"/>
              </a:lnSpc>
              <a:buNone/>
            </a:pPr>
            <a:r>
              <a:rPr lang="en-US" sz="1400" b="1" dirty="0">
                <a:solidFill>
                  <a:srgbClr val="16202E"/>
                </a:solidFill>
                <a:latin typeface="Calibri" pitchFamily="34" charset="0"/>
                <a:ea typeface="Calibri" pitchFamily="34" charset="-122"/>
                <a:cs typeface="Calibri" pitchFamily="34" charset="-120"/>
              </a:rPr>
              <a:t>Session opens</a:t>
            </a:r>
            <a:endParaRPr lang="en-US" sz="1400" dirty="0"/>
          </a:p>
        </p:txBody>
      </p:sp>
      <p:sp>
        <p:nvSpPr>
          <p:cNvPr id="14" name="Text 12"/>
          <p:cNvSpPr txBox="1"/>
          <p:nvPr/>
        </p:nvSpPr>
        <p:spPr>
          <a:xfrm>
            <a:off x="3154680" y="3218688"/>
            <a:ext cx="1572768" cy="914400"/>
          </a:xfrm>
          <a:prstGeom prst="rect">
            <a:avLst/>
          </a:prstGeom>
          <a:noFill/>
          <a:ln/>
        </p:spPr>
        <p:txBody>
          <a:bodyPr wrap="square" lIns="0" tIns="0" rIns="0" bIns="0" rtlCol="0" anchor="ctr"/>
          <a:lstStyle/>
          <a:p>
            <a:pPr indent="0" marL="0">
              <a:lnSpc>
                <a:spcPts val="1500"/>
              </a:lnSpc>
              <a:buNone/>
            </a:pPr>
            <a:r>
              <a:rPr lang="en-US" sz="1100" dirty="0">
                <a:solidFill>
                  <a:srgbClr val="6B7A8D"/>
                </a:solidFill>
                <a:latin typeface="Calibri" pitchFamily="34" charset="0"/>
                <a:ea typeface="Calibri" pitchFamily="34" charset="-122"/>
                <a:cs typeface="Calibri" pitchFamily="34" charset="-120"/>
              </a:rPr>
              <a:t>Only for a class that teacher is actually scheduled to teach, in that room.</a:t>
            </a:r>
            <a:endParaRPr lang="en-US" sz="1100" dirty="0"/>
          </a:p>
        </p:txBody>
      </p:sp>
      <p:sp>
        <p:nvSpPr>
          <p:cNvPr id="15" name="Text 13"/>
          <p:cNvSpPr txBox="1"/>
          <p:nvPr/>
        </p:nvSpPr>
        <p:spPr>
          <a:xfrm>
            <a:off x="4992624" y="2880360"/>
            <a:ext cx="173736" cy="365760"/>
          </a:xfrm>
          <a:prstGeom prst="rect">
            <a:avLst/>
          </a:prstGeom>
          <a:noFill/>
          <a:ln/>
        </p:spPr>
        <p:txBody>
          <a:bodyPr wrap="square" lIns="0" tIns="0" rIns="0" bIns="0" rtlCol="0" anchor="ctr"/>
          <a:lstStyle/>
          <a:p>
            <a:pPr algn="ctr" indent="0" marL="0">
              <a:buNone/>
            </a:pPr>
            <a:r>
              <a:rPr lang="en-US" sz="2000" dirty="0">
                <a:solidFill>
                  <a:srgbClr val="6B7A8D"/>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5157216" y="1965960"/>
            <a:ext cx="2084832" cy="2286000"/>
          </a:xfrm>
          <a:prstGeom prst="roundRect">
            <a:avLst>
              <a:gd name="adj" fmla="val 2193"/>
            </a:avLst>
          </a:prstGeom>
          <a:solidFill>
            <a:srgbClr val="FFFFFF"/>
          </a:solidFill>
          <a:ln/>
          <a:effectLst>
            <a:outerShdw sx="100000" sy="100000" kx="0" ky="0" algn="bl" rotWithShape="0" blurRad="127000" dist="19050" dir="5400000">
              <a:srgbClr val="9AA9BC">
                <a:alpha val="18000"/>
              </a:srgbClr>
            </a:outerShdw>
          </a:effectLst>
        </p:spPr>
      </p:sp>
      <p:sp>
        <p:nvSpPr>
          <p:cNvPr id="17" name="Shape 15"/>
          <p:cNvSpPr/>
          <p:nvPr/>
        </p:nvSpPr>
        <p:spPr>
          <a:xfrm>
            <a:off x="5413248" y="2212848"/>
            <a:ext cx="402336" cy="402336"/>
          </a:xfrm>
          <a:prstGeom prst="roundRect">
            <a:avLst>
              <a:gd name="adj" fmla="val 18182"/>
            </a:avLst>
          </a:prstGeom>
          <a:solidFill>
            <a:srgbClr val="2E6F9E"/>
          </a:solidFill>
          <a:ln/>
        </p:spPr>
      </p:sp>
      <p:sp>
        <p:nvSpPr>
          <p:cNvPr id="18" name="Text 16"/>
          <p:cNvSpPr txBox="1"/>
          <p:nvPr/>
        </p:nvSpPr>
        <p:spPr>
          <a:xfrm>
            <a:off x="5413248" y="2212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5413248" y="2743200"/>
            <a:ext cx="1572768" cy="457200"/>
          </a:xfrm>
          <a:prstGeom prst="rect">
            <a:avLst/>
          </a:prstGeom>
          <a:noFill/>
          <a:ln/>
        </p:spPr>
        <p:txBody>
          <a:bodyPr wrap="square" lIns="0" tIns="0" rIns="0" bIns="0" rtlCol="0" anchor="ctr"/>
          <a:lstStyle/>
          <a:p>
            <a:pPr indent="0" marL="0">
              <a:lnSpc>
                <a:spcPts val="1800"/>
              </a:lnSpc>
              <a:buNone/>
            </a:pPr>
            <a:r>
              <a:rPr lang="en-US" sz="1400" b="1" dirty="0">
                <a:solidFill>
                  <a:srgbClr val="16202E"/>
                </a:solidFill>
                <a:latin typeface="Calibri" pitchFamily="34" charset="0"/>
                <a:ea typeface="Calibri" pitchFamily="34" charset="-122"/>
                <a:cs typeface="Calibri" pitchFamily="34" charset="-120"/>
              </a:rPr>
              <a:t>Students tap</a:t>
            </a:r>
            <a:endParaRPr lang="en-US" sz="1400" dirty="0"/>
          </a:p>
        </p:txBody>
      </p:sp>
      <p:sp>
        <p:nvSpPr>
          <p:cNvPr id="20" name="Text 18"/>
          <p:cNvSpPr txBox="1"/>
          <p:nvPr/>
        </p:nvSpPr>
        <p:spPr>
          <a:xfrm>
            <a:off x="5413248" y="3218688"/>
            <a:ext cx="1572768" cy="914400"/>
          </a:xfrm>
          <a:prstGeom prst="rect">
            <a:avLst/>
          </a:prstGeom>
          <a:noFill/>
          <a:ln/>
        </p:spPr>
        <p:txBody>
          <a:bodyPr wrap="square" lIns="0" tIns="0" rIns="0" bIns="0" rtlCol="0" anchor="ctr"/>
          <a:lstStyle/>
          <a:p>
            <a:pPr indent="0" marL="0">
              <a:lnSpc>
                <a:spcPts val="1500"/>
              </a:lnSpc>
              <a:buNone/>
            </a:pPr>
            <a:r>
              <a:rPr lang="en-US" sz="1100" dirty="0">
                <a:solidFill>
                  <a:srgbClr val="6B7A8D"/>
                </a:solidFill>
                <a:latin typeface="Calibri" pitchFamily="34" charset="0"/>
                <a:ea typeface="Calibri" pitchFamily="34" charset="-122"/>
                <a:cs typeface="Calibri" pitchFamily="34" charset="-120"/>
              </a:rPr>
              <a:t>Each RFID tap is signed, timestamped and bound to the open session.</a:t>
            </a:r>
            <a:endParaRPr lang="en-US" sz="1100" dirty="0"/>
          </a:p>
        </p:txBody>
      </p:sp>
      <p:sp>
        <p:nvSpPr>
          <p:cNvPr id="21" name="Text 19"/>
          <p:cNvSpPr txBox="1"/>
          <p:nvPr/>
        </p:nvSpPr>
        <p:spPr>
          <a:xfrm>
            <a:off x="7251192" y="2880360"/>
            <a:ext cx="173736" cy="365760"/>
          </a:xfrm>
          <a:prstGeom prst="rect">
            <a:avLst/>
          </a:prstGeom>
          <a:noFill/>
          <a:ln/>
        </p:spPr>
        <p:txBody>
          <a:bodyPr wrap="square" lIns="0" tIns="0" rIns="0" bIns="0" rtlCol="0" anchor="ctr"/>
          <a:lstStyle/>
          <a:p>
            <a:pPr algn="ctr" indent="0" marL="0">
              <a:buNone/>
            </a:pPr>
            <a:r>
              <a:rPr lang="en-US" sz="2000" dirty="0">
                <a:solidFill>
                  <a:srgbClr val="6B7A8D"/>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7415784" y="1965960"/>
            <a:ext cx="2084832" cy="2286000"/>
          </a:xfrm>
          <a:prstGeom prst="roundRect">
            <a:avLst>
              <a:gd name="adj" fmla="val 2193"/>
            </a:avLst>
          </a:prstGeom>
          <a:solidFill>
            <a:srgbClr val="FFFFFF"/>
          </a:solidFill>
          <a:ln/>
          <a:effectLst>
            <a:outerShdw sx="100000" sy="100000" kx="0" ky="0" algn="bl" rotWithShape="0" blurRad="127000" dist="19050" dir="5400000">
              <a:srgbClr val="9AA9BC">
                <a:alpha val="18000"/>
              </a:srgbClr>
            </a:outerShdw>
          </a:effectLst>
        </p:spPr>
      </p:sp>
      <p:sp>
        <p:nvSpPr>
          <p:cNvPr id="23" name="Shape 21"/>
          <p:cNvSpPr/>
          <p:nvPr/>
        </p:nvSpPr>
        <p:spPr>
          <a:xfrm>
            <a:off x="7671816" y="2212848"/>
            <a:ext cx="402336" cy="402336"/>
          </a:xfrm>
          <a:prstGeom prst="roundRect">
            <a:avLst>
              <a:gd name="adj" fmla="val 18182"/>
            </a:avLst>
          </a:prstGeom>
          <a:solidFill>
            <a:srgbClr val="2E6F9E"/>
          </a:solidFill>
          <a:ln/>
        </p:spPr>
      </p:sp>
      <p:sp>
        <p:nvSpPr>
          <p:cNvPr id="24" name="Text 22"/>
          <p:cNvSpPr txBox="1"/>
          <p:nvPr/>
        </p:nvSpPr>
        <p:spPr>
          <a:xfrm>
            <a:off x="7671816" y="2212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7671816" y="2743200"/>
            <a:ext cx="1572768" cy="457200"/>
          </a:xfrm>
          <a:prstGeom prst="rect">
            <a:avLst/>
          </a:prstGeom>
          <a:noFill/>
          <a:ln/>
        </p:spPr>
        <p:txBody>
          <a:bodyPr wrap="square" lIns="0" tIns="0" rIns="0" bIns="0" rtlCol="0" anchor="ctr"/>
          <a:lstStyle/>
          <a:p>
            <a:pPr indent="0" marL="0">
              <a:lnSpc>
                <a:spcPts val="1800"/>
              </a:lnSpc>
              <a:buNone/>
            </a:pPr>
            <a:r>
              <a:rPr lang="en-US" sz="1400" b="1" dirty="0">
                <a:solidFill>
                  <a:srgbClr val="16202E"/>
                </a:solidFill>
                <a:latin typeface="Calibri" pitchFamily="34" charset="0"/>
                <a:ea typeface="Calibri" pitchFamily="34" charset="-122"/>
                <a:cs typeface="Calibri" pitchFamily="34" charset="-120"/>
              </a:rPr>
              <a:t>Server decides</a:t>
            </a:r>
            <a:endParaRPr lang="en-US" sz="1400" dirty="0"/>
          </a:p>
        </p:txBody>
      </p:sp>
      <p:sp>
        <p:nvSpPr>
          <p:cNvPr id="26" name="Text 24"/>
          <p:cNvSpPr txBox="1"/>
          <p:nvPr/>
        </p:nvSpPr>
        <p:spPr>
          <a:xfrm>
            <a:off x="7671816" y="3218688"/>
            <a:ext cx="1572768" cy="914400"/>
          </a:xfrm>
          <a:prstGeom prst="rect">
            <a:avLst/>
          </a:prstGeom>
          <a:noFill/>
          <a:ln/>
        </p:spPr>
        <p:txBody>
          <a:bodyPr wrap="square" lIns="0" tIns="0" rIns="0" bIns="0" rtlCol="0" anchor="ctr"/>
          <a:lstStyle/>
          <a:p>
            <a:pPr indent="0" marL="0">
              <a:lnSpc>
                <a:spcPts val="1500"/>
              </a:lnSpc>
              <a:buNone/>
            </a:pPr>
            <a:r>
              <a:rPr lang="en-US" sz="1100" dirty="0">
                <a:solidFill>
                  <a:srgbClr val="6B7A8D"/>
                </a:solidFill>
                <a:latin typeface="Calibri" pitchFamily="34" charset="0"/>
                <a:ea typeface="Calibri" pitchFamily="34" charset="-122"/>
                <a:cs typeface="Calibri" pitchFamily="34" charset="-120"/>
              </a:rPr>
              <a:t>Arrival or departure, on time or late — the terminal never decides status.</a:t>
            </a:r>
            <a:endParaRPr lang="en-US" sz="1100" dirty="0"/>
          </a:p>
        </p:txBody>
      </p:sp>
      <p:sp>
        <p:nvSpPr>
          <p:cNvPr id="27" name="Text 25"/>
          <p:cNvSpPr txBox="1"/>
          <p:nvPr/>
        </p:nvSpPr>
        <p:spPr>
          <a:xfrm>
            <a:off x="9509760" y="2880360"/>
            <a:ext cx="173736" cy="365760"/>
          </a:xfrm>
          <a:prstGeom prst="rect">
            <a:avLst/>
          </a:prstGeom>
          <a:noFill/>
          <a:ln/>
        </p:spPr>
        <p:txBody>
          <a:bodyPr wrap="square" lIns="0" tIns="0" rIns="0" bIns="0" rtlCol="0" anchor="ctr"/>
          <a:lstStyle/>
          <a:p>
            <a:pPr algn="ctr" indent="0" marL="0">
              <a:buNone/>
            </a:pPr>
            <a:r>
              <a:rPr lang="en-US" sz="2000" dirty="0">
                <a:solidFill>
                  <a:srgbClr val="6B7A8D"/>
                </a:solidFill>
                <a:latin typeface="Calibri" pitchFamily="34" charset="0"/>
                <a:ea typeface="Calibri" pitchFamily="34" charset="-122"/>
                <a:cs typeface="Calibri" pitchFamily="34" charset="-120"/>
              </a:rPr>
              <a:t>›</a:t>
            </a:r>
            <a:endParaRPr lang="en-US" sz="2000" dirty="0"/>
          </a:p>
        </p:txBody>
      </p:sp>
      <p:sp>
        <p:nvSpPr>
          <p:cNvPr id="28" name="Shape 26"/>
          <p:cNvSpPr/>
          <p:nvPr/>
        </p:nvSpPr>
        <p:spPr>
          <a:xfrm>
            <a:off x="9674352" y="1965960"/>
            <a:ext cx="2084832" cy="2286000"/>
          </a:xfrm>
          <a:prstGeom prst="roundRect">
            <a:avLst>
              <a:gd name="adj" fmla="val 2193"/>
            </a:avLst>
          </a:prstGeom>
          <a:solidFill>
            <a:srgbClr val="FFFFFF"/>
          </a:solidFill>
          <a:ln/>
          <a:effectLst>
            <a:outerShdw sx="100000" sy="100000" kx="0" ky="0" algn="bl" rotWithShape="0" blurRad="127000" dist="19050" dir="5400000">
              <a:srgbClr val="9AA9BC">
                <a:alpha val="18000"/>
              </a:srgbClr>
            </a:outerShdw>
          </a:effectLst>
        </p:spPr>
      </p:sp>
      <p:sp>
        <p:nvSpPr>
          <p:cNvPr id="29" name="Shape 27"/>
          <p:cNvSpPr/>
          <p:nvPr/>
        </p:nvSpPr>
        <p:spPr>
          <a:xfrm>
            <a:off x="9930384" y="2212848"/>
            <a:ext cx="402336" cy="402336"/>
          </a:xfrm>
          <a:prstGeom prst="roundRect">
            <a:avLst>
              <a:gd name="adj" fmla="val 18182"/>
            </a:avLst>
          </a:prstGeom>
          <a:solidFill>
            <a:srgbClr val="2E6F9E"/>
          </a:solidFill>
          <a:ln/>
        </p:spPr>
      </p:sp>
      <p:sp>
        <p:nvSpPr>
          <p:cNvPr id="30" name="Text 28"/>
          <p:cNvSpPr txBox="1"/>
          <p:nvPr/>
        </p:nvSpPr>
        <p:spPr>
          <a:xfrm>
            <a:off x="9930384" y="22128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txBox="1"/>
          <p:nvPr/>
        </p:nvSpPr>
        <p:spPr>
          <a:xfrm>
            <a:off x="9930384" y="2743200"/>
            <a:ext cx="1572768" cy="457200"/>
          </a:xfrm>
          <a:prstGeom prst="rect">
            <a:avLst/>
          </a:prstGeom>
          <a:noFill/>
          <a:ln/>
        </p:spPr>
        <p:txBody>
          <a:bodyPr wrap="square" lIns="0" tIns="0" rIns="0" bIns="0" rtlCol="0" anchor="ctr"/>
          <a:lstStyle/>
          <a:p>
            <a:pPr indent="0" marL="0">
              <a:lnSpc>
                <a:spcPts val="1800"/>
              </a:lnSpc>
              <a:buNone/>
            </a:pPr>
            <a:r>
              <a:rPr lang="en-US" sz="1400" b="1" dirty="0">
                <a:solidFill>
                  <a:srgbClr val="16202E"/>
                </a:solidFill>
                <a:latin typeface="Calibri" pitchFamily="34" charset="0"/>
                <a:ea typeface="Calibri" pitchFamily="34" charset="-122"/>
                <a:cs typeface="Calibri" pitchFamily="34" charset="-120"/>
              </a:rPr>
              <a:t>Recorded &amp; logged</a:t>
            </a:r>
            <a:endParaRPr lang="en-US" sz="1400" dirty="0"/>
          </a:p>
        </p:txBody>
      </p:sp>
      <p:sp>
        <p:nvSpPr>
          <p:cNvPr id="32" name="Text 30"/>
          <p:cNvSpPr txBox="1"/>
          <p:nvPr/>
        </p:nvSpPr>
        <p:spPr>
          <a:xfrm>
            <a:off x="9930384" y="3218688"/>
            <a:ext cx="1572768" cy="914400"/>
          </a:xfrm>
          <a:prstGeom prst="rect">
            <a:avLst/>
          </a:prstGeom>
          <a:noFill/>
          <a:ln/>
        </p:spPr>
        <p:txBody>
          <a:bodyPr wrap="square" lIns="0" tIns="0" rIns="0" bIns="0" rtlCol="0" anchor="ctr"/>
          <a:lstStyle/>
          <a:p>
            <a:pPr indent="0" marL="0">
              <a:lnSpc>
                <a:spcPts val="1500"/>
              </a:lnSpc>
              <a:buNone/>
            </a:pPr>
            <a:r>
              <a:rPr lang="en-US" sz="1100" dirty="0">
                <a:solidFill>
                  <a:srgbClr val="6B7A8D"/>
                </a:solidFill>
                <a:latin typeface="Calibri" pitchFamily="34" charset="0"/>
                <a:ea typeface="Calibri" pitchFamily="34" charset="-122"/>
                <a:cs typeface="Calibri" pitchFamily="34" charset="-120"/>
              </a:rPr>
              <a:t>Written to the attendance history and mirrored to the audit trail.</a:t>
            </a:r>
            <a:endParaRPr lang="en-US" sz="1100" dirty="0"/>
          </a:p>
        </p:txBody>
      </p:sp>
      <p:sp>
        <p:nvSpPr>
          <p:cNvPr id="33" name="Text 31"/>
          <p:cNvSpPr txBox="1"/>
          <p:nvPr/>
        </p:nvSpPr>
        <p:spPr>
          <a:xfrm>
            <a:off x="640080" y="4617720"/>
            <a:ext cx="10911535" cy="685800"/>
          </a:xfrm>
          <a:prstGeom prst="rect">
            <a:avLst/>
          </a:prstGeom>
          <a:noFill/>
          <a:ln/>
        </p:spPr>
        <p:txBody>
          <a:bodyPr wrap="square" lIns="0" tIns="0" rIns="0" bIns="0" rtlCol="0" anchor="ctr"/>
          <a:lstStyle/>
          <a:p>
            <a:pPr indent="0" marL="0">
              <a:lnSpc>
                <a:spcPts val="1900"/>
              </a:lnSpc>
              <a:buNone/>
            </a:pPr>
            <a:r>
              <a:rPr lang="en-US" sz="1300" dirty="0">
                <a:solidFill>
                  <a:srgbClr val="16202E"/>
                </a:solidFill>
                <a:latin typeface="Calibri" pitchFamily="34" charset="0"/>
                <a:ea typeface="Calibri" pitchFamily="34" charset="-122"/>
                <a:cs typeface="Calibri" pitchFamily="34" charset="-120"/>
              </a:rPr>
              <a:t>If the fingerprint reader cannot read a legitimate teacher, they may open the session with their own password instead — and that override is recorded as a security event, never silently.</a:t>
            </a:r>
            <a:endParaRPr lang="en-US" sz="1300" dirty="0"/>
          </a:p>
        </p:txBody>
      </p:sp>
      <p:sp>
        <p:nvSpPr>
          <p:cNvPr id="35" name="Text 32"/>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36" name="Text 33"/>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The classroom terminal</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ESP32 with RFID reader and optical fingerprint sensor, mounted at the door</a:t>
            </a:r>
            <a:endParaRPr lang="en-US" sz="1400" dirty="0"/>
          </a:p>
        </p:txBody>
      </p:sp>
      <p:sp>
        <p:nvSpPr>
          <p:cNvPr id="4" name="Shape 2"/>
          <p:cNvSpPr/>
          <p:nvPr/>
        </p:nvSpPr>
        <p:spPr>
          <a:xfrm>
            <a:off x="640080" y="1828800"/>
            <a:ext cx="3931920" cy="2606040"/>
          </a:xfrm>
          <a:prstGeom prst="roundRect">
            <a:avLst>
              <a:gd name="adj" fmla="val 1754"/>
            </a:avLst>
          </a:prstGeom>
          <a:solidFill>
            <a:srgbClr val="E6EBF2"/>
          </a:solidFill>
          <a:ln w="15875">
            <a:solidFill>
              <a:srgbClr val="9EAFC2"/>
            </a:solidFill>
            <a:prstDash val="dash"/>
          </a:ln>
        </p:spPr>
      </p:sp>
      <p:sp>
        <p:nvSpPr>
          <p:cNvPr id="5" name="Text 3"/>
          <p:cNvSpPr txBox="1"/>
          <p:nvPr/>
        </p:nvSpPr>
        <p:spPr>
          <a:xfrm>
            <a:off x="640080" y="2788920"/>
            <a:ext cx="3931920" cy="365760"/>
          </a:xfrm>
          <a:prstGeom prst="rect">
            <a:avLst/>
          </a:prstGeom>
          <a:noFill/>
          <a:ln/>
        </p:spPr>
        <p:txBody>
          <a:bodyPr wrap="square" lIns="0" tIns="0" rIns="0" bIns="0" rtlCol="0" anchor="ctr"/>
          <a:lstStyle/>
          <a:p>
            <a:pPr algn="ctr" indent="0" marL="0">
              <a:buNone/>
            </a:pPr>
            <a:r>
              <a:rPr lang="en-US" sz="1300" b="1" spc="100" kern="0" dirty="0">
                <a:solidFill>
                  <a:srgbClr val="7488A0"/>
                </a:solidFill>
                <a:latin typeface="Calibri" pitchFamily="34" charset="0"/>
                <a:ea typeface="Calibri" pitchFamily="34" charset="-122"/>
                <a:cs typeface="Calibri" pitchFamily="34" charset="-120"/>
              </a:rPr>
              <a:t>INSERT PHOTOGRAPH</a:t>
            </a:r>
            <a:endParaRPr lang="en-US" sz="1300" dirty="0"/>
          </a:p>
        </p:txBody>
      </p:sp>
      <p:sp>
        <p:nvSpPr>
          <p:cNvPr id="6" name="Text 4"/>
          <p:cNvSpPr txBox="1"/>
          <p:nvPr/>
        </p:nvSpPr>
        <p:spPr>
          <a:xfrm>
            <a:off x="868680" y="3154680"/>
            <a:ext cx="3474720" cy="365760"/>
          </a:xfrm>
          <a:prstGeom prst="rect">
            <a:avLst/>
          </a:prstGeom>
          <a:noFill/>
          <a:ln/>
        </p:spPr>
        <p:txBody>
          <a:bodyPr wrap="square" lIns="0" tIns="0" rIns="0" bIns="0" rtlCol="0" anchor="ctr"/>
          <a:lstStyle/>
          <a:p>
            <a:pPr algn="ctr" indent="0" marL="0">
              <a:buNone/>
            </a:pPr>
            <a:r>
              <a:rPr lang="en-US" sz="1100" i="1" dirty="0">
                <a:solidFill>
                  <a:srgbClr val="6B7A8D"/>
                </a:solidFill>
                <a:latin typeface="Calibri" pitchFamily="34" charset="0"/>
                <a:ea typeface="Calibri" pitchFamily="34" charset="-122"/>
                <a:cs typeface="Calibri" pitchFamily="34" charset="-120"/>
              </a:rPr>
              <a:t>Assembled terminal — front view</a:t>
            </a:r>
            <a:endParaRPr lang="en-US" sz="1100" dirty="0"/>
          </a:p>
        </p:txBody>
      </p:sp>
      <p:sp>
        <p:nvSpPr>
          <p:cNvPr id="7" name="Shape 5"/>
          <p:cNvSpPr/>
          <p:nvPr/>
        </p:nvSpPr>
        <p:spPr>
          <a:xfrm>
            <a:off x="4846320" y="1828800"/>
            <a:ext cx="3931920" cy="2606040"/>
          </a:xfrm>
          <a:prstGeom prst="roundRect">
            <a:avLst>
              <a:gd name="adj" fmla="val 1754"/>
            </a:avLst>
          </a:prstGeom>
          <a:solidFill>
            <a:srgbClr val="E6EBF2"/>
          </a:solidFill>
          <a:ln w="15875">
            <a:solidFill>
              <a:srgbClr val="9EAFC2"/>
            </a:solidFill>
            <a:prstDash val="dash"/>
          </a:ln>
        </p:spPr>
      </p:sp>
      <p:sp>
        <p:nvSpPr>
          <p:cNvPr id="8" name="Text 6"/>
          <p:cNvSpPr txBox="1"/>
          <p:nvPr/>
        </p:nvSpPr>
        <p:spPr>
          <a:xfrm>
            <a:off x="4846320" y="2788920"/>
            <a:ext cx="3931920" cy="365760"/>
          </a:xfrm>
          <a:prstGeom prst="rect">
            <a:avLst/>
          </a:prstGeom>
          <a:noFill/>
          <a:ln/>
        </p:spPr>
        <p:txBody>
          <a:bodyPr wrap="square" lIns="0" tIns="0" rIns="0" bIns="0" rtlCol="0" anchor="ctr"/>
          <a:lstStyle/>
          <a:p>
            <a:pPr algn="ctr" indent="0" marL="0">
              <a:buNone/>
            </a:pPr>
            <a:r>
              <a:rPr lang="en-US" sz="1300" b="1" spc="100" kern="0" dirty="0">
                <a:solidFill>
                  <a:srgbClr val="7488A0"/>
                </a:solidFill>
                <a:latin typeface="Calibri" pitchFamily="34" charset="0"/>
                <a:ea typeface="Calibri" pitchFamily="34" charset="-122"/>
                <a:cs typeface="Calibri" pitchFamily="34" charset="-120"/>
              </a:rPr>
              <a:t>INSERT PHOTOGRAPH</a:t>
            </a:r>
            <a:endParaRPr lang="en-US" sz="1300" dirty="0"/>
          </a:p>
        </p:txBody>
      </p:sp>
      <p:sp>
        <p:nvSpPr>
          <p:cNvPr id="9" name="Text 7"/>
          <p:cNvSpPr txBox="1"/>
          <p:nvPr/>
        </p:nvSpPr>
        <p:spPr>
          <a:xfrm>
            <a:off x="5074920" y="3154680"/>
            <a:ext cx="3474720" cy="365760"/>
          </a:xfrm>
          <a:prstGeom prst="rect">
            <a:avLst/>
          </a:prstGeom>
          <a:noFill/>
          <a:ln/>
        </p:spPr>
        <p:txBody>
          <a:bodyPr wrap="square" lIns="0" tIns="0" rIns="0" bIns="0" rtlCol="0" anchor="ctr"/>
          <a:lstStyle/>
          <a:p>
            <a:pPr algn="ctr" indent="0" marL="0">
              <a:buNone/>
            </a:pPr>
            <a:r>
              <a:rPr lang="en-US" sz="1100" i="1" dirty="0">
                <a:solidFill>
                  <a:srgbClr val="6B7A8D"/>
                </a:solidFill>
                <a:latin typeface="Calibri" pitchFamily="34" charset="0"/>
                <a:ea typeface="Calibri" pitchFamily="34" charset="-122"/>
                <a:cs typeface="Calibri" pitchFamily="34" charset="-120"/>
              </a:rPr>
              <a:t>Internals: ESP32, MFRC522, fingerprint sensor</a:t>
            </a:r>
            <a:endParaRPr lang="en-US" sz="1100" dirty="0"/>
          </a:p>
        </p:txBody>
      </p:sp>
      <p:sp>
        <p:nvSpPr>
          <p:cNvPr id="10" name="Shape 8"/>
          <p:cNvSpPr/>
          <p:nvPr/>
        </p:nvSpPr>
        <p:spPr>
          <a:xfrm>
            <a:off x="9052560" y="1828800"/>
            <a:ext cx="2496312" cy="2606040"/>
          </a:xfrm>
          <a:prstGeom prst="roundRect">
            <a:avLst>
              <a:gd name="adj" fmla="val 1832"/>
            </a:avLst>
          </a:prstGeom>
          <a:solidFill>
            <a:srgbClr val="FFFFFF"/>
          </a:solidFill>
          <a:ln/>
          <a:effectLst>
            <a:outerShdw sx="100000" sy="100000" kx="0" ky="0" algn="bl" rotWithShape="0" blurRad="127000" dist="19050" dir="5400000">
              <a:srgbClr val="9AA9BC">
                <a:alpha val="18000"/>
              </a:srgbClr>
            </a:outerShdw>
          </a:effectLst>
        </p:spPr>
      </p:sp>
      <p:sp>
        <p:nvSpPr>
          <p:cNvPr id="11" name="Text 9"/>
          <p:cNvSpPr txBox="1"/>
          <p:nvPr/>
        </p:nvSpPr>
        <p:spPr>
          <a:xfrm>
            <a:off x="9281160" y="2011680"/>
            <a:ext cx="2057400" cy="274320"/>
          </a:xfrm>
          <a:prstGeom prst="rect">
            <a:avLst/>
          </a:prstGeom>
          <a:noFill/>
          <a:ln/>
        </p:spPr>
        <p:txBody>
          <a:bodyPr wrap="square" lIns="0" tIns="0" rIns="0" bIns="0" rtlCol="0" anchor="ctr"/>
          <a:lstStyle/>
          <a:p>
            <a:pPr indent="0" marL="0">
              <a:buNone/>
            </a:pPr>
            <a:r>
              <a:rPr lang="en-US" sz="1000" b="1" spc="100" kern="0" dirty="0">
                <a:solidFill>
                  <a:srgbClr val="6B7A8D"/>
                </a:solidFill>
                <a:latin typeface="Calibri" pitchFamily="34" charset="0"/>
                <a:ea typeface="Calibri" pitchFamily="34" charset="-122"/>
                <a:cs typeface="Calibri" pitchFamily="34" charset="-120"/>
              </a:rPr>
              <a:t>COMPONENTS</a:t>
            </a:r>
            <a:endParaRPr lang="en-US" sz="1000" dirty="0"/>
          </a:p>
        </p:txBody>
      </p:sp>
      <p:sp>
        <p:nvSpPr>
          <p:cNvPr id="12" name="Text 10"/>
          <p:cNvSpPr txBox="1"/>
          <p:nvPr/>
        </p:nvSpPr>
        <p:spPr>
          <a:xfrm>
            <a:off x="9281160" y="2395728"/>
            <a:ext cx="2057400" cy="237744"/>
          </a:xfrm>
          <a:prstGeom prst="rect">
            <a:avLst/>
          </a:prstGeom>
          <a:noFill/>
          <a:ln/>
        </p:spPr>
        <p:txBody>
          <a:bodyPr wrap="square" lIns="0" tIns="0" rIns="0" bIns="0" rtlCol="0" anchor="ctr"/>
          <a:lstStyle/>
          <a:p>
            <a:pPr indent="0" marL="0">
              <a:buNone/>
            </a:pPr>
            <a:r>
              <a:rPr lang="en-US" sz="1250" b="1" dirty="0">
                <a:solidFill>
                  <a:srgbClr val="2E6F9E"/>
                </a:solidFill>
                <a:latin typeface="Calibri" pitchFamily="34" charset="0"/>
                <a:ea typeface="Calibri" pitchFamily="34" charset="-122"/>
                <a:cs typeface="Calibri" pitchFamily="34" charset="-120"/>
              </a:rPr>
              <a:t>ESP32</a:t>
            </a:r>
            <a:endParaRPr lang="en-US" sz="1250" dirty="0"/>
          </a:p>
        </p:txBody>
      </p:sp>
      <p:sp>
        <p:nvSpPr>
          <p:cNvPr id="13" name="Text 11"/>
          <p:cNvSpPr txBox="1"/>
          <p:nvPr/>
        </p:nvSpPr>
        <p:spPr>
          <a:xfrm>
            <a:off x="9281160" y="2615184"/>
            <a:ext cx="2057400" cy="274320"/>
          </a:xfrm>
          <a:prstGeom prst="rect">
            <a:avLst/>
          </a:prstGeom>
          <a:noFill/>
          <a:ln/>
        </p:spPr>
        <p:txBody>
          <a:bodyPr wrap="square" lIns="0" tIns="0" rIns="0" bIns="0" rtlCol="0" anchor="ctr"/>
          <a:lstStyle/>
          <a:p>
            <a:pPr indent="0" marL="0">
              <a:lnSpc>
                <a:spcPts val="1300"/>
              </a:lnSpc>
              <a:buNone/>
            </a:pPr>
            <a:r>
              <a:rPr lang="en-US" sz="1000" dirty="0">
                <a:solidFill>
                  <a:srgbClr val="6B7A8D"/>
                </a:solidFill>
                <a:latin typeface="Calibri" pitchFamily="34" charset="0"/>
                <a:ea typeface="Calibri" pitchFamily="34" charset="-122"/>
                <a:cs typeface="Calibri" pitchFamily="34" charset="-120"/>
              </a:rPr>
              <a:t>Wi-Fi microcontroller</a:t>
            </a:r>
            <a:endParaRPr lang="en-US" sz="1000" dirty="0"/>
          </a:p>
        </p:txBody>
      </p:sp>
      <p:sp>
        <p:nvSpPr>
          <p:cNvPr id="14" name="Text 12"/>
          <p:cNvSpPr txBox="1"/>
          <p:nvPr/>
        </p:nvSpPr>
        <p:spPr>
          <a:xfrm>
            <a:off x="9281160" y="2907792"/>
            <a:ext cx="2057400" cy="237744"/>
          </a:xfrm>
          <a:prstGeom prst="rect">
            <a:avLst/>
          </a:prstGeom>
          <a:noFill/>
          <a:ln/>
        </p:spPr>
        <p:txBody>
          <a:bodyPr wrap="square" lIns="0" tIns="0" rIns="0" bIns="0" rtlCol="0" anchor="ctr"/>
          <a:lstStyle/>
          <a:p>
            <a:pPr indent="0" marL="0">
              <a:buNone/>
            </a:pPr>
            <a:r>
              <a:rPr lang="en-US" sz="1250" b="1" dirty="0">
                <a:solidFill>
                  <a:srgbClr val="2E6F9E"/>
                </a:solidFill>
                <a:latin typeface="Calibri" pitchFamily="34" charset="0"/>
                <a:ea typeface="Calibri" pitchFamily="34" charset="-122"/>
                <a:cs typeface="Calibri" pitchFamily="34" charset="-120"/>
              </a:rPr>
              <a:t>MFRC522</a:t>
            </a:r>
            <a:endParaRPr lang="en-US" sz="1250" dirty="0"/>
          </a:p>
        </p:txBody>
      </p:sp>
      <p:sp>
        <p:nvSpPr>
          <p:cNvPr id="15" name="Text 13"/>
          <p:cNvSpPr txBox="1"/>
          <p:nvPr/>
        </p:nvSpPr>
        <p:spPr>
          <a:xfrm>
            <a:off x="9281160" y="3127248"/>
            <a:ext cx="2057400" cy="274320"/>
          </a:xfrm>
          <a:prstGeom prst="rect">
            <a:avLst/>
          </a:prstGeom>
          <a:noFill/>
          <a:ln/>
        </p:spPr>
        <p:txBody>
          <a:bodyPr wrap="square" lIns="0" tIns="0" rIns="0" bIns="0" rtlCol="0" anchor="ctr"/>
          <a:lstStyle/>
          <a:p>
            <a:pPr indent="0" marL="0">
              <a:lnSpc>
                <a:spcPts val="1300"/>
              </a:lnSpc>
              <a:buNone/>
            </a:pPr>
            <a:r>
              <a:rPr lang="en-US" sz="1000" dirty="0">
                <a:solidFill>
                  <a:srgbClr val="6B7A8D"/>
                </a:solidFill>
                <a:latin typeface="Calibri" pitchFamily="34" charset="0"/>
                <a:ea typeface="Calibri" pitchFamily="34" charset="-122"/>
                <a:cs typeface="Calibri" pitchFamily="34" charset="-120"/>
              </a:rPr>
              <a:t>RFID reader, 13.56 MHz</a:t>
            </a:r>
            <a:endParaRPr lang="en-US" sz="1000" dirty="0"/>
          </a:p>
        </p:txBody>
      </p:sp>
      <p:sp>
        <p:nvSpPr>
          <p:cNvPr id="16" name="Text 14"/>
          <p:cNvSpPr txBox="1"/>
          <p:nvPr/>
        </p:nvSpPr>
        <p:spPr>
          <a:xfrm>
            <a:off x="9281160" y="3419856"/>
            <a:ext cx="2057400" cy="237744"/>
          </a:xfrm>
          <a:prstGeom prst="rect">
            <a:avLst/>
          </a:prstGeom>
          <a:noFill/>
          <a:ln/>
        </p:spPr>
        <p:txBody>
          <a:bodyPr wrap="square" lIns="0" tIns="0" rIns="0" bIns="0" rtlCol="0" anchor="ctr"/>
          <a:lstStyle/>
          <a:p>
            <a:pPr indent="0" marL="0">
              <a:buNone/>
            </a:pPr>
            <a:r>
              <a:rPr lang="en-US" sz="1250" b="1" dirty="0">
                <a:solidFill>
                  <a:srgbClr val="2E6F9E"/>
                </a:solidFill>
                <a:latin typeface="Calibri" pitchFamily="34" charset="0"/>
                <a:ea typeface="Calibri" pitchFamily="34" charset="-122"/>
                <a:cs typeface="Calibri" pitchFamily="34" charset="-120"/>
              </a:rPr>
              <a:t>AS608 / R307</a:t>
            </a:r>
            <a:endParaRPr lang="en-US" sz="1250" dirty="0"/>
          </a:p>
        </p:txBody>
      </p:sp>
      <p:sp>
        <p:nvSpPr>
          <p:cNvPr id="17" name="Text 15"/>
          <p:cNvSpPr txBox="1"/>
          <p:nvPr/>
        </p:nvSpPr>
        <p:spPr>
          <a:xfrm>
            <a:off x="9281160" y="3639312"/>
            <a:ext cx="2057400" cy="274320"/>
          </a:xfrm>
          <a:prstGeom prst="rect">
            <a:avLst/>
          </a:prstGeom>
          <a:noFill/>
          <a:ln/>
        </p:spPr>
        <p:txBody>
          <a:bodyPr wrap="square" lIns="0" tIns="0" rIns="0" bIns="0" rtlCol="0" anchor="ctr"/>
          <a:lstStyle/>
          <a:p>
            <a:pPr indent="0" marL="0">
              <a:lnSpc>
                <a:spcPts val="1300"/>
              </a:lnSpc>
              <a:buNone/>
            </a:pPr>
            <a:r>
              <a:rPr lang="en-US" sz="1000" dirty="0">
                <a:solidFill>
                  <a:srgbClr val="6B7A8D"/>
                </a:solidFill>
                <a:latin typeface="Calibri" pitchFamily="34" charset="0"/>
                <a:ea typeface="Calibri" pitchFamily="34" charset="-122"/>
                <a:cs typeface="Calibri" pitchFamily="34" charset="-120"/>
              </a:rPr>
              <a:t>Optical fingerprint sensor</a:t>
            </a:r>
            <a:endParaRPr lang="en-US" sz="1000" dirty="0"/>
          </a:p>
        </p:txBody>
      </p:sp>
      <p:sp>
        <p:nvSpPr>
          <p:cNvPr id="18" name="Text 16"/>
          <p:cNvSpPr txBox="1"/>
          <p:nvPr/>
        </p:nvSpPr>
        <p:spPr>
          <a:xfrm>
            <a:off x="9281160" y="3931920"/>
            <a:ext cx="2057400" cy="237744"/>
          </a:xfrm>
          <a:prstGeom prst="rect">
            <a:avLst/>
          </a:prstGeom>
          <a:noFill/>
          <a:ln/>
        </p:spPr>
        <p:txBody>
          <a:bodyPr wrap="square" lIns="0" tIns="0" rIns="0" bIns="0" rtlCol="0" anchor="ctr"/>
          <a:lstStyle/>
          <a:p>
            <a:pPr indent="0" marL="0">
              <a:buNone/>
            </a:pPr>
            <a:r>
              <a:rPr lang="en-US" sz="1250" b="1" dirty="0">
                <a:solidFill>
                  <a:srgbClr val="2E6F9E"/>
                </a:solidFill>
                <a:latin typeface="Calibri" pitchFamily="34" charset="0"/>
                <a:ea typeface="Calibri" pitchFamily="34" charset="-122"/>
                <a:cs typeface="Calibri" pitchFamily="34" charset="-120"/>
              </a:rPr>
              <a:t>No display</a:t>
            </a:r>
            <a:endParaRPr lang="en-US" sz="1250" dirty="0"/>
          </a:p>
        </p:txBody>
      </p:sp>
      <p:sp>
        <p:nvSpPr>
          <p:cNvPr id="19" name="Text 17"/>
          <p:cNvSpPr txBox="1"/>
          <p:nvPr/>
        </p:nvSpPr>
        <p:spPr>
          <a:xfrm>
            <a:off x="9281160" y="4151376"/>
            <a:ext cx="2057400" cy="274320"/>
          </a:xfrm>
          <a:prstGeom prst="rect">
            <a:avLst/>
          </a:prstGeom>
          <a:noFill/>
          <a:ln/>
        </p:spPr>
        <p:txBody>
          <a:bodyPr wrap="square" lIns="0" tIns="0" rIns="0" bIns="0" rtlCol="0" anchor="ctr"/>
          <a:lstStyle/>
          <a:p>
            <a:pPr indent="0" marL="0">
              <a:lnSpc>
                <a:spcPts val="1300"/>
              </a:lnSpc>
              <a:buNone/>
            </a:pPr>
            <a:r>
              <a:rPr lang="en-US" sz="1000" dirty="0">
                <a:solidFill>
                  <a:srgbClr val="6B7A8D"/>
                </a:solidFill>
                <a:latin typeface="Calibri" pitchFamily="34" charset="0"/>
                <a:ea typeface="Calibri" pitchFamily="34" charset="-122"/>
                <a:cs typeface="Calibri" pitchFamily="34" charset="-120"/>
              </a:rPr>
              <a:t>Server decides and responds</a:t>
            </a:r>
            <a:endParaRPr lang="en-US" sz="1000" dirty="0"/>
          </a:p>
        </p:txBody>
      </p:sp>
      <p:sp>
        <p:nvSpPr>
          <p:cNvPr id="20" name="Text 18"/>
          <p:cNvSpPr txBox="1"/>
          <p:nvPr/>
        </p:nvSpPr>
        <p:spPr>
          <a:xfrm>
            <a:off x="640080" y="4663440"/>
            <a:ext cx="10911535" cy="548640"/>
          </a:xfrm>
          <a:prstGeom prst="rect">
            <a:avLst/>
          </a:prstGeom>
          <a:noFill/>
          <a:ln/>
        </p:spPr>
        <p:txBody>
          <a:bodyPr wrap="square" lIns="0" tIns="0" rIns="0" bIns="0" rtlCol="0" anchor="ctr"/>
          <a:lstStyle/>
          <a:p>
            <a:pPr indent="0" marL="0">
              <a:lnSpc>
                <a:spcPts val="1900"/>
              </a:lnSpc>
              <a:buNone/>
            </a:pPr>
            <a:r>
              <a:rPr lang="en-US" sz="1300" dirty="0">
                <a:solidFill>
                  <a:srgbClr val="16202E"/>
                </a:solidFill>
                <a:latin typeface="Calibri" pitchFamily="34" charset="0"/>
                <a:ea typeface="Calibri" pitchFamily="34" charset="-122"/>
                <a:cs typeface="Calibri" pitchFamily="34" charset="-120"/>
              </a:rPr>
              <a:t>40 taps are held in the terminal’s memory when the server is unreachable, and replayed with their original timestamps once the link returns.</a:t>
            </a:r>
            <a:endParaRPr lang="en-US" sz="1300" dirty="0"/>
          </a:p>
        </p:txBody>
      </p:sp>
      <p:sp>
        <p:nvSpPr>
          <p:cNvPr id="22" name="Text 19"/>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23" name="Text 20"/>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Every terminal request passes six checks</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9FB0C4"/>
                </a:solidFill>
                <a:latin typeface="Calibri" pitchFamily="34" charset="0"/>
                <a:ea typeface="Calibri" pitchFamily="34" charset="-122"/>
                <a:cs typeface="Calibri" pitchFamily="34" charset="-120"/>
              </a:rPr>
              <a:t>Fail any one and the request is refused — and written to the security log</a:t>
            </a:r>
            <a:endParaRPr lang="en-US" sz="1400" dirty="0"/>
          </a:p>
        </p:txBody>
      </p:sp>
      <p:sp>
        <p:nvSpPr>
          <p:cNvPr id="4" name="Shape 2"/>
          <p:cNvSpPr/>
          <p:nvPr/>
        </p:nvSpPr>
        <p:spPr>
          <a:xfrm>
            <a:off x="640080" y="1874520"/>
            <a:ext cx="1773936" cy="2121408"/>
          </a:xfrm>
          <a:prstGeom prst="roundRect">
            <a:avLst>
              <a:gd name="adj" fmla="val 2577"/>
            </a:avLst>
          </a:prstGeom>
          <a:solidFill>
            <a:srgbClr val="17273D"/>
          </a:solidFill>
          <a:ln/>
        </p:spPr>
      </p:sp>
      <p:sp>
        <p:nvSpPr>
          <p:cNvPr id="5" name="Shape 3"/>
          <p:cNvSpPr/>
          <p:nvPr/>
        </p:nvSpPr>
        <p:spPr>
          <a:xfrm>
            <a:off x="1298448" y="2084832"/>
            <a:ext cx="457200" cy="457200"/>
          </a:xfrm>
          <a:prstGeom prst="roundRect">
            <a:avLst>
              <a:gd name="adj" fmla="val 16000"/>
            </a:avLst>
          </a:prstGeom>
          <a:solidFill>
            <a:srgbClr val="E8A33D"/>
          </a:solidFill>
          <a:ln/>
        </p:spPr>
      </p:sp>
      <p:sp>
        <p:nvSpPr>
          <p:cNvPr id="6" name="Text 4"/>
          <p:cNvSpPr txBox="1"/>
          <p:nvPr/>
        </p:nvSpPr>
        <p:spPr>
          <a:xfrm>
            <a:off x="1298448" y="2084832"/>
            <a:ext cx="457200" cy="457200"/>
          </a:xfrm>
          <a:prstGeom prst="rect">
            <a:avLst/>
          </a:prstGeom>
          <a:noFill/>
          <a:ln/>
        </p:spPr>
        <p:txBody>
          <a:bodyPr wrap="square" lIns="0" tIns="0" rIns="0" bIns="0" rtlCol="0" anchor="ctr"/>
          <a:lstStyle/>
          <a:p>
            <a:pPr algn="ctr" indent="0" marL="0">
              <a:buNone/>
            </a:pPr>
            <a:r>
              <a:rPr lang="en-US" sz="1500" b="1" dirty="0">
                <a:solidFill>
                  <a:srgbClr val="1A1206"/>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786384" y="2670048"/>
            <a:ext cx="1481328" cy="658368"/>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Registered device?</a:t>
            </a:r>
            <a:endParaRPr lang="en-US" sz="1250" dirty="0"/>
          </a:p>
        </p:txBody>
      </p:sp>
      <p:sp>
        <p:nvSpPr>
          <p:cNvPr id="8" name="Text 6"/>
          <p:cNvSpPr txBox="1"/>
          <p:nvPr/>
        </p:nvSpPr>
        <p:spPr>
          <a:xfrm>
            <a:off x="731520" y="3364992"/>
            <a:ext cx="1591056" cy="512064"/>
          </a:xfrm>
          <a:prstGeom prst="rect">
            <a:avLst/>
          </a:prstGeom>
          <a:noFill/>
          <a:ln/>
        </p:spPr>
        <p:txBody>
          <a:bodyPr wrap="square" lIns="0" tIns="0" rIns="0" bIns="0" rtlCol="0" anchor="ctr"/>
          <a:lstStyle/>
          <a:p>
            <a:pPr algn="ctr" indent="0" marL="0">
              <a:lnSpc>
                <a:spcPts val="1100"/>
              </a:lnSpc>
              <a:buNone/>
            </a:pPr>
            <a:r>
              <a:rPr lang="en-US" sz="800" dirty="0">
                <a:solidFill>
                  <a:srgbClr val="C0453B"/>
                </a:solidFill>
                <a:latin typeface="Courier New" pitchFamily="34" charset="0"/>
                <a:ea typeface="Courier New" pitchFamily="34" charset="-122"/>
                <a:cs typeface="Courier New" pitchFamily="34" charset="-120"/>
              </a:rPr>
              <a:t>DEVICE_UNKNOWN</a:t>
            </a:r>
            <a:endParaRPr lang="en-US" sz="800" dirty="0"/>
          </a:p>
        </p:txBody>
      </p:sp>
      <p:sp>
        <p:nvSpPr>
          <p:cNvPr id="9" name="Shape 7"/>
          <p:cNvSpPr/>
          <p:nvPr/>
        </p:nvSpPr>
        <p:spPr>
          <a:xfrm>
            <a:off x="2514600" y="1874520"/>
            <a:ext cx="1773936" cy="2121408"/>
          </a:xfrm>
          <a:prstGeom prst="roundRect">
            <a:avLst>
              <a:gd name="adj" fmla="val 2577"/>
            </a:avLst>
          </a:prstGeom>
          <a:solidFill>
            <a:srgbClr val="17273D"/>
          </a:solidFill>
          <a:ln/>
        </p:spPr>
      </p:sp>
      <p:sp>
        <p:nvSpPr>
          <p:cNvPr id="10" name="Shape 8"/>
          <p:cNvSpPr/>
          <p:nvPr/>
        </p:nvSpPr>
        <p:spPr>
          <a:xfrm>
            <a:off x="3172968" y="2084832"/>
            <a:ext cx="457200" cy="457200"/>
          </a:xfrm>
          <a:prstGeom prst="roundRect">
            <a:avLst>
              <a:gd name="adj" fmla="val 16000"/>
            </a:avLst>
          </a:prstGeom>
          <a:solidFill>
            <a:srgbClr val="E8A33D"/>
          </a:solidFill>
          <a:ln/>
        </p:spPr>
      </p:sp>
      <p:sp>
        <p:nvSpPr>
          <p:cNvPr id="11" name="Text 9"/>
          <p:cNvSpPr txBox="1"/>
          <p:nvPr/>
        </p:nvSpPr>
        <p:spPr>
          <a:xfrm>
            <a:off x="3172968" y="2084832"/>
            <a:ext cx="457200" cy="457200"/>
          </a:xfrm>
          <a:prstGeom prst="rect">
            <a:avLst/>
          </a:prstGeom>
          <a:noFill/>
          <a:ln/>
        </p:spPr>
        <p:txBody>
          <a:bodyPr wrap="square" lIns="0" tIns="0" rIns="0" bIns="0" rtlCol="0" anchor="ctr"/>
          <a:lstStyle/>
          <a:p>
            <a:pPr algn="ctr" indent="0" marL="0">
              <a:buNone/>
            </a:pPr>
            <a:r>
              <a:rPr lang="en-US" sz="1500" b="1" dirty="0">
                <a:solidFill>
                  <a:srgbClr val="1A1206"/>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2660904" y="2670048"/>
            <a:ext cx="1481328" cy="658368"/>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Valid API key?</a:t>
            </a:r>
            <a:endParaRPr lang="en-US" sz="1250" dirty="0"/>
          </a:p>
        </p:txBody>
      </p:sp>
      <p:sp>
        <p:nvSpPr>
          <p:cNvPr id="13" name="Text 11"/>
          <p:cNvSpPr txBox="1"/>
          <p:nvPr/>
        </p:nvSpPr>
        <p:spPr>
          <a:xfrm>
            <a:off x="2606040" y="3364992"/>
            <a:ext cx="1591056" cy="512064"/>
          </a:xfrm>
          <a:prstGeom prst="rect">
            <a:avLst/>
          </a:prstGeom>
          <a:noFill/>
          <a:ln/>
        </p:spPr>
        <p:txBody>
          <a:bodyPr wrap="square" lIns="0" tIns="0" rIns="0" bIns="0" rtlCol="0" anchor="ctr"/>
          <a:lstStyle/>
          <a:p>
            <a:pPr algn="ctr" indent="0" marL="0">
              <a:lnSpc>
                <a:spcPts val="1100"/>
              </a:lnSpc>
              <a:buNone/>
            </a:pPr>
            <a:r>
              <a:rPr lang="en-US" sz="800" dirty="0">
                <a:solidFill>
                  <a:srgbClr val="C0453B"/>
                </a:solidFill>
                <a:latin typeface="Courier New" pitchFamily="34" charset="0"/>
                <a:ea typeface="Courier New" pitchFamily="34" charset="-122"/>
                <a:cs typeface="Courier New" pitchFamily="34" charset="-120"/>
              </a:rPr>
              <a:t>API_KEY_INVALID</a:t>
            </a:r>
            <a:endParaRPr lang="en-US" sz="800" dirty="0"/>
          </a:p>
        </p:txBody>
      </p:sp>
      <p:sp>
        <p:nvSpPr>
          <p:cNvPr id="14" name="Shape 12"/>
          <p:cNvSpPr/>
          <p:nvPr/>
        </p:nvSpPr>
        <p:spPr>
          <a:xfrm>
            <a:off x="4389120" y="1874520"/>
            <a:ext cx="1773936" cy="2121408"/>
          </a:xfrm>
          <a:prstGeom prst="roundRect">
            <a:avLst>
              <a:gd name="adj" fmla="val 2577"/>
            </a:avLst>
          </a:prstGeom>
          <a:solidFill>
            <a:srgbClr val="17273D"/>
          </a:solidFill>
          <a:ln/>
        </p:spPr>
      </p:sp>
      <p:sp>
        <p:nvSpPr>
          <p:cNvPr id="15" name="Shape 13"/>
          <p:cNvSpPr/>
          <p:nvPr/>
        </p:nvSpPr>
        <p:spPr>
          <a:xfrm>
            <a:off x="5047488" y="2084832"/>
            <a:ext cx="457200" cy="457200"/>
          </a:xfrm>
          <a:prstGeom prst="roundRect">
            <a:avLst>
              <a:gd name="adj" fmla="val 16000"/>
            </a:avLst>
          </a:prstGeom>
          <a:solidFill>
            <a:srgbClr val="E8A33D"/>
          </a:solidFill>
          <a:ln/>
        </p:spPr>
      </p:sp>
      <p:sp>
        <p:nvSpPr>
          <p:cNvPr id="16" name="Text 14"/>
          <p:cNvSpPr txBox="1"/>
          <p:nvPr/>
        </p:nvSpPr>
        <p:spPr>
          <a:xfrm>
            <a:off x="5047488" y="2084832"/>
            <a:ext cx="457200" cy="457200"/>
          </a:xfrm>
          <a:prstGeom prst="rect">
            <a:avLst/>
          </a:prstGeom>
          <a:noFill/>
          <a:ln/>
        </p:spPr>
        <p:txBody>
          <a:bodyPr wrap="square" lIns="0" tIns="0" rIns="0" bIns="0" rtlCol="0" anchor="ctr"/>
          <a:lstStyle/>
          <a:p>
            <a:pPr algn="ctr" indent="0" marL="0">
              <a:buNone/>
            </a:pPr>
            <a:r>
              <a:rPr lang="en-US" sz="1500" b="1" dirty="0">
                <a:solidFill>
                  <a:srgbClr val="1A1206"/>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4535424" y="2670048"/>
            <a:ext cx="1481328" cy="658368"/>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Valid signature?</a:t>
            </a:r>
            <a:endParaRPr lang="en-US" sz="1250" dirty="0"/>
          </a:p>
        </p:txBody>
      </p:sp>
      <p:sp>
        <p:nvSpPr>
          <p:cNvPr id="18" name="Text 16"/>
          <p:cNvSpPr txBox="1"/>
          <p:nvPr/>
        </p:nvSpPr>
        <p:spPr>
          <a:xfrm>
            <a:off x="4480560" y="3364992"/>
            <a:ext cx="1591056" cy="512064"/>
          </a:xfrm>
          <a:prstGeom prst="rect">
            <a:avLst/>
          </a:prstGeom>
          <a:noFill/>
          <a:ln/>
        </p:spPr>
        <p:txBody>
          <a:bodyPr wrap="square" lIns="0" tIns="0" rIns="0" bIns="0" rtlCol="0" anchor="ctr"/>
          <a:lstStyle/>
          <a:p>
            <a:pPr algn="ctr" indent="0" marL="0">
              <a:lnSpc>
                <a:spcPts val="1100"/>
              </a:lnSpc>
              <a:buNone/>
            </a:pPr>
            <a:r>
              <a:rPr lang="en-US" sz="800" dirty="0">
                <a:solidFill>
                  <a:srgbClr val="C0453B"/>
                </a:solidFill>
                <a:latin typeface="Courier New" pitchFamily="34" charset="0"/>
                <a:ea typeface="Courier New" pitchFamily="34" charset="-122"/>
                <a:cs typeface="Courier New" pitchFamily="34" charset="-120"/>
              </a:rPr>
              <a:t>SIGNATURE_INVALID</a:t>
            </a:r>
            <a:endParaRPr lang="en-US" sz="800" dirty="0"/>
          </a:p>
        </p:txBody>
      </p:sp>
      <p:sp>
        <p:nvSpPr>
          <p:cNvPr id="19" name="Shape 17"/>
          <p:cNvSpPr/>
          <p:nvPr/>
        </p:nvSpPr>
        <p:spPr>
          <a:xfrm>
            <a:off x="6263640" y="1874520"/>
            <a:ext cx="1773936" cy="2121408"/>
          </a:xfrm>
          <a:prstGeom prst="roundRect">
            <a:avLst>
              <a:gd name="adj" fmla="val 2577"/>
            </a:avLst>
          </a:prstGeom>
          <a:solidFill>
            <a:srgbClr val="17273D"/>
          </a:solidFill>
          <a:ln/>
        </p:spPr>
      </p:sp>
      <p:sp>
        <p:nvSpPr>
          <p:cNvPr id="20" name="Shape 18"/>
          <p:cNvSpPr/>
          <p:nvPr/>
        </p:nvSpPr>
        <p:spPr>
          <a:xfrm>
            <a:off x="6922008" y="2084832"/>
            <a:ext cx="457200" cy="457200"/>
          </a:xfrm>
          <a:prstGeom prst="roundRect">
            <a:avLst>
              <a:gd name="adj" fmla="val 16000"/>
            </a:avLst>
          </a:prstGeom>
          <a:solidFill>
            <a:srgbClr val="E8A33D"/>
          </a:solidFill>
          <a:ln/>
        </p:spPr>
      </p:sp>
      <p:sp>
        <p:nvSpPr>
          <p:cNvPr id="21" name="Text 19"/>
          <p:cNvSpPr txBox="1"/>
          <p:nvPr/>
        </p:nvSpPr>
        <p:spPr>
          <a:xfrm>
            <a:off x="6922008" y="2084832"/>
            <a:ext cx="457200" cy="457200"/>
          </a:xfrm>
          <a:prstGeom prst="rect">
            <a:avLst/>
          </a:prstGeom>
          <a:noFill/>
          <a:ln/>
        </p:spPr>
        <p:txBody>
          <a:bodyPr wrap="square" lIns="0" tIns="0" rIns="0" bIns="0" rtlCol="0" anchor="ctr"/>
          <a:lstStyle/>
          <a:p>
            <a:pPr algn="ctr" indent="0" marL="0">
              <a:buNone/>
            </a:pPr>
            <a:r>
              <a:rPr lang="en-US" sz="1500" b="1" dirty="0">
                <a:solidFill>
                  <a:srgbClr val="1A1206"/>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6409944" y="2670048"/>
            <a:ext cx="1481328" cy="658368"/>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Timestamp within ±30s?</a:t>
            </a:r>
            <a:endParaRPr lang="en-US" sz="1250" dirty="0"/>
          </a:p>
        </p:txBody>
      </p:sp>
      <p:sp>
        <p:nvSpPr>
          <p:cNvPr id="23" name="Text 21"/>
          <p:cNvSpPr txBox="1"/>
          <p:nvPr/>
        </p:nvSpPr>
        <p:spPr>
          <a:xfrm>
            <a:off x="6355080" y="3364992"/>
            <a:ext cx="1591056" cy="512064"/>
          </a:xfrm>
          <a:prstGeom prst="rect">
            <a:avLst/>
          </a:prstGeom>
          <a:noFill/>
          <a:ln/>
        </p:spPr>
        <p:txBody>
          <a:bodyPr wrap="square" lIns="0" tIns="0" rIns="0" bIns="0" rtlCol="0" anchor="ctr"/>
          <a:lstStyle/>
          <a:p>
            <a:pPr algn="ctr" indent="0" marL="0">
              <a:lnSpc>
                <a:spcPts val="1100"/>
              </a:lnSpc>
              <a:buNone/>
            </a:pPr>
            <a:r>
              <a:rPr lang="en-US" sz="800" dirty="0">
                <a:solidFill>
                  <a:srgbClr val="C0453B"/>
                </a:solidFill>
                <a:latin typeface="Courier New" pitchFamily="34" charset="0"/>
                <a:ea typeface="Courier New" pitchFamily="34" charset="-122"/>
                <a:cs typeface="Courier New" pitchFamily="34" charset="-120"/>
              </a:rPr>
              <a:t>TIMESTAMP_EXPIRED</a:t>
            </a:r>
            <a:endParaRPr lang="en-US" sz="800" dirty="0"/>
          </a:p>
        </p:txBody>
      </p:sp>
      <p:sp>
        <p:nvSpPr>
          <p:cNvPr id="24" name="Shape 22"/>
          <p:cNvSpPr/>
          <p:nvPr/>
        </p:nvSpPr>
        <p:spPr>
          <a:xfrm>
            <a:off x="8138160" y="1874520"/>
            <a:ext cx="1773936" cy="2121408"/>
          </a:xfrm>
          <a:prstGeom prst="roundRect">
            <a:avLst>
              <a:gd name="adj" fmla="val 2577"/>
            </a:avLst>
          </a:prstGeom>
          <a:solidFill>
            <a:srgbClr val="17273D"/>
          </a:solidFill>
          <a:ln/>
        </p:spPr>
      </p:sp>
      <p:sp>
        <p:nvSpPr>
          <p:cNvPr id="25" name="Shape 23"/>
          <p:cNvSpPr/>
          <p:nvPr/>
        </p:nvSpPr>
        <p:spPr>
          <a:xfrm>
            <a:off x="8796528" y="2084832"/>
            <a:ext cx="457200" cy="457200"/>
          </a:xfrm>
          <a:prstGeom prst="roundRect">
            <a:avLst>
              <a:gd name="adj" fmla="val 16000"/>
            </a:avLst>
          </a:prstGeom>
          <a:solidFill>
            <a:srgbClr val="E8A33D"/>
          </a:solidFill>
          <a:ln/>
        </p:spPr>
      </p:sp>
      <p:sp>
        <p:nvSpPr>
          <p:cNvPr id="26" name="Text 24"/>
          <p:cNvSpPr txBox="1"/>
          <p:nvPr/>
        </p:nvSpPr>
        <p:spPr>
          <a:xfrm>
            <a:off x="8796528" y="2084832"/>
            <a:ext cx="457200" cy="457200"/>
          </a:xfrm>
          <a:prstGeom prst="rect">
            <a:avLst/>
          </a:prstGeom>
          <a:noFill/>
          <a:ln/>
        </p:spPr>
        <p:txBody>
          <a:bodyPr wrap="square" lIns="0" tIns="0" rIns="0" bIns="0" rtlCol="0" anchor="ctr"/>
          <a:lstStyle/>
          <a:p>
            <a:pPr algn="ctr" indent="0" marL="0">
              <a:buNone/>
            </a:pPr>
            <a:r>
              <a:rPr lang="en-US" sz="1500" b="1" dirty="0">
                <a:solidFill>
                  <a:srgbClr val="1A1206"/>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8284464" y="2670048"/>
            <a:ext cx="1481328" cy="658368"/>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Nonce never used?</a:t>
            </a:r>
            <a:endParaRPr lang="en-US" sz="1250" dirty="0"/>
          </a:p>
        </p:txBody>
      </p:sp>
      <p:sp>
        <p:nvSpPr>
          <p:cNvPr id="28" name="Text 26"/>
          <p:cNvSpPr txBox="1"/>
          <p:nvPr/>
        </p:nvSpPr>
        <p:spPr>
          <a:xfrm>
            <a:off x="8229600" y="3364992"/>
            <a:ext cx="1591056" cy="512064"/>
          </a:xfrm>
          <a:prstGeom prst="rect">
            <a:avLst/>
          </a:prstGeom>
          <a:noFill/>
          <a:ln/>
        </p:spPr>
        <p:txBody>
          <a:bodyPr wrap="square" lIns="0" tIns="0" rIns="0" bIns="0" rtlCol="0" anchor="ctr"/>
          <a:lstStyle/>
          <a:p>
            <a:pPr algn="ctr" indent="0" marL="0">
              <a:lnSpc>
                <a:spcPts val="1100"/>
              </a:lnSpc>
              <a:buNone/>
            </a:pPr>
            <a:r>
              <a:rPr lang="en-US" sz="800" dirty="0">
                <a:solidFill>
                  <a:srgbClr val="C0453B"/>
                </a:solidFill>
                <a:latin typeface="Courier New" pitchFamily="34" charset="0"/>
                <a:ea typeface="Courier New" pitchFamily="34" charset="-122"/>
                <a:cs typeface="Courier New" pitchFamily="34" charset="-120"/>
              </a:rPr>
              <a:t>REPLAY_DETECTED</a:t>
            </a:r>
            <a:endParaRPr lang="en-US" sz="800" dirty="0"/>
          </a:p>
        </p:txBody>
      </p:sp>
      <p:sp>
        <p:nvSpPr>
          <p:cNvPr id="29" name="Shape 27"/>
          <p:cNvSpPr/>
          <p:nvPr/>
        </p:nvSpPr>
        <p:spPr>
          <a:xfrm>
            <a:off x="10012680" y="1874520"/>
            <a:ext cx="1773936" cy="2121408"/>
          </a:xfrm>
          <a:prstGeom prst="roundRect">
            <a:avLst>
              <a:gd name="adj" fmla="val 2577"/>
            </a:avLst>
          </a:prstGeom>
          <a:solidFill>
            <a:srgbClr val="17273D"/>
          </a:solidFill>
          <a:ln/>
        </p:spPr>
      </p:sp>
      <p:sp>
        <p:nvSpPr>
          <p:cNvPr id="30" name="Shape 28"/>
          <p:cNvSpPr/>
          <p:nvPr/>
        </p:nvSpPr>
        <p:spPr>
          <a:xfrm>
            <a:off x="10671048" y="2084832"/>
            <a:ext cx="457200" cy="457200"/>
          </a:xfrm>
          <a:prstGeom prst="roundRect">
            <a:avLst>
              <a:gd name="adj" fmla="val 16000"/>
            </a:avLst>
          </a:prstGeom>
          <a:solidFill>
            <a:srgbClr val="E8A33D"/>
          </a:solidFill>
          <a:ln/>
        </p:spPr>
      </p:sp>
      <p:sp>
        <p:nvSpPr>
          <p:cNvPr id="31" name="Text 29"/>
          <p:cNvSpPr txBox="1"/>
          <p:nvPr/>
        </p:nvSpPr>
        <p:spPr>
          <a:xfrm>
            <a:off x="10671048" y="2084832"/>
            <a:ext cx="457200" cy="457200"/>
          </a:xfrm>
          <a:prstGeom prst="rect">
            <a:avLst/>
          </a:prstGeom>
          <a:noFill/>
          <a:ln/>
        </p:spPr>
        <p:txBody>
          <a:bodyPr wrap="square" lIns="0" tIns="0" rIns="0" bIns="0" rtlCol="0" anchor="ctr"/>
          <a:lstStyle/>
          <a:p>
            <a:pPr algn="ctr" indent="0" marL="0">
              <a:buNone/>
            </a:pPr>
            <a:r>
              <a:rPr lang="en-US" sz="1500" b="1" dirty="0">
                <a:solidFill>
                  <a:srgbClr val="1A1206"/>
                </a:solidFill>
                <a:latin typeface="Calibri" pitchFamily="34" charset="0"/>
                <a:ea typeface="Calibri" pitchFamily="34" charset="-122"/>
                <a:cs typeface="Calibri" pitchFamily="34" charset="-120"/>
              </a:rPr>
              <a:t>6</a:t>
            </a:r>
            <a:endParaRPr lang="en-US" sz="1500" dirty="0"/>
          </a:p>
        </p:txBody>
      </p:sp>
      <p:sp>
        <p:nvSpPr>
          <p:cNvPr id="32" name="Text 30"/>
          <p:cNvSpPr txBox="1"/>
          <p:nvPr/>
        </p:nvSpPr>
        <p:spPr>
          <a:xfrm>
            <a:off x="10158984" y="2670048"/>
            <a:ext cx="1481328" cy="658368"/>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Bound to this room?</a:t>
            </a:r>
            <a:endParaRPr lang="en-US" sz="1250" dirty="0"/>
          </a:p>
        </p:txBody>
      </p:sp>
      <p:sp>
        <p:nvSpPr>
          <p:cNvPr id="33" name="Text 31"/>
          <p:cNvSpPr txBox="1"/>
          <p:nvPr/>
        </p:nvSpPr>
        <p:spPr>
          <a:xfrm>
            <a:off x="10104120" y="3364992"/>
            <a:ext cx="1591056" cy="512064"/>
          </a:xfrm>
          <a:prstGeom prst="rect">
            <a:avLst/>
          </a:prstGeom>
          <a:noFill/>
          <a:ln/>
        </p:spPr>
        <p:txBody>
          <a:bodyPr wrap="square" lIns="0" tIns="0" rIns="0" bIns="0" rtlCol="0" anchor="ctr"/>
          <a:lstStyle/>
          <a:p>
            <a:pPr algn="ctr" indent="0" marL="0">
              <a:lnSpc>
                <a:spcPts val="1100"/>
              </a:lnSpc>
              <a:buNone/>
            </a:pPr>
            <a:r>
              <a:rPr lang="en-US" sz="800" dirty="0">
                <a:solidFill>
                  <a:srgbClr val="C0453B"/>
                </a:solidFill>
                <a:latin typeface="Courier New" pitchFamily="34" charset="0"/>
                <a:ea typeface="Courier New" pitchFamily="34" charset="-122"/>
                <a:cs typeface="Courier New" pitchFamily="34" charset="-120"/>
              </a:rPr>
              <a:t>DEVICE_CLASSROOM_MISMATCH</a:t>
            </a:r>
            <a:endParaRPr lang="en-US" sz="800" dirty="0"/>
          </a:p>
        </p:txBody>
      </p:sp>
      <p:sp>
        <p:nvSpPr>
          <p:cNvPr id="34" name="Text 32"/>
          <p:cNvSpPr txBox="1"/>
          <p:nvPr/>
        </p:nvSpPr>
        <p:spPr>
          <a:xfrm>
            <a:off x="640080" y="4315968"/>
            <a:ext cx="10911535" cy="566928"/>
          </a:xfrm>
          <a:prstGeom prst="rect">
            <a:avLst/>
          </a:prstGeom>
          <a:noFill/>
          <a:ln/>
        </p:spPr>
        <p:txBody>
          <a:bodyPr wrap="square" lIns="0" tIns="0" rIns="0" bIns="0" rtlCol="0" anchor="ctr"/>
          <a:lstStyle/>
          <a:p>
            <a:pPr indent="0" marL="0">
              <a:lnSpc>
                <a:spcPts val="1900"/>
              </a:lnSpc>
              <a:buNone/>
            </a:pPr>
            <a:r>
              <a:rPr lang="en-US" sz="1350" dirty="0">
                <a:solidFill>
                  <a:srgbClr val="E9EEF5"/>
                </a:solidFill>
                <a:latin typeface="Calibri" pitchFamily="34" charset="0"/>
                <a:ea typeface="Calibri" pitchFamily="34" charset="-122"/>
                <a:cs typeface="Calibri" pitchFamily="34" charset="-120"/>
              </a:rPr>
              <a:t>The code returned to the caller is deliberately coarse, so a rejected request never reveals which check failed. The precise reason goes only to the administrator’s log.</a:t>
            </a:r>
            <a:endParaRPr lang="en-US" sz="1350" dirty="0"/>
          </a:p>
        </p:txBody>
      </p:sp>
      <p:sp>
        <p:nvSpPr>
          <p:cNvPr id="35" name="Text 33"/>
          <p:cNvSpPr txBox="1"/>
          <p:nvPr/>
        </p:nvSpPr>
        <p:spPr>
          <a:xfrm>
            <a:off x="640080" y="4956048"/>
            <a:ext cx="10911535" cy="365760"/>
          </a:xfrm>
          <a:prstGeom prst="rect">
            <a:avLst/>
          </a:prstGeom>
          <a:noFill/>
          <a:ln/>
        </p:spPr>
        <p:txBody>
          <a:bodyPr wrap="square" lIns="0" tIns="0" rIns="0" bIns="0" rtlCol="0" anchor="ctr"/>
          <a:lstStyle/>
          <a:p>
            <a:pPr indent="0" marL="0">
              <a:buNone/>
            </a:pPr>
            <a:r>
              <a:rPr lang="en-US" sz="1400" i="1" dirty="0">
                <a:solidFill>
                  <a:srgbClr val="E8A33D"/>
                </a:solidFill>
                <a:latin typeface="Calibri" pitchFamily="34" charset="0"/>
                <a:ea typeface="Calibri" pitchFamily="34" charset="-122"/>
                <a:cs typeface="Calibri" pitchFamily="34" charset="-120"/>
              </a:rPr>
              <a:t>Steps 3, 4 and 5 are what defeat a replayed or forged request — this is the core of our contribution.</a:t>
            </a:r>
            <a:endParaRPr lang="en-US" sz="1400" dirty="0"/>
          </a:p>
        </p:txBody>
      </p:sp>
      <p:sp>
        <p:nvSpPr>
          <p:cNvPr id="37" name="Text 34"/>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38" name="Text 35"/>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Why a key alone is not authentication</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A key proves you have seen a value; a signature proves you hold a secret</a:t>
            </a:r>
            <a:endParaRPr lang="en-US" sz="1400" dirty="0"/>
          </a:p>
        </p:txBody>
      </p:sp>
      <p:sp>
        <p:nvSpPr>
          <p:cNvPr id="4" name="Shape 2"/>
          <p:cNvSpPr/>
          <p:nvPr/>
        </p:nvSpPr>
        <p:spPr>
          <a:xfrm>
            <a:off x="640080" y="1874520"/>
            <a:ext cx="5257800" cy="2788920"/>
          </a:xfrm>
          <a:prstGeom prst="roundRect">
            <a:avLst>
              <a:gd name="adj" fmla="val 1639"/>
            </a:avLst>
          </a:prstGeom>
          <a:solidFill>
            <a:srgbClr val="FFFFFF"/>
          </a:solidFill>
          <a:ln/>
          <a:effectLst>
            <a:outerShdw sx="100000" sy="100000" kx="0" ky="0" algn="bl" rotWithShape="0" blurRad="127000" dist="19050" dir="5400000">
              <a:srgbClr val="9AA9BC">
                <a:alpha val="18000"/>
              </a:srgbClr>
            </a:outerShdw>
          </a:effectLst>
        </p:spPr>
      </p:sp>
      <p:sp>
        <p:nvSpPr>
          <p:cNvPr id="5" name="Shape 3"/>
          <p:cNvSpPr/>
          <p:nvPr/>
        </p:nvSpPr>
        <p:spPr>
          <a:xfrm>
            <a:off x="914400" y="2121408"/>
            <a:ext cx="182880" cy="182880"/>
          </a:xfrm>
          <a:prstGeom prst="roundRect">
            <a:avLst>
              <a:gd name="adj" fmla="val 25000"/>
            </a:avLst>
          </a:prstGeom>
          <a:solidFill>
            <a:srgbClr val="C0453B"/>
          </a:solidFill>
          <a:ln/>
        </p:spPr>
      </p:sp>
      <p:sp>
        <p:nvSpPr>
          <p:cNvPr id="6" name="Text 4"/>
          <p:cNvSpPr txBox="1"/>
          <p:nvPr/>
        </p:nvSpPr>
        <p:spPr>
          <a:xfrm>
            <a:off x="1207008" y="2029968"/>
            <a:ext cx="4572000" cy="365760"/>
          </a:xfrm>
          <a:prstGeom prst="rect">
            <a:avLst/>
          </a:prstGeom>
          <a:noFill/>
          <a:ln/>
        </p:spPr>
        <p:txBody>
          <a:bodyPr wrap="square" lIns="0" tIns="0" rIns="0" bIns="0" rtlCol="0" anchor="ctr"/>
          <a:lstStyle/>
          <a:p>
            <a:pPr indent="0" marL="0">
              <a:buNone/>
            </a:pPr>
            <a:r>
              <a:rPr lang="en-US" sz="1500" b="1" dirty="0">
                <a:solidFill>
                  <a:srgbClr val="C0453B"/>
                </a:solidFill>
                <a:latin typeface="Calibri" pitchFamily="34" charset="0"/>
                <a:ea typeface="Calibri" pitchFamily="34" charset="-122"/>
                <a:cs typeface="Calibri" pitchFamily="34" charset="-120"/>
              </a:rPr>
              <a:t>API key only</a:t>
            </a:r>
            <a:endParaRPr lang="en-US" sz="1500" dirty="0"/>
          </a:p>
        </p:txBody>
      </p:sp>
      <p:sp>
        <p:nvSpPr>
          <p:cNvPr id="7" name="Text 5"/>
          <p:cNvSpPr txBox="1"/>
          <p:nvPr/>
        </p:nvSpPr>
        <p:spPr>
          <a:xfrm>
            <a:off x="1024128" y="2542032"/>
            <a:ext cx="4617720" cy="1920240"/>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250" dirty="0">
                <a:solidFill>
                  <a:srgbClr val="16202E"/>
                </a:solidFill>
                <a:latin typeface="Calibri" pitchFamily="34" charset="0"/>
                <a:ea typeface="Calibri" pitchFamily="34" charset="-122"/>
                <a:cs typeface="Calibri" pitchFamily="34" charset="-120"/>
              </a:rPr>
              <a:t>The key travels with every request</a:t>
            </a:r>
            <a:endParaRPr lang="en-US" sz="1250" dirty="0"/>
          </a:p>
          <a:p>
            <a:pPr marL="342900" indent="-342900">
              <a:lnSpc>
                <a:spcPts val="1700"/>
              </a:lnSpc>
              <a:spcAft>
                <a:spcPts val="900"/>
              </a:spcAft>
              <a:buSzPct val="100000"/>
              <a:buChar char="•"/>
            </a:pPr>
            <a:r>
              <a:rPr lang="en-US" sz="1250" dirty="0">
                <a:solidFill>
                  <a:srgbClr val="16202E"/>
                </a:solidFill>
                <a:latin typeface="Calibri" pitchFamily="34" charset="0"/>
                <a:ea typeface="Calibri" pitchFamily="34" charset="-122"/>
                <a:cs typeface="Calibri" pitchFamily="34" charset="-120"/>
              </a:rPr>
              <a:t>Anyone who observes one can reuse it</a:t>
            </a:r>
            <a:endParaRPr lang="en-US" sz="1250" dirty="0"/>
          </a:p>
          <a:p>
            <a:pPr marL="342900" indent="-342900">
              <a:lnSpc>
                <a:spcPts val="1700"/>
              </a:lnSpc>
              <a:spcAft>
                <a:spcPts val="900"/>
              </a:spcAft>
              <a:buSzPct val="100000"/>
              <a:buChar char="•"/>
            </a:pPr>
            <a:r>
              <a:rPr lang="en-US" sz="1250" dirty="0">
                <a:solidFill>
                  <a:srgbClr val="16202E"/>
                </a:solidFill>
                <a:latin typeface="Calibri" pitchFamily="34" charset="0"/>
                <a:ea typeface="Calibri" pitchFamily="34" charset="-122"/>
                <a:cs typeface="Calibri" pitchFamily="34" charset="-120"/>
              </a:rPr>
              <a:t>A captured request replays forever</a:t>
            </a:r>
            <a:endParaRPr lang="en-US" sz="1250" dirty="0"/>
          </a:p>
          <a:p>
            <a:pPr marL="342900" indent="-342900">
              <a:lnSpc>
                <a:spcPts val="1700"/>
              </a:lnSpc>
              <a:spcAft>
                <a:spcPts val="900"/>
              </a:spcAft>
              <a:buSzPct val="100000"/>
              <a:buChar char="•"/>
            </a:pPr>
            <a:r>
              <a:rPr lang="en-US" sz="1250" dirty="0">
                <a:solidFill>
                  <a:srgbClr val="16202E"/>
                </a:solidFill>
                <a:latin typeface="Calibri" pitchFamily="34" charset="0"/>
                <a:ea typeface="Calibri" pitchFamily="34" charset="-122"/>
                <a:cs typeface="Calibri" pitchFamily="34" charset="-120"/>
              </a:rPr>
              <a:t>Nothing detects a modified request body</a:t>
            </a:r>
            <a:endParaRPr lang="en-US" sz="1250" dirty="0"/>
          </a:p>
        </p:txBody>
      </p:sp>
      <p:sp>
        <p:nvSpPr>
          <p:cNvPr id="8" name="Shape 6"/>
          <p:cNvSpPr/>
          <p:nvPr/>
        </p:nvSpPr>
        <p:spPr>
          <a:xfrm>
            <a:off x="6263640" y="1874520"/>
            <a:ext cx="5257800" cy="2788920"/>
          </a:xfrm>
          <a:prstGeom prst="roundRect">
            <a:avLst>
              <a:gd name="adj" fmla="val 1639"/>
            </a:avLst>
          </a:prstGeom>
          <a:solidFill>
            <a:srgbClr val="FFFFFF"/>
          </a:solidFill>
          <a:ln/>
          <a:effectLst>
            <a:outerShdw sx="100000" sy="100000" kx="0" ky="0" algn="bl" rotWithShape="0" blurRad="127000" dist="19050" dir="5400000">
              <a:srgbClr val="9AA9BC">
                <a:alpha val="18000"/>
              </a:srgbClr>
            </a:outerShdw>
          </a:effectLst>
        </p:spPr>
      </p:sp>
      <p:sp>
        <p:nvSpPr>
          <p:cNvPr id="9" name="Shape 7"/>
          <p:cNvSpPr/>
          <p:nvPr/>
        </p:nvSpPr>
        <p:spPr>
          <a:xfrm>
            <a:off x="6537960" y="2121408"/>
            <a:ext cx="182880" cy="182880"/>
          </a:xfrm>
          <a:prstGeom prst="roundRect">
            <a:avLst>
              <a:gd name="adj" fmla="val 25000"/>
            </a:avLst>
          </a:prstGeom>
          <a:solidFill>
            <a:srgbClr val="2E9E6B"/>
          </a:solidFill>
          <a:ln/>
        </p:spPr>
      </p:sp>
      <p:sp>
        <p:nvSpPr>
          <p:cNvPr id="10" name="Text 8"/>
          <p:cNvSpPr txBox="1"/>
          <p:nvPr/>
        </p:nvSpPr>
        <p:spPr>
          <a:xfrm>
            <a:off x="6830568" y="2029968"/>
            <a:ext cx="4572000" cy="365760"/>
          </a:xfrm>
          <a:prstGeom prst="rect">
            <a:avLst/>
          </a:prstGeom>
          <a:noFill/>
          <a:ln/>
        </p:spPr>
        <p:txBody>
          <a:bodyPr wrap="square" lIns="0" tIns="0" rIns="0" bIns="0" rtlCol="0" anchor="ctr"/>
          <a:lstStyle/>
          <a:p>
            <a:pPr indent="0" marL="0">
              <a:buNone/>
            </a:pPr>
            <a:r>
              <a:rPr lang="en-US" sz="1500" b="1" dirty="0">
                <a:solidFill>
                  <a:srgbClr val="2E9E6B"/>
                </a:solidFill>
                <a:latin typeface="Calibri" pitchFamily="34" charset="0"/>
                <a:ea typeface="Calibri" pitchFamily="34" charset="-122"/>
                <a:cs typeface="Calibri" pitchFamily="34" charset="-120"/>
              </a:rPr>
              <a:t>Key + signed request  (implemented)</a:t>
            </a:r>
            <a:endParaRPr lang="en-US" sz="1500" dirty="0"/>
          </a:p>
        </p:txBody>
      </p:sp>
      <p:sp>
        <p:nvSpPr>
          <p:cNvPr id="11" name="Text 9"/>
          <p:cNvSpPr txBox="1"/>
          <p:nvPr/>
        </p:nvSpPr>
        <p:spPr>
          <a:xfrm>
            <a:off x="6647688" y="2542032"/>
            <a:ext cx="4617720" cy="1920240"/>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250" dirty="0">
                <a:solidFill>
                  <a:srgbClr val="16202E"/>
                </a:solidFill>
                <a:latin typeface="Calibri" pitchFamily="34" charset="0"/>
                <a:ea typeface="Calibri" pitchFamily="34" charset="-122"/>
                <a:cs typeface="Calibri" pitchFamily="34" charset="-120"/>
              </a:rPr>
              <a:t>The secret never travels — only a signature over the request</a:t>
            </a:r>
            <a:endParaRPr lang="en-US" sz="1250" dirty="0"/>
          </a:p>
          <a:p>
            <a:pPr marL="342900" indent="-342900">
              <a:lnSpc>
                <a:spcPts val="1700"/>
              </a:lnSpc>
              <a:spcAft>
                <a:spcPts val="900"/>
              </a:spcAft>
              <a:buSzPct val="100000"/>
              <a:buChar char="•"/>
            </a:pPr>
            <a:r>
              <a:rPr lang="en-US" sz="1250" dirty="0">
                <a:solidFill>
                  <a:srgbClr val="16202E"/>
                </a:solidFill>
                <a:latin typeface="Calibri" pitchFamily="34" charset="0"/>
                <a:ea typeface="Calibri" pitchFamily="34" charset="-122"/>
                <a:cs typeface="Calibri" pitchFamily="34" charset="-120"/>
              </a:rPr>
              <a:t>A captured request is valid for 30 seconds at most</a:t>
            </a:r>
            <a:endParaRPr lang="en-US" sz="1250" dirty="0"/>
          </a:p>
          <a:p>
            <a:pPr marL="342900" indent="-342900">
              <a:lnSpc>
                <a:spcPts val="1700"/>
              </a:lnSpc>
              <a:spcAft>
                <a:spcPts val="900"/>
              </a:spcAft>
              <a:buSzPct val="100000"/>
              <a:buChar char="•"/>
            </a:pPr>
            <a:r>
              <a:rPr lang="en-US" sz="1250" dirty="0">
                <a:solidFill>
                  <a:srgbClr val="16202E"/>
                </a:solidFill>
                <a:latin typeface="Calibri" pitchFamily="34" charset="0"/>
                <a:ea typeface="Calibri" pitchFamily="34" charset="-122"/>
                <a:cs typeface="Calibri" pitchFamily="34" charset="-120"/>
              </a:rPr>
              <a:t>Each nonce is accepted exactly once, so replay fails</a:t>
            </a:r>
            <a:endParaRPr lang="en-US" sz="1250" dirty="0"/>
          </a:p>
          <a:p>
            <a:pPr marL="342900" indent="-342900">
              <a:lnSpc>
                <a:spcPts val="1700"/>
              </a:lnSpc>
              <a:spcAft>
                <a:spcPts val="900"/>
              </a:spcAft>
              <a:buSzPct val="100000"/>
              <a:buChar char="•"/>
            </a:pPr>
            <a:r>
              <a:rPr lang="en-US" sz="1250" dirty="0">
                <a:solidFill>
                  <a:srgbClr val="16202E"/>
                </a:solidFill>
                <a:latin typeface="Calibri" pitchFamily="34" charset="0"/>
                <a:ea typeface="Calibri" pitchFamily="34" charset="-122"/>
                <a:cs typeface="Calibri" pitchFamily="34" charset="-120"/>
              </a:rPr>
              <a:t>Any change to the body invalidates the signature</a:t>
            </a:r>
            <a:endParaRPr lang="en-US" sz="1250" dirty="0"/>
          </a:p>
        </p:txBody>
      </p:sp>
      <p:sp>
        <p:nvSpPr>
          <p:cNvPr id="12" name="Text 10"/>
          <p:cNvSpPr txBox="1"/>
          <p:nvPr/>
        </p:nvSpPr>
        <p:spPr>
          <a:xfrm>
            <a:off x="640080" y="4892040"/>
            <a:ext cx="10911535" cy="548640"/>
          </a:xfrm>
          <a:prstGeom prst="rect">
            <a:avLst/>
          </a:prstGeom>
          <a:noFill/>
          <a:ln/>
        </p:spPr>
        <p:txBody>
          <a:bodyPr wrap="square" lIns="0" tIns="0" rIns="0" bIns="0" rtlCol="0" anchor="ctr"/>
          <a:lstStyle/>
          <a:p>
            <a:pPr indent="0" marL="0">
              <a:lnSpc>
                <a:spcPts val="1800"/>
              </a:lnSpc>
              <a:buNone/>
            </a:pPr>
            <a:r>
              <a:rPr lang="en-US" sz="1300" i="1" dirty="0">
                <a:solidFill>
                  <a:srgbClr val="6B7A8D"/>
                </a:solidFill>
                <a:latin typeface="Calibri" pitchFamily="34" charset="0"/>
                <a:ea typeface="Calibri" pitchFamily="34" charset="-122"/>
                <a:cs typeface="Calibri" pitchFamily="34" charset="-120"/>
              </a:rPr>
              <a:t>The manuscript originally described device authentication as API keys. What we actually built is stronger, and we corrected the manuscript to match the system.</a:t>
            </a:r>
            <a:endParaRPr lang="en-US" sz="1300" dirty="0"/>
          </a:p>
        </p:txBody>
      </p:sp>
      <p:sp>
        <p:nvSpPr>
          <p:cNvPr id="14" name="Text 11"/>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5" name="Text 12"/>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Controls at every layer</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What actually runs, layer by layer</a:t>
            </a:r>
            <a:endParaRPr lang="en-US" sz="1400" dirty="0"/>
          </a:p>
        </p:txBody>
      </p:sp>
      <p:sp>
        <p:nvSpPr>
          <p:cNvPr id="4" name="Shape 2"/>
          <p:cNvSpPr/>
          <p:nvPr/>
        </p:nvSpPr>
        <p:spPr>
          <a:xfrm>
            <a:off x="640080" y="1828800"/>
            <a:ext cx="2697480" cy="2971800"/>
          </a:xfrm>
          <a:prstGeom prst="roundRect">
            <a:avLst>
              <a:gd name="adj" fmla="val 1695"/>
            </a:avLst>
          </a:prstGeom>
          <a:solidFill>
            <a:srgbClr val="FFFFFF"/>
          </a:solidFill>
          <a:ln/>
          <a:effectLst>
            <a:outerShdw sx="100000" sy="100000" kx="0" ky="0" algn="bl" rotWithShape="0" blurRad="127000" dist="19050" dir="5400000">
              <a:srgbClr val="9AA9BC">
                <a:alpha val="18000"/>
              </a:srgbClr>
            </a:outerShdw>
          </a:effectLst>
        </p:spPr>
      </p:sp>
      <p:sp>
        <p:nvSpPr>
          <p:cNvPr id="5" name="Text 3"/>
          <p:cNvSpPr txBox="1"/>
          <p:nvPr/>
        </p:nvSpPr>
        <p:spPr>
          <a:xfrm>
            <a:off x="896112" y="2029968"/>
            <a:ext cx="2185416" cy="329184"/>
          </a:xfrm>
          <a:prstGeom prst="rect">
            <a:avLst/>
          </a:prstGeom>
          <a:noFill/>
          <a:ln/>
        </p:spPr>
        <p:txBody>
          <a:bodyPr wrap="square" lIns="0" tIns="0" rIns="0" bIns="0" rtlCol="0" anchor="ctr"/>
          <a:lstStyle/>
          <a:p>
            <a:pPr indent="0" marL="0">
              <a:buNone/>
            </a:pPr>
            <a:r>
              <a:rPr lang="en-US" sz="1500" b="1" dirty="0">
                <a:solidFill>
                  <a:srgbClr val="2E6F9E"/>
                </a:solidFill>
                <a:latin typeface="Calibri" pitchFamily="34" charset="0"/>
                <a:ea typeface="Calibri" pitchFamily="34" charset="-122"/>
                <a:cs typeface="Calibri" pitchFamily="34" charset="-120"/>
              </a:rPr>
              <a:t>Network</a:t>
            </a:r>
            <a:endParaRPr lang="en-US" sz="1500" dirty="0"/>
          </a:p>
        </p:txBody>
      </p:sp>
      <p:sp>
        <p:nvSpPr>
          <p:cNvPr id="6" name="Text 4"/>
          <p:cNvSpPr txBox="1"/>
          <p:nvPr/>
        </p:nvSpPr>
        <p:spPr>
          <a:xfrm>
            <a:off x="896112" y="2450592"/>
            <a:ext cx="2240280" cy="21488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Address-range allowlist checked before authentication</a:t>
            </a:r>
            <a:endParaRPr lang="en-US" sz="1100" dirty="0"/>
          </a:p>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Separate ranges for staff browsers and terminals</a:t>
            </a:r>
            <a:endParaRPr lang="en-US" sz="1100" dirty="0"/>
          </a:p>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Refusals logged even with valid credentials</a:t>
            </a:r>
            <a:endParaRPr lang="en-US" sz="1100" dirty="0"/>
          </a:p>
        </p:txBody>
      </p:sp>
      <p:sp>
        <p:nvSpPr>
          <p:cNvPr id="7" name="Shape 5"/>
          <p:cNvSpPr/>
          <p:nvPr/>
        </p:nvSpPr>
        <p:spPr>
          <a:xfrm>
            <a:off x="3566160" y="1828800"/>
            <a:ext cx="2697480" cy="2971800"/>
          </a:xfrm>
          <a:prstGeom prst="roundRect">
            <a:avLst>
              <a:gd name="adj" fmla="val 1695"/>
            </a:avLst>
          </a:prstGeom>
          <a:solidFill>
            <a:srgbClr val="FFFFFF"/>
          </a:solidFill>
          <a:ln/>
          <a:effectLst>
            <a:outerShdw sx="100000" sy="100000" kx="0" ky="0" algn="bl" rotWithShape="0" blurRad="127000" dist="19050" dir="5400000">
              <a:srgbClr val="9AA9BC">
                <a:alpha val="18000"/>
              </a:srgbClr>
            </a:outerShdw>
          </a:effectLst>
        </p:spPr>
      </p:sp>
      <p:sp>
        <p:nvSpPr>
          <p:cNvPr id="8" name="Text 6"/>
          <p:cNvSpPr txBox="1"/>
          <p:nvPr/>
        </p:nvSpPr>
        <p:spPr>
          <a:xfrm>
            <a:off x="3822192" y="2029968"/>
            <a:ext cx="2185416" cy="329184"/>
          </a:xfrm>
          <a:prstGeom prst="rect">
            <a:avLst/>
          </a:prstGeom>
          <a:noFill/>
          <a:ln/>
        </p:spPr>
        <p:txBody>
          <a:bodyPr wrap="square" lIns="0" tIns="0" rIns="0" bIns="0" rtlCol="0" anchor="ctr"/>
          <a:lstStyle/>
          <a:p>
            <a:pPr indent="0" marL="0">
              <a:buNone/>
            </a:pPr>
            <a:r>
              <a:rPr lang="en-US" sz="1500" b="1" dirty="0">
                <a:solidFill>
                  <a:srgbClr val="2E6F9E"/>
                </a:solidFill>
                <a:latin typeface="Calibri" pitchFamily="34" charset="0"/>
                <a:ea typeface="Calibri" pitchFamily="34" charset="-122"/>
                <a:cs typeface="Calibri" pitchFamily="34" charset="-120"/>
              </a:rPr>
              <a:t>Transport</a:t>
            </a:r>
            <a:endParaRPr lang="en-US" sz="1500" dirty="0"/>
          </a:p>
        </p:txBody>
      </p:sp>
      <p:sp>
        <p:nvSpPr>
          <p:cNvPr id="9" name="Text 7"/>
          <p:cNvSpPr txBox="1"/>
          <p:nvPr/>
        </p:nvSpPr>
        <p:spPr>
          <a:xfrm>
            <a:off x="3822192" y="2450592"/>
            <a:ext cx="2240280" cy="21488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HTTPS/TLS on the LAN</a:t>
            </a:r>
            <a:endParaRPr lang="en-US" sz="1100" dirty="0"/>
          </a:p>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Internal certificate authority; root key encrypted at rest</a:t>
            </a:r>
            <a:endParaRPr lang="en-US" sz="1100" dirty="0"/>
          </a:p>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Root certificate compiled into the firmware</a:t>
            </a:r>
            <a:endParaRPr lang="en-US" sz="1100" dirty="0"/>
          </a:p>
        </p:txBody>
      </p:sp>
      <p:sp>
        <p:nvSpPr>
          <p:cNvPr id="10" name="Shape 8"/>
          <p:cNvSpPr/>
          <p:nvPr/>
        </p:nvSpPr>
        <p:spPr>
          <a:xfrm>
            <a:off x="6492240" y="1828800"/>
            <a:ext cx="2697480" cy="2971800"/>
          </a:xfrm>
          <a:prstGeom prst="roundRect">
            <a:avLst>
              <a:gd name="adj" fmla="val 1695"/>
            </a:avLst>
          </a:prstGeom>
          <a:solidFill>
            <a:srgbClr val="FFFFFF"/>
          </a:solidFill>
          <a:ln/>
          <a:effectLst>
            <a:outerShdw sx="100000" sy="100000" kx="0" ky="0" algn="bl" rotWithShape="0" blurRad="127000" dist="19050" dir="5400000">
              <a:srgbClr val="9AA9BC">
                <a:alpha val="18000"/>
              </a:srgbClr>
            </a:outerShdw>
          </a:effectLst>
        </p:spPr>
      </p:sp>
      <p:sp>
        <p:nvSpPr>
          <p:cNvPr id="11" name="Text 9"/>
          <p:cNvSpPr txBox="1"/>
          <p:nvPr/>
        </p:nvSpPr>
        <p:spPr>
          <a:xfrm>
            <a:off x="6748272" y="2029968"/>
            <a:ext cx="2185416" cy="329184"/>
          </a:xfrm>
          <a:prstGeom prst="rect">
            <a:avLst/>
          </a:prstGeom>
          <a:noFill/>
          <a:ln/>
        </p:spPr>
        <p:txBody>
          <a:bodyPr wrap="square" lIns="0" tIns="0" rIns="0" bIns="0" rtlCol="0" anchor="ctr"/>
          <a:lstStyle/>
          <a:p>
            <a:pPr indent="0" marL="0">
              <a:buNone/>
            </a:pPr>
            <a:r>
              <a:rPr lang="en-US" sz="1500" b="1" dirty="0">
                <a:solidFill>
                  <a:srgbClr val="2E6F9E"/>
                </a:solidFill>
                <a:latin typeface="Calibri" pitchFamily="34" charset="0"/>
                <a:ea typeface="Calibri" pitchFamily="34" charset="-122"/>
                <a:cs typeface="Calibri" pitchFamily="34" charset="-120"/>
              </a:rPr>
              <a:t>Application</a:t>
            </a:r>
            <a:endParaRPr lang="en-US" sz="1500" dirty="0"/>
          </a:p>
        </p:txBody>
      </p:sp>
      <p:sp>
        <p:nvSpPr>
          <p:cNvPr id="12" name="Text 10"/>
          <p:cNvSpPr txBox="1"/>
          <p:nvPr/>
        </p:nvSpPr>
        <p:spPr>
          <a:xfrm>
            <a:off x="6748272" y="2450592"/>
            <a:ext cx="2240280" cy="21488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Role-based access control per route</a:t>
            </a:r>
            <a:endParaRPr lang="en-US" sz="1100" dirty="0"/>
          </a:p>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bcrypt cost 12; 12-char policy with blocklist</a:t>
            </a:r>
            <a:endParaRPr lang="en-US" sz="1100" dirty="0"/>
          </a:p>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Sessions bound to browser and network prefix</a:t>
            </a:r>
            <a:endParaRPr lang="en-US" sz="1100" dirty="0"/>
          </a:p>
        </p:txBody>
      </p:sp>
      <p:sp>
        <p:nvSpPr>
          <p:cNvPr id="13" name="Shape 11"/>
          <p:cNvSpPr/>
          <p:nvPr/>
        </p:nvSpPr>
        <p:spPr>
          <a:xfrm>
            <a:off x="9418320" y="1828800"/>
            <a:ext cx="2697480" cy="2971800"/>
          </a:xfrm>
          <a:prstGeom prst="roundRect">
            <a:avLst>
              <a:gd name="adj" fmla="val 1695"/>
            </a:avLst>
          </a:prstGeom>
          <a:solidFill>
            <a:srgbClr val="FFFFFF"/>
          </a:solidFill>
          <a:ln/>
          <a:effectLst>
            <a:outerShdw sx="100000" sy="100000" kx="0" ky="0" algn="bl" rotWithShape="0" blurRad="127000" dist="19050" dir="5400000">
              <a:srgbClr val="9AA9BC">
                <a:alpha val="18000"/>
              </a:srgbClr>
            </a:outerShdw>
          </a:effectLst>
        </p:spPr>
      </p:sp>
      <p:sp>
        <p:nvSpPr>
          <p:cNvPr id="14" name="Text 12"/>
          <p:cNvSpPr txBox="1"/>
          <p:nvPr/>
        </p:nvSpPr>
        <p:spPr>
          <a:xfrm>
            <a:off x="9674352" y="2029968"/>
            <a:ext cx="2185416" cy="329184"/>
          </a:xfrm>
          <a:prstGeom prst="rect">
            <a:avLst/>
          </a:prstGeom>
          <a:noFill/>
          <a:ln/>
        </p:spPr>
        <p:txBody>
          <a:bodyPr wrap="square" lIns="0" tIns="0" rIns="0" bIns="0" rtlCol="0" anchor="ctr"/>
          <a:lstStyle/>
          <a:p>
            <a:pPr indent="0" marL="0">
              <a:buNone/>
            </a:pPr>
            <a:r>
              <a:rPr lang="en-US" sz="1500" b="1" dirty="0">
                <a:solidFill>
                  <a:srgbClr val="2E6F9E"/>
                </a:solidFill>
                <a:latin typeface="Calibri" pitchFamily="34" charset="0"/>
                <a:ea typeface="Calibri" pitchFamily="34" charset="-122"/>
                <a:cs typeface="Calibri" pitchFamily="34" charset="-120"/>
              </a:rPr>
              <a:t>Integrity</a:t>
            </a:r>
            <a:endParaRPr lang="en-US" sz="1500" dirty="0"/>
          </a:p>
        </p:txBody>
      </p:sp>
      <p:sp>
        <p:nvSpPr>
          <p:cNvPr id="15" name="Text 13"/>
          <p:cNvSpPr txBox="1"/>
          <p:nvPr/>
        </p:nvSpPr>
        <p:spPr>
          <a:xfrm>
            <a:off x="9674352" y="2450592"/>
            <a:ext cx="2240280" cy="214884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Idempotency keys stop duplicate records</a:t>
            </a:r>
            <a:endParaRPr lang="en-US" sz="1100" dirty="0"/>
          </a:p>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Append-only attendance and audit history</a:t>
            </a:r>
            <a:endParaRPr lang="en-US" sz="1100" dirty="0"/>
          </a:p>
          <a:p>
            <a:pPr marL="342900" indent="-342900">
              <a:lnSpc>
                <a:spcPts val="1500"/>
              </a:lnSpc>
              <a:spcAft>
                <a:spcPts val="800"/>
              </a:spcAft>
              <a:buSzPct val="100000"/>
              <a:buChar char="•"/>
            </a:pPr>
            <a:r>
              <a:rPr lang="en-US" sz="1100" dirty="0">
                <a:solidFill>
                  <a:srgbClr val="16202E"/>
                </a:solidFill>
                <a:latin typeface="Calibri" pitchFamily="34" charset="0"/>
                <a:ea typeface="Calibri" pitchFamily="34" charset="-122"/>
                <a:cs typeface="Calibri" pitchFamily="34" charset="-120"/>
              </a:rPr>
              <a:t>Parameterised queries throughout</a:t>
            </a:r>
            <a:endParaRPr lang="en-US" sz="1100" dirty="0"/>
          </a:p>
        </p:txBody>
      </p:sp>
      <p:sp>
        <p:nvSpPr>
          <p:cNvPr id="16" name="Text 14"/>
          <p:cNvSpPr txBox="1"/>
          <p:nvPr/>
        </p:nvSpPr>
        <p:spPr>
          <a:xfrm>
            <a:off x="640080" y="5029200"/>
            <a:ext cx="10911535" cy="548640"/>
          </a:xfrm>
          <a:prstGeom prst="rect">
            <a:avLst/>
          </a:prstGeom>
          <a:noFill/>
          <a:ln/>
        </p:spPr>
        <p:txBody>
          <a:bodyPr wrap="square" lIns="0" tIns="0" rIns="0" bIns="0" rtlCol="0" anchor="ctr"/>
          <a:lstStyle/>
          <a:p>
            <a:pPr indent="0" marL="0">
              <a:lnSpc>
                <a:spcPts val="1800"/>
              </a:lnSpc>
              <a:buNone/>
            </a:pPr>
            <a:r>
              <a:rPr lang="en-US" sz="1300" dirty="0">
                <a:solidFill>
                  <a:srgbClr val="16202E"/>
                </a:solidFill>
                <a:latin typeface="Calibri" pitchFamily="34" charset="0"/>
                <a:ea typeface="Calibri" pitchFamily="34" charset="-122"/>
                <a:cs typeface="Calibri" pitchFamily="34" charset="-120"/>
              </a:rPr>
              <a:t>Automatic revocation: a device credential is withdrawn on repeated signature failures, or when the same key appears from several addresses within an hour.</a:t>
            </a:r>
            <a:endParaRPr lang="en-US" sz="1300" dirty="0"/>
          </a:p>
        </p:txBody>
      </p:sp>
      <p:sp>
        <p:nvSpPr>
          <p:cNvPr id="18" name="Text 15"/>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9" name="Text 16"/>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Thirty-three things the system watches</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9FB0C4"/>
                </a:solidFill>
                <a:latin typeface="Calibri" pitchFamily="34" charset="0"/>
                <a:ea typeface="Calibri" pitchFamily="34" charset="-122"/>
                <a:cs typeface="Calibri" pitchFamily="34" charset="-120"/>
              </a:rPr>
              <a:t>Every one carries a severity, a source address, and a resolution state</a:t>
            </a:r>
            <a:endParaRPr lang="en-US" sz="1400" dirty="0"/>
          </a:p>
        </p:txBody>
      </p:sp>
      <p:sp>
        <p:nvSpPr>
          <p:cNvPr id="4" name="Shape 2"/>
          <p:cNvSpPr/>
          <p:nvPr/>
        </p:nvSpPr>
        <p:spPr>
          <a:xfrm>
            <a:off x="640080" y="1874520"/>
            <a:ext cx="3520440" cy="1691640"/>
          </a:xfrm>
          <a:prstGeom prst="roundRect">
            <a:avLst>
              <a:gd name="adj" fmla="val 2703"/>
            </a:avLst>
          </a:prstGeom>
          <a:solidFill>
            <a:srgbClr val="17273D"/>
          </a:solidFill>
          <a:ln/>
        </p:spPr>
      </p:sp>
      <p:sp>
        <p:nvSpPr>
          <p:cNvPr id="5" name="Text 3"/>
          <p:cNvSpPr txBox="1"/>
          <p:nvPr/>
        </p:nvSpPr>
        <p:spPr>
          <a:xfrm>
            <a:off x="859536" y="2057400"/>
            <a:ext cx="68580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11</a:t>
            </a:r>
            <a:endParaRPr lang="en-US" sz="2400" dirty="0"/>
          </a:p>
        </p:txBody>
      </p:sp>
      <p:sp>
        <p:nvSpPr>
          <p:cNvPr id="6" name="Text 4"/>
          <p:cNvSpPr txBox="1"/>
          <p:nvPr/>
        </p:nvSpPr>
        <p:spPr>
          <a:xfrm>
            <a:off x="1572768" y="2075688"/>
            <a:ext cx="237744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Device &amp; request auth</a:t>
            </a:r>
            <a:endParaRPr lang="en-US" sz="1250" dirty="0"/>
          </a:p>
        </p:txBody>
      </p:sp>
      <p:sp>
        <p:nvSpPr>
          <p:cNvPr id="7" name="Text 5"/>
          <p:cNvSpPr txBox="1"/>
          <p:nvPr/>
        </p:nvSpPr>
        <p:spPr>
          <a:xfrm>
            <a:off x="859536" y="2560320"/>
            <a:ext cx="3081528" cy="868680"/>
          </a:xfrm>
          <a:prstGeom prst="rect">
            <a:avLst/>
          </a:prstGeom>
          <a:noFill/>
          <a:ln/>
        </p:spPr>
        <p:txBody>
          <a:bodyPr wrap="square" lIns="0" tIns="0" rIns="0" bIns="0" rtlCol="0" anchor="ctr"/>
          <a:lstStyle/>
          <a:p>
            <a:pPr indent="0" marL="0">
              <a:lnSpc>
                <a:spcPts val="1300"/>
              </a:lnSpc>
              <a:buNone/>
            </a:pPr>
            <a:r>
              <a:rPr lang="en-US" sz="1000" dirty="0">
                <a:solidFill>
                  <a:srgbClr val="9FB0C4"/>
                </a:solidFill>
                <a:latin typeface="Calibri" pitchFamily="34" charset="0"/>
                <a:ea typeface="Calibri" pitchFamily="34" charset="-122"/>
                <a:cs typeface="Calibri" pitchFamily="34" charset="-120"/>
              </a:rPr>
              <a:t>Unknown or blocked device, invalid or expired key, bad signature, expired timestamp, replay</a:t>
            </a:r>
            <a:endParaRPr lang="en-US" sz="1000" dirty="0"/>
          </a:p>
        </p:txBody>
      </p:sp>
      <p:sp>
        <p:nvSpPr>
          <p:cNvPr id="8" name="Shape 6"/>
          <p:cNvSpPr/>
          <p:nvPr/>
        </p:nvSpPr>
        <p:spPr>
          <a:xfrm>
            <a:off x="4471416" y="1874520"/>
            <a:ext cx="3520440" cy="1691640"/>
          </a:xfrm>
          <a:prstGeom prst="roundRect">
            <a:avLst>
              <a:gd name="adj" fmla="val 2703"/>
            </a:avLst>
          </a:prstGeom>
          <a:solidFill>
            <a:srgbClr val="17273D"/>
          </a:solidFill>
          <a:ln/>
        </p:spPr>
      </p:sp>
      <p:sp>
        <p:nvSpPr>
          <p:cNvPr id="9" name="Text 7"/>
          <p:cNvSpPr txBox="1"/>
          <p:nvPr/>
        </p:nvSpPr>
        <p:spPr>
          <a:xfrm>
            <a:off x="4690872" y="2057400"/>
            <a:ext cx="68580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3</a:t>
            </a:r>
            <a:endParaRPr lang="en-US" sz="2400" dirty="0"/>
          </a:p>
        </p:txBody>
      </p:sp>
      <p:sp>
        <p:nvSpPr>
          <p:cNvPr id="10" name="Text 8"/>
          <p:cNvSpPr txBox="1"/>
          <p:nvPr/>
        </p:nvSpPr>
        <p:spPr>
          <a:xfrm>
            <a:off x="5404104" y="2075688"/>
            <a:ext cx="237744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Network access</a:t>
            </a:r>
            <a:endParaRPr lang="en-US" sz="1250" dirty="0"/>
          </a:p>
        </p:txBody>
      </p:sp>
      <p:sp>
        <p:nvSpPr>
          <p:cNvPr id="11" name="Text 9"/>
          <p:cNvSpPr txBox="1"/>
          <p:nvPr/>
        </p:nvSpPr>
        <p:spPr>
          <a:xfrm>
            <a:off x="4690872" y="2560320"/>
            <a:ext cx="3081528" cy="868680"/>
          </a:xfrm>
          <a:prstGeom prst="rect">
            <a:avLst/>
          </a:prstGeom>
          <a:noFill/>
          <a:ln/>
        </p:spPr>
        <p:txBody>
          <a:bodyPr wrap="square" lIns="0" tIns="0" rIns="0" bIns="0" rtlCol="0" anchor="ctr"/>
          <a:lstStyle/>
          <a:p>
            <a:pPr indent="0" marL="0">
              <a:lnSpc>
                <a:spcPts val="1300"/>
              </a:lnSpc>
              <a:buNone/>
            </a:pPr>
            <a:r>
              <a:rPr lang="en-US" sz="1000" dirty="0">
                <a:solidFill>
                  <a:srgbClr val="9FB0C4"/>
                </a:solidFill>
                <a:latin typeface="Calibri" pitchFamily="34" charset="0"/>
                <a:ea typeface="Calibri" pitchFamily="34" charset="-122"/>
                <a:cs typeface="Calibri" pitchFamily="34" charset="-120"/>
              </a:rPr>
              <a:t>Address not allowlisted, blocked IP attempt, rate limit exceeded</a:t>
            </a:r>
            <a:endParaRPr lang="en-US" sz="1000" dirty="0"/>
          </a:p>
        </p:txBody>
      </p:sp>
      <p:sp>
        <p:nvSpPr>
          <p:cNvPr id="12" name="Shape 10"/>
          <p:cNvSpPr/>
          <p:nvPr/>
        </p:nvSpPr>
        <p:spPr>
          <a:xfrm>
            <a:off x="8302752" y="1874520"/>
            <a:ext cx="3520440" cy="1691640"/>
          </a:xfrm>
          <a:prstGeom prst="roundRect">
            <a:avLst>
              <a:gd name="adj" fmla="val 2703"/>
            </a:avLst>
          </a:prstGeom>
          <a:solidFill>
            <a:srgbClr val="17273D"/>
          </a:solidFill>
          <a:ln/>
        </p:spPr>
      </p:sp>
      <p:sp>
        <p:nvSpPr>
          <p:cNvPr id="13" name="Text 11"/>
          <p:cNvSpPr txBox="1"/>
          <p:nvPr/>
        </p:nvSpPr>
        <p:spPr>
          <a:xfrm>
            <a:off x="8522208" y="2057400"/>
            <a:ext cx="68580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5</a:t>
            </a:r>
            <a:endParaRPr lang="en-US" sz="2400" dirty="0"/>
          </a:p>
        </p:txBody>
      </p:sp>
      <p:sp>
        <p:nvSpPr>
          <p:cNvPr id="14" name="Text 12"/>
          <p:cNvSpPr txBox="1"/>
          <p:nvPr/>
        </p:nvSpPr>
        <p:spPr>
          <a:xfrm>
            <a:off x="9235440" y="2075688"/>
            <a:ext cx="237744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Account &amp; session</a:t>
            </a:r>
            <a:endParaRPr lang="en-US" sz="1250" dirty="0"/>
          </a:p>
        </p:txBody>
      </p:sp>
      <p:sp>
        <p:nvSpPr>
          <p:cNvPr id="15" name="Text 13"/>
          <p:cNvSpPr txBox="1"/>
          <p:nvPr/>
        </p:nvSpPr>
        <p:spPr>
          <a:xfrm>
            <a:off x="8522208" y="2560320"/>
            <a:ext cx="3081528" cy="868680"/>
          </a:xfrm>
          <a:prstGeom prst="rect">
            <a:avLst/>
          </a:prstGeom>
          <a:noFill/>
          <a:ln/>
        </p:spPr>
        <p:txBody>
          <a:bodyPr wrap="square" lIns="0" tIns="0" rIns="0" bIns="0" rtlCol="0" anchor="ctr"/>
          <a:lstStyle/>
          <a:p>
            <a:pPr indent="0" marL="0">
              <a:lnSpc>
                <a:spcPts val="1300"/>
              </a:lnSpc>
              <a:buNone/>
            </a:pPr>
            <a:r>
              <a:rPr lang="en-US" sz="1000" dirty="0">
                <a:solidFill>
                  <a:srgbClr val="9FB0C4"/>
                </a:solidFill>
                <a:latin typeface="Calibri" pitchFamily="34" charset="0"/>
                <a:ea typeface="Calibri" pitchFamily="34" charset="-122"/>
                <a:cs typeface="Calibri" pitchFamily="34" charset="-120"/>
              </a:rPr>
              <a:t>Failed login, account locked, suspected session hijack, permission violation</a:t>
            </a:r>
            <a:endParaRPr lang="en-US" sz="1000" dirty="0"/>
          </a:p>
        </p:txBody>
      </p:sp>
      <p:sp>
        <p:nvSpPr>
          <p:cNvPr id="16" name="Shape 14"/>
          <p:cNvSpPr/>
          <p:nvPr/>
        </p:nvSpPr>
        <p:spPr>
          <a:xfrm>
            <a:off x="640080" y="3950208"/>
            <a:ext cx="3520440" cy="1691640"/>
          </a:xfrm>
          <a:prstGeom prst="roundRect">
            <a:avLst>
              <a:gd name="adj" fmla="val 2703"/>
            </a:avLst>
          </a:prstGeom>
          <a:solidFill>
            <a:srgbClr val="17273D"/>
          </a:solidFill>
          <a:ln/>
        </p:spPr>
      </p:sp>
      <p:sp>
        <p:nvSpPr>
          <p:cNvPr id="17" name="Text 15"/>
          <p:cNvSpPr txBox="1"/>
          <p:nvPr/>
        </p:nvSpPr>
        <p:spPr>
          <a:xfrm>
            <a:off x="859536" y="4133088"/>
            <a:ext cx="68580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4</a:t>
            </a:r>
            <a:endParaRPr lang="en-US" sz="2400" dirty="0"/>
          </a:p>
        </p:txBody>
      </p:sp>
      <p:sp>
        <p:nvSpPr>
          <p:cNvPr id="18" name="Text 16"/>
          <p:cNvSpPr txBox="1"/>
          <p:nvPr/>
        </p:nvSpPr>
        <p:spPr>
          <a:xfrm>
            <a:off x="1572768" y="4151376"/>
            <a:ext cx="237744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Application attacks</a:t>
            </a:r>
            <a:endParaRPr lang="en-US" sz="1250" dirty="0"/>
          </a:p>
        </p:txBody>
      </p:sp>
      <p:sp>
        <p:nvSpPr>
          <p:cNvPr id="19" name="Text 17"/>
          <p:cNvSpPr txBox="1"/>
          <p:nvPr/>
        </p:nvSpPr>
        <p:spPr>
          <a:xfrm>
            <a:off x="859536" y="4636008"/>
            <a:ext cx="3081528" cy="868680"/>
          </a:xfrm>
          <a:prstGeom prst="rect">
            <a:avLst/>
          </a:prstGeom>
          <a:noFill/>
          <a:ln/>
        </p:spPr>
        <p:txBody>
          <a:bodyPr wrap="square" lIns="0" tIns="0" rIns="0" bIns="0" rtlCol="0" anchor="ctr"/>
          <a:lstStyle/>
          <a:p>
            <a:pPr indent="0" marL="0">
              <a:lnSpc>
                <a:spcPts val="1300"/>
              </a:lnSpc>
              <a:buNone/>
            </a:pPr>
            <a:r>
              <a:rPr lang="en-US" sz="1000" dirty="0">
                <a:solidFill>
                  <a:srgbClr val="9FB0C4"/>
                </a:solidFill>
                <a:latin typeface="Calibri" pitchFamily="34" charset="0"/>
                <a:ea typeface="Calibri" pitchFamily="34" charset="-122"/>
                <a:cs typeface="Calibri" pitchFamily="34" charset="-120"/>
              </a:rPr>
              <a:t>CSRF failure, SQL injection attempt, XSS attempt, malicious upload</a:t>
            </a:r>
            <a:endParaRPr lang="en-US" sz="1000" dirty="0"/>
          </a:p>
        </p:txBody>
      </p:sp>
      <p:sp>
        <p:nvSpPr>
          <p:cNvPr id="20" name="Shape 18"/>
          <p:cNvSpPr/>
          <p:nvPr/>
        </p:nvSpPr>
        <p:spPr>
          <a:xfrm>
            <a:off x="4471416" y="3950208"/>
            <a:ext cx="3520440" cy="1691640"/>
          </a:xfrm>
          <a:prstGeom prst="roundRect">
            <a:avLst>
              <a:gd name="adj" fmla="val 2703"/>
            </a:avLst>
          </a:prstGeom>
          <a:solidFill>
            <a:srgbClr val="17273D"/>
          </a:solidFill>
          <a:ln/>
        </p:spPr>
      </p:sp>
      <p:sp>
        <p:nvSpPr>
          <p:cNvPr id="21" name="Text 19"/>
          <p:cNvSpPr txBox="1"/>
          <p:nvPr/>
        </p:nvSpPr>
        <p:spPr>
          <a:xfrm>
            <a:off x="4690872" y="4133088"/>
            <a:ext cx="68580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4</a:t>
            </a:r>
            <a:endParaRPr lang="en-US" sz="2400" dirty="0"/>
          </a:p>
        </p:txBody>
      </p:sp>
      <p:sp>
        <p:nvSpPr>
          <p:cNvPr id="22" name="Text 20"/>
          <p:cNvSpPr txBox="1"/>
          <p:nvPr/>
        </p:nvSpPr>
        <p:spPr>
          <a:xfrm>
            <a:off x="5404104" y="4151376"/>
            <a:ext cx="237744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Biometric integrity</a:t>
            </a:r>
            <a:endParaRPr lang="en-US" sz="1250" dirty="0"/>
          </a:p>
        </p:txBody>
      </p:sp>
      <p:sp>
        <p:nvSpPr>
          <p:cNvPr id="23" name="Text 21"/>
          <p:cNvSpPr txBox="1"/>
          <p:nvPr/>
        </p:nvSpPr>
        <p:spPr>
          <a:xfrm>
            <a:off x="4690872" y="4636008"/>
            <a:ext cx="3081528" cy="868680"/>
          </a:xfrm>
          <a:prstGeom prst="rect">
            <a:avLst/>
          </a:prstGeom>
          <a:noFill/>
          <a:ln/>
        </p:spPr>
        <p:txBody>
          <a:bodyPr wrap="square" lIns="0" tIns="0" rIns="0" bIns="0" rtlCol="0" anchor="ctr"/>
          <a:lstStyle/>
          <a:p>
            <a:pPr indent="0" marL="0">
              <a:lnSpc>
                <a:spcPts val="1300"/>
              </a:lnSpc>
              <a:buNone/>
            </a:pPr>
            <a:r>
              <a:rPr lang="en-US" sz="1000" dirty="0">
                <a:solidFill>
                  <a:srgbClr val="9FB0C4"/>
                </a:solidFill>
                <a:latin typeface="Calibri" pitchFamily="34" charset="0"/>
                <a:ea typeface="Calibri" pitchFamily="34" charset="-122"/>
                <a:cs typeface="Calibri" pitchFamily="34" charset="-120"/>
              </a:rPr>
              <a:t>Override used, override refused, failure threshold, cross-device slot</a:t>
            </a:r>
            <a:endParaRPr lang="en-US" sz="1000" dirty="0"/>
          </a:p>
        </p:txBody>
      </p:sp>
      <p:sp>
        <p:nvSpPr>
          <p:cNvPr id="24" name="Shape 22"/>
          <p:cNvSpPr/>
          <p:nvPr/>
        </p:nvSpPr>
        <p:spPr>
          <a:xfrm>
            <a:off x="8302752" y="3950208"/>
            <a:ext cx="3520440" cy="1691640"/>
          </a:xfrm>
          <a:prstGeom prst="roundRect">
            <a:avLst>
              <a:gd name="adj" fmla="val 2703"/>
            </a:avLst>
          </a:prstGeom>
          <a:solidFill>
            <a:srgbClr val="17273D"/>
          </a:solidFill>
          <a:ln/>
        </p:spPr>
      </p:sp>
      <p:sp>
        <p:nvSpPr>
          <p:cNvPr id="25" name="Text 23"/>
          <p:cNvSpPr txBox="1"/>
          <p:nvPr/>
        </p:nvSpPr>
        <p:spPr>
          <a:xfrm>
            <a:off x="8522208" y="4133088"/>
            <a:ext cx="68580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6</a:t>
            </a:r>
            <a:endParaRPr lang="en-US" sz="2400" dirty="0"/>
          </a:p>
        </p:txBody>
      </p:sp>
      <p:sp>
        <p:nvSpPr>
          <p:cNvPr id="26" name="Text 24"/>
          <p:cNvSpPr txBox="1"/>
          <p:nvPr/>
        </p:nvSpPr>
        <p:spPr>
          <a:xfrm>
            <a:off x="9235440" y="4151376"/>
            <a:ext cx="2377440"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Attendance integrity</a:t>
            </a:r>
            <a:endParaRPr lang="en-US" sz="1250" dirty="0"/>
          </a:p>
        </p:txBody>
      </p:sp>
      <p:sp>
        <p:nvSpPr>
          <p:cNvPr id="27" name="Text 25"/>
          <p:cNvSpPr txBox="1"/>
          <p:nvPr/>
        </p:nvSpPr>
        <p:spPr>
          <a:xfrm>
            <a:off x="8522208" y="4636008"/>
            <a:ext cx="3081528" cy="868680"/>
          </a:xfrm>
          <a:prstGeom prst="rect">
            <a:avLst/>
          </a:prstGeom>
          <a:noFill/>
          <a:ln/>
        </p:spPr>
        <p:txBody>
          <a:bodyPr wrap="square" lIns="0" tIns="0" rIns="0" bIns="0" rtlCol="0" anchor="ctr"/>
          <a:lstStyle/>
          <a:p>
            <a:pPr indent="0" marL="0">
              <a:lnSpc>
                <a:spcPts val="1300"/>
              </a:lnSpc>
              <a:buNone/>
            </a:pPr>
            <a:r>
              <a:rPr lang="en-US" sz="1000" dirty="0">
                <a:solidFill>
                  <a:srgbClr val="9FB0C4"/>
                </a:solidFill>
                <a:latin typeface="Calibri" pitchFamily="34" charset="0"/>
                <a:ea typeface="Calibri" pitchFamily="34" charset="-122"/>
                <a:cs typeface="Calibri" pitchFamily="34" charset="-120"/>
              </a:rPr>
              <a:t>Unknown card, wrong classroom, repeated section mismatch, blocked assignment</a:t>
            </a:r>
            <a:endParaRPr lang="en-US" sz="1000" dirty="0"/>
          </a:p>
        </p:txBody>
      </p:sp>
      <p:sp>
        <p:nvSpPr>
          <p:cNvPr id="29" name="Text 26"/>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30" name="Text 27"/>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STRIDE — threat to control</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Every category answered by something that runs in the system</a:t>
            </a:r>
            <a:endParaRPr lang="en-US" sz="1400" dirty="0"/>
          </a:p>
        </p:txBody>
      </p:sp>
      <p:sp>
        <p:nvSpPr>
          <p:cNvPr id="4" name="Shape 2"/>
          <p:cNvSpPr/>
          <p:nvPr/>
        </p:nvSpPr>
        <p:spPr>
          <a:xfrm>
            <a:off x="640080" y="1810512"/>
            <a:ext cx="10911535" cy="566928"/>
          </a:xfrm>
          <a:prstGeom prst="roundRect">
            <a:avLst>
              <a:gd name="adj" fmla="val 4839"/>
            </a:avLst>
          </a:prstGeom>
          <a:solidFill>
            <a:srgbClr val="E9EEF5"/>
          </a:solidFill>
          <a:ln/>
        </p:spPr>
      </p:sp>
      <p:sp>
        <p:nvSpPr>
          <p:cNvPr id="5" name="Text 3"/>
          <p:cNvSpPr txBox="1"/>
          <p:nvPr/>
        </p:nvSpPr>
        <p:spPr>
          <a:xfrm>
            <a:off x="914400" y="1810512"/>
            <a:ext cx="2834640" cy="566928"/>
          </a:xfrm>
          <a:prstGeom prst="rect">
            <a:avLst/>
          </a:prstGeom>
          <a:noFill/>
          <a:ln/>
        </p:spPr>
        <p:txBody>
          <a:bodyPr wrap="square" lIns="0" tIns="0" rIns="0" bIns="0" rtlCol="0" anchor="ctr"/>
          <a:lstStyle/>
          <a:p>
            <a:pPr indent="0" marL="0">
              <a:buNone/>
            </a:pPr>
            <a:r>
              <a:rPr lang="en-US" sz="1300" b="1" dirty="0">
                <a:solidFill>
                  <a:srgbClr val="0E1A2B"/>
                </a:solidFill>
                <a:latin typeface="Calibri" pitchFamily="34" charset="0"/>
                <a:ea typeface="Calibri" pitchFamily="34" charset="-122"/>
                <a:cs typeface="Calibri" pitchFamily="34" charset="-120"/>
              </a:rPr>
              <a:t>Spoofing</a:t>
            </a:r>
            <a:endParaRPr lang="en-US" sz="1300" dirty="0"/>
          </a:p>
        </p:txBody>
      </p:sp>
      <p:sp>
        <p:nvSpPr>
          <p:cNvPr id="6" name="Text 4"/>
          <p:cNvSpPr txBox="1"/>
          <p:nvPr/>
        </p:nvSpPr>
        <p:spPr>
          <a:xfrm>
            <a:off x="3840480" y="1810512"/>
            <a:ext cx="7498080" cy="56692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Fingerprint verification; signed requests; terminal address ranges</a:t>
            </a:r>
            <a:endParaRPr lang="en-US" sz="1200" dirty="0"/>
          </a:p>
        </p:txBody>
      </p:sp>
      <p:sp>
        <p:nvSpPr>
          <p:cNvPr id="7" name="Shape 5"/>
          <p:cNvSpPr/>
          <p:nvPr/>
        </p:nvSpPr>
        <p:spPr>
          <a:xfrm>
            <a:off x="640080" y="2432304"/>
            <a:ext cx="10911535" cy="566928"/>
          </a:xfrm>
          <a:prstGeom prst="roundRect">
            <a:avLst>
              <a:gd name="adj" fmla="val 4839"/>
            </a:avLst>
          </a:prstGeom>
          <a:solidFill>
            <a:srgbClr val="FFFFFF"/>
          </a:solidFill>
          <a:ln/>
        </p:spPr>
      </p:sp>
      <p:sp>
        <p:nvSpPr>
          <p:cNvPr id="8" name="Text 6"/>
          <p:cNvSpPr txBox="1"/>
          <p:nvPr/>
        </p:nvSpPr>
        <p:spPr>
          <a:xfrm>
            <a:off x="914400" y="2432304"/>
            <a:ext cx="2834640" cy="566928"/>
          </a:xfrm>
          <a:prstGeom prst="rect">
            <a:avLst/>
          </a:prstGeom>
          <a:noFill/>
          <a:ln/>
        </p:spPr>
        <p:txBody>
          <a:bodyPr wrap="square" lIns="0" tIns="0" rIns="0" bIns="0" rtlCol="0" anchor="ctr"/>
          <a:lstStyle/>
          <a:p>
            <a:pPr indent="0" marL="0">
              <a:buNone/>
            </a:pPr>
            <a:r>
              <a:rPr lang="en-US" sz="1300" b="1" dirty="0">
                <a:solidFill>
                  <a:srgbClr val="0E1A2B"/>
                </a:solidFill>
                <a:latin typeface="Calibri" pitchFamily="34" charset="0"/>
                <a:ea typeface="Calibri" pitchFamily="34" charset="-122"/>
                <a:cs typeface="Calibri" pitchFamily="34" charset="-120"/>
              </a:rPr>
              <a:t>Tampering</a:t>
            </a:r>
            <a:endParaRPr lang="en-US" sz="1300" dirty="0"/>
          </a:p>
        </p:txBody>
      </p:sp>
      <p:sp>
        <p:nvSpPr>
          <p:cNvPr id="9" name="Text 7"/>
          <p:cNvSpPr txBox="1"/>
          <p:nvPr/>
        </p:nvSpPr>
        <p:spPr>
          <a:xfrm>
            <a:off x="3840480" y="2432304"/>
            <a:ext cx="7498080" cy="56692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Signature over request content; parameterised queries; append-only history</a:t>
            </a:r>
            <a:endParaRPr lang="en-US" sz="1200" dirty="0"/>
          </a:p>
        </p:txBody>
      </p:sp>
      <p:sp>
        <p:nvSpPr>
          <p:cNvPr id="10" name="Shape 8"/>
          <p:cNvSpPr/>
          <p:nvPr/>
        </p:nvSpPr>
        <p:spPr>
          <a:xfrm>
            <a:off x="640080" y="3054096"/>
            <a:ext cx="10911535" cy="566928"/>
          </a:xfrm>
          <a:prstGeom prst="roundRect">
            <a:avLst>
              <a:gd name="adj" fmla="val 4839"/>
            </a:avLst>
          </a:prstGeom>
          <a:solidFill>
            <a:srgbClr val="E9EEF5"/>
          </a:solidFill>
          <a:ln/>
        </p:spPr>
      </p:sp>
      <p:sp>
        <p:nvSpPr>
          <p:cNvPr id="11" name="Text 9"/>
          <p:cNvSpPr txBox="1"/>
          <p:nvPr/>
        </p:nvSpPr>
        <p:spPr>
          <a:xfrm>
            <a:off x="914400" y="3054096"/>
            <a:ext cx="2834640" cy="566928"/>
          </a:xfrm>
          <a:prstGeom prst="rect">
            <a:avLst/>
          </a:prstGeom>
          <a:noFill/>
          <a:ln/>
        </p:spPr>
        <p:txBody>
          <a:bodyPr wrap="square" lIns="0" tIns="0" rIns="0" bIns="0" rtlCol="0" anchor="ctr"/>
          <a:lstStyle/>
          <a:p>
            <a:pPr indent="0" marL="0">
              <a:buNone/>
            </a:pPr>
            <a:r>
              <a:rPr lang="en-US" sz="1300" b="1" dirty="0">
                <a:solidFill>
                  <a:srgbClr val="0E1A2B"/>
                </a:solidFill>
                <a:latin typeface="Calibri" pitchFamily="34" charset="0"/>
                <a:ea typeface="Calibri" pitchFamily="34" charset="-122"/>
                <a:cs typeface="Calibri" pitchFamily="34" charset="-120"/>
              </a:rPr>
              <a:t>Repudiation</a:t>
            </a:r>
            <a:endParaRPr lang="en-US" sz="1300" dirty="0"/>
          </a:p>
        </p:txBody>
      </p:sp>
      <p:sp>
        <p:nvSpPr>
          <p:cNvPr id="12" name="Text 10"/>
          <p:cNvSpPr txBox="1"/>
          <p:nvPr/>
        </p:nvSpPr>
        <p:spPr>
          <a:xfrm>
            <a:off x="3840480" y="3054096"/>
            <a:ext cx="7498080" cy="56692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Audit log; security log with severity and resolution; recorded overrides</a:t>
            </a:r>
            <a:endParaRPr lang="en-US" sz="1200" dirty="0"/>
          </a:p>
        </p:txBody>
      </p:sp>
      <p:sp>
        <p:nvSpPr>
          <p:cNvPr id="13" name="Shape 11"/>
          <p:cNvSpPr/>
          <p:nvPr/>
        </p:nvSpPr>
        <p:spPr>
          <a:xfrm>
            <a:off x="640080" y="3675888"/>
            <a:ext cx="10911535" cy="566928"/>
          </a:xfrm>
          <a:prstGeom prst="roundRect">
            <a:avLst>
              <a:gd name="adj" fmla="val 4839"/>
            </a:avLst>
          </a:prstGeom>
          <a:solidFill>
            <a:srgbClr val="FFFFFF"/>
          </a:solidFill>
          <a:ln/>
        </p:spPr>
      </p:sp>
      <p:sp>
        <p:nvSpPr>
          <p:cNvPr id="14" name="Text 12"/>
          <p:cNvSpPr txBox="1"/>
          <p:nvPr/>
        </p:nvSpPr>
        <p:spPr>
          <a:xfrm>
            <a:off x="914400" y="3675888"/>
            <a:ext cx="2834640" cy="566928"/>
          </a:xfrm>
          <a:prstGeom prst="rect">
            <a:avLst/>
          </a:prstGeom>
          <a:noFill/>
          <a:ln/>
        </p:spPr>
        <p:txBody>
          <a:bodyPr wrap="square" lIns="0" tIns="0" rIns="0" bIns="0" rtlCol="0" anchor="ctr"/>
          <a:lstStyle/>
          <a:p>
            <a:pPr indent="0" marL="0">
              <a:buNone/>
            </a:pPr>
            <a:r>
              <a:rPr lang="en-US" sz="1300" b="1" dirty="0">
                <a:solidFill>
                  <a:srgbClr val="0E1A2B"/>
                </a:solidFill>
                <a:latin typeface="Calibri" pitchFamily="34" charset="0"/>
                <a:ea typeface="Calibri" pitchFamily="34" charset="-122"/>
                <a:cs typeface="Calibri" pitchFamily="34" charset="-120"/>
              </a:rPr>
              <a:t>Information disclosure</a:t>
            </a:r>
            <a:endParaRPr lang="en-US" sz="1300" dirty="0"/>
          </a:p>
        </p:txBody>
      </p:sp>
      <p:sp>
        <p:nvSpPr>
          <p:cNvPr id="15" name="Text 13"/>
          <p:cNvSpPr txBox="1"/>
          <p:nvPr/>
        </p:nvSpPr>
        <p:spPr>
          <a:xfrm>
            <a:off x="3840480" y="3675888"/>
            <a:ext cx="7498080" cy="56692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TLS from an internal CA; RBAC; encrypted device secrets; bcrypt hashes</a:t>
            </a:r>
            <a:endParaRPr lang="en-US" sz="1200" dirty="0"/>
          </a:p>
        </p:txBody>
      </p:sp>
      <p:sp>
        <p:nvSpPr>
          <p:cNvPr id="16" name="Shape 14"/>
          <p:cNvSpPr/>
          <p:nvPr/>
        </p:nvSpPr>
        <p:spPr>
          <a:xfrm>
            <a:off x="640080" y="4297680"/>
            <a:ext cx="10911535" cy="566928"/>
          </a:xfrm>
          <a:prstGeom prst="roundRect">
            <a:avLst>
              <a:gd name="adj" fmla="val 4839"/>
            </a:avLst>
          </a:prstGeom>
          <a:solidFill>
            <a:srgbClr val="E9EEF5"/>
          </a:solidFill>
          <a:ln/>
        </p:spPr>
      </p:sp>
      <p:sp>
        <p:nvSpPr>
          <p:cNvPr id="17" name="Text 15"/>
          <p:cNvSpPr txBox="1"/>
          <p:nvPr/>
        </p:nvSpPr>
        <p:spPr>
          <a:xfrm>
            <a:off x="914400" y="4297680"/>
            <a:ext cx="2834640" cy="566928"/>
          </a:xfrm>
          <a:prstGeom prst="rect">
            <a:avLst/>
          </a:prstGeom>
          <a:noFill/>
          <a:ln/>
        </p:spPr>
        <p:txBody>
          <a:bodyPr wrap="square" lIns="0" tIns="0" rIns="0" bIns="0" rtlCol="0" anchor="ctr"/>
          <a:lstStyle/>
          <a:p>
            <a:pPr indent="0" marL="0">
              <a:buNone/>
            </a:pPr>
            <a:r>
              <a:rPr lang="en-US" sz="1300" b="1" dirty="0">
                <a:solidFill>
                  <a:srgbClr val="0E1A2B"/>
                </a:solidFill>
                <a:latin typeface="Calibri" pitchFamily="34" charset="0"/>
                <a:ea typeface="Calibri" pitchFamily="34" charset="-122"/>
                <a:cs typeface="Calibri" pitchFamily="34" charset="-120"/>
              </a:rPr>
              <a:t>Denial of service</a:t>
            </a:r>
            <a:endParaRPr lang="en-US" sz="1300" dirty="0"/>
          </a:p>
        </p:txBody>
      </p:sp>
      <p:sp>
        <p:nvSpPr>
          <p:cNvPr id="18" name="Text 16"/>
          <p:cNvSpPr txBox="1"/>
          <p:nvPr/>
        </p:nvSpPr>
        <p:spPr>
          <a:xfrm>
            <a:off x="3840480" y="4297680"/>
            <a:ext cx="7498080" cy="56692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Firewall and address ranges; per-terminal rate limiting; offline capture</a:t>
            </a:r>
            <a:endParaRPr lang="en-US" sz="1200" dirty="0"/>
          </a:p>
        </p:txBody>
      </p:sp>
      <p:sp>
        <p:nvSpPr>
          <p:cNvPr id="19" name="Shape 17"/>
          <p:cNvSpPr/>
          <p:nvPr/>
        </p:nvSpPr>
        <p:spPr>
          <a:xfrm>
            <a:off x="640080" y="4919472"/>
            <a:ext cx="10911535" cy="566928"/>
          </a:xfrm>
          <a:prstGeom prst="roundRect">
            <a:avLst>
              <a:gd name="adj" fmla="val 4839"/>
            </a:avLst>
          </a:prstGeom>
          <a:solidFill>
            <a:srgbClr val="FFFFFF"/>
          </a:solidFill>
          <a:ln/>
        </p:spPr>
      </p:sp>
      <p:sp>
        <p:nvSpPr>
          <p:cNvPr id="20" name="Text 18"/>
          <p:cNvSpPr txBox="1"/>
          <p:nvPr/>
        </p:nvSpPr>
        <p:spPr>
          <a:xfrm>
            <a:off x="914400" y="4919472"/>
            <a:ext cx="2834640" cy="566928"/>
          </a:xfrm>
          <a:prstGeom prst="rect">
            <a:avLst/>
          </a:prstGeom>
          <a:noFill/>
          <a:ln/>
        </p:spPr>
        <p:txBody>
          <a:bodyPr wrap="square" lIns="0" tIns="0" rIns="0" bIns="0" rtlCol="0" anchor="ctr"/>
          <a:lstStyle/>
          <a:p>
            <a:pPr indent="0" marL="0">
              <a:buNone/>
            </a:pPr>
            <a:r>
              <a:rPr lang="en-US" sz="1300" b="1" dirty="0">
                <a:solidFill>
                  <a:srgbClr val="0E1A2B"/>
                </a:solidFill>
                <a:latin typeface="Calibri" pitchFamily="34" charset="0"/>
                <a:ea typeface="Calibri" pitchFamily="34" charset="-122"/>
                <a:cs typeface="Calibri" pitchFamily="34" charset="-120"/>
              </a:rPr>
              <a:t>Elevation of privilege</a:t>
            </a:r>
            <a:endParaRPr lang="en-US" sz="1300" dirty="0"/>
          </a:p>
        </p:txBody>
      </p:sp>
      <p:sp>
        <p:nvSpPr>
          <p:cNvPr id="21" name="Text 19"/>
          <p:cNvSpPr txBox="1"/>
          <p:nvPr/>
        </p:nvSpPr>
        <p:spPr>
          <a:xfrm>
            <a:off x="3840480" y="4919472"/>
            <a:ext cx="7498080" cy="566928"/>
          </a:xfrm>
          <a:prstGeom prst="rect">
            <a:avLst/>
          </a:prstGeom>
          <a:noFill/>
          <a:ln/>
        </p:spPr>
        <p:txBody>
          <a:bodyPr wrap="square" lIns="0" tIns="0" rIns="0" bIns="0" rtlCol="0" anchor="ctr"/>
          <a:lstStyle/>
          <a:p>
            <a:pPr indent="0" marL="0">
              <a:buNone/>
            </a:pPr>
            <a:r>
              <a:rPr lang="en-US" sz="1200" dirty="0">
                <a:solidFill>
                  <a:srgbClr val="16202E"/>
                </a:solidFill>
                <a:latin typeface="Calibri" pitchFamily="34" charset="0"/>
                <a:ea typeface="Calibri" pitchFamily="34" charset="-122"/>
                <a:cs typeface="Calibri" pitchFamily="34" charset="-120"/>
              </a:rPr>
              <a:t>Per-route permission checks; session binding; automatic key revocation</a:t>
            </a:r>
            <a:endParaRPr lang="en-US" sz="1200" dirty="0"/>
          </a:p>
        </p:txBody>
      </p:sp>
      <p:sp>
        <p:nvSpPr>
          <p:cNvPr id="23" name="Text 20"/>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24" name="Text 21"/>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We run our own certificate authority</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A school LAN with no internet cannot get certificates from a public CA</a:t>
            </a:r>
            <a:endParaRPr lang="en-US" sz="1400" dirty="0"/>
          </a:p>
        </p:txBody>
      </p:sp>
      <p:sp>
        <p:nvSpPr>
          <p:cNvPr id="4" name="Text 2"/>
          <p:cNvSpPr txBox="1"/>
          <p:nvPr/>
        </p:nvSpPr>
        <p:spPr>
          <a:xfrm>
            <a:off x="640080" y="1828800"/>
            <a:ext cx="5623560" cy="2194560"/>
          </a:xfrm>
          <a:prstGeom prst="rect">
            <a:avLst/>
          </a:prstGeom>
          <a:noFill/>
          <a:ln/>
        </p:spPr>
        <p:txBody>
          <a:bodyPr wrap="square" lIns="0" tIns="0" rIns="0" bIns="0" rtlCol="0" anchor="ctr"/>
          <a:lstStyle/>
          <a:p>
            <a:pPr marL="342900" indent="-342900">
              <a:lnSpc>
                <a:spcPts val="19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The system issues its own root and server certificates</a:t>
            </a:r>
            <a:endParaRPr lang="en-US" sz="1300" dirty="0"/>
          </a:p>
          <a:p>
            <a:pPr marL="342900" indent="-342900">
              <a:lnSpc>
                <a:spcPts val="19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The root private key is stored encrypted at rest</a:t>
            </a:r>
            <a:endParaRPr lang="en-US" sz="1300" dirty="0"/>
          </a:p>
          <a:p>
            <a:pPr marL="342900" indent="-342900">
              <a:lnSpc>
                <a:spcPts val="19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The root certificate is compiled into the firmware, so each terminal validates the server it connects to</a:t>
            </a:r>
            <a:endParaRPr lang="en-US" sz="1300" dirty="0"/>
          </a:p>
          <a:p>
            <a:pPr marL="342900" indent="-342900">
              <a:lnSpc>
                <a:spcPts val="1900"/>
              </a:lnSpc>
              <a:spcAft>
                <a:spcPts val="1100"/>
              </a:spcAft>
              <a:buSzPct val="100000"/>
              <a:buChar char="•"/>
            </a:pPr>
            <a:r>
              <a:rPr lang="en-US" sz="1300" dirty="0">
                <a:solidFill>
                  <a:srgbClr val="16202E"/>
                </a:solidFill>
                <a:latin typeface="Calibri" pitchFamily="34" charset="0"/>
                <a:ea typeface="Calibri" pitchFamily="34" charset="-122"/>
                <a:cs typeface="Calibri" pitchFamily="34" charset="-120"/>
              </a:rPr>
              <a:t>Reissuing the server certificate preserves the root — terminals in classrooms keep working without reflashing</a:t>
            </a:r>
            <a:endParaRPr lang="en-US" sz="1300" dirty="0"/>
          </a:p>
        </p:txBody>
      </p:sp>
      <p:sp>
        <p:nvSpPr>
          <p:cNvPr id="5" name="Shape 3"/>
          <p:cNvSpPr/>
          <p:nvPr/>
        </p:nvSpPr>
        <p:spPr>
          <a:xfrm>
            <a:off x="640080" y="4206240"/>
            <a:ext cx="5623560" cy="1234440"/>
          </a:xfrm>
          <a:prstGeom prst="roundRect">
            <a:avLst>
              <a:gd name="adj" fmla="val 3704"/>
            </a:avLst>
          </a:prstGeom>
          <a:solidFill>
            <a:srgbClr val="FFFFFF"/>
          </a:solidFill>
          <a:ln/>
          <a:effectLst>
            <a:outerShdw sx="100000" sy="100000" kx="0" ky="0" algn="bl" rotWithShape="0" blurRad="127000" dist="19050" dir="5400000">
              <a:srgbClr val="9AA9BC">
                <a:alpha val="18000"/>
              </a:srgbClr>
            </a:outerShdw>
          </a:effectLst>
        </p:spPr>
      </p:sp>
      <p:sp>
        <p:nvSpPr>
          <p:cNvPr id="6" name="Text 4"/>
          <p:cNvSpPr txBox="1"/>
          <p:nvPr/>
        </p:nvSpPr>
        <p:spPr>
          <a:xfrm>
            <a:off x="914400" y="4370832"/>
            <a:ext cx="914400" cy="640080"/>
          </a:xfrm>
          <a:prstGeom prst="rect">
            <a:avLst/>
          </a:prstGeom>
          <a:noFill/>
          <a:ln/>
        </p:spPr>
        <p:txBody>
          <a:bodyPr wrap="square" lIns="0" tIns="0" rIns="0" bIns="0" rtlCol="0" anchor="ctr"/>
          <a:lstStyle/>
          <a:p>
            <a:pPr indent="0" marL="0">
              <a:buNone/>
            </a:pPr>
            <a:r>
              <a:rPr lang="en-US" sz="3400" b="1" dirty="0">
                <a:solidFill>
                  <a:srgbClr val="2E9E6B"/>
                </a:solidFill>
                <a:latin typeface="Cambria" pitchFamily="34" charset="0"/>
                <a:ea typeface="Cambria" pitchFamily="34" charset="-122"/>
                <a:cs typeface="Cambria" pitchFamily="34" charset="-120"/>
              </a:rPr>
              <a:t>40</a:t>
            </a:r>
            <a:endParaRPr lang="en-US" sz="3400" dirty="0"/>
          </a:p>
        </p:txBody>
      </p:sp>
      <p:sp>
        <p:nvSpPr>
          <p:cNvPr id="7" name="Text 5"/>
          <p:cNvSpPr txBox="1"/>
          <p:nvPr/>
        </p:nvSpPr>
        <p:spPr>
          <a:xfrm>
            <a:off x="1783080" y="4434840"/>
            <a:ext cx="2377440" cy="320040"/>
          </a:xfrm>
          <a:prstGeom prst="rect">
            <a:avLst/>
          </a:prstGeom>
          <a:noFill/>
          <a:ln/>
        </p:spPr>
        <p:txBody>
          <a:bodyPr wrap="square" lIns="0" tIns="0" rIns="0" bIns="0" rtlCol="0" anchor="ctr"/>
          <a:lstStyle/>
          <a:p>
            <a:pPr indent="0" marL="0">
              <a:buNone/>
            </a:pPr>
            <a:r>
              <a:rPr lang="en-US" sz="1400" b="1" dirty="0">
                <a:solidFill>
                  <a:srgbClr val="16202E"/>
                </a:solidFill>
                <a:latin typeface="Calibri" pitchFamily="34" charset="0"/>
                <a:ea typeface="Calibri" pitchFamily="34" charset="-122"/>
                <a:cs typeface="Calibri" pitchFamily="34" charset="-120"/>
              </a:rPr>
              <a:t>assertions passed</a:t>
            </a:r>
            <a:endParaRPr lang="en-US" sz="1400" dirty="0"/>
          </a:p>
        </p:txBody>
      </p:sp>
      <p:sp>
        <p:nvSpPr>
          <p:cNvPr id="8" name="Text 6"/>
          <p:cNvSpPr txBox="1"/>
          <p:nvPr/>
        </p:nvSpPr>
        <p:spPr>
          <a:xfrm>
            <a:off x="1783080" y="4754880"/>
            <a:ext cx="4206240" cy="502920"/>
          </a:xfrm>
          <a:prstGeom prst="rect">
            <a:avLst/>
          </a:prstGeom>
          <a:noFill/>
          <a:ln/>
        </p:spPr>
        <p:txBody>
          <a:bodyPr wrap="square" lIns="0" tIns="0" rIns="0" bIns="0" rtlCol="0" anchor="ctr"/>
          <a:lstStyle/>
          <a:p>
            <a:pPr indent="0" marL="0">
              <a:lnSpc>
                <a:spcPts val="1500"/>
              </a:lnSpc>
              <a:buNone/>
            </a:pPr>
            <a:r>
              <a:rPr lang="en-US" sz="1100" dirty="0">
                <a:solidFill>
                  <a:srgbClr val="6B7A8D"/>
                </a:solidFill>
                <a:latin typeface="Calibri" pitchFamily="34" charset="0"/>
                <a:ea typeface="Calibri" pitchFamily="34" charset="-122"/>
                <a:cs typeface="Calibri" pitchFamily="34" charset="-120"/>
              </a:rPr>
              <a:t>Automated certificate test suite, executed against the running system</a:t>
            </a:r>
            <a:endParaRPr lang="en-US" sz="1100" dirty="0"/>
          </a:p>
        </p:txBody>
      </p:sp>
      <p:pic>
        <p:nvPicPr>
          <p:cNvPr id="9" name="Image 0" descr="/tmp/claude-0/-home-user-L-SIAMS/2182bf50-fd56-59f4-b4f8-a067e79520bc/scratchpad/slideimg/tls.png">    </p:cNvPr>
          <p:cNvPicPr>
            <a:picLocks noChangeAspect="1"/>
          </p:cNvPicPr>
          <p:nvPr/>
        </p:nvPicPr>
        <p:blipFill>
          <a:blip r:embed="rId1"/>
          <a:stretch>
            <a:fillRect/>
          </a:stretch>
        </p:blipFill>
        <p:spPr>
          <a:xfrm>
            <a:off x="6812280" y="1783080"/>
            <a:ext cx="2743200" cy="3675888"/>
          </a:xfrm>
          <a:prstGeom prst="rect">
            <a:avLst/>
          </a:prstGeom>
          <a:effectLst>
            <a:outerShdw sx="100000" sy="100000" kx="0" ky="0" algn="bl" rotWithShape="0" blurRad="152400" dist="25400" dir="5400000">
              <a:srgbClr val="7C8CA0">
                <a:alpha val="30000"/>
              </a:srgbClr>
            </a:outerShdw>
          </a:effectLst>
        </p:spPr>
      </p:pic>
      <p:sp>
        <p:nvSpPr>
          <p:cNvPr id="10" name="Text 7"/>
          <p:cNvSpPr txBox="1"/>
          <p:nvPr/>
        </p:nvSpPr>
        <p:spPr>
          <a:xfrm>
            <a:off x="9784080" y="2286000"/>
            <a:ext cx="1783080" cy="2194560"/>
          </a:xfrm>
          <a:prstGeom prst="rect">
            <a:avLst/>
          </a:prstGeom>
          <a:noFill/>
          <a:ln/>
        </p:spPr>
        <p:txBody>
          <a:bodyPr wrap="square" lIns="0" tIns="0" rIns="0" bIns="0" rtlCol="0" anchor="ctr"/>
          <a:lstStyle/>
          <a:p>
            <a:pPr indent="0" marL="0">
              <a:lnSpc>
                <a:spcPts val="1600"/>
              </a:lnSpc>
              <a:buNone/>
            </a:pPr>
            <a:r>
              <a:rPr lang="en-US" sz="1150" i="1" dirty="0">
                <a:solidFill>
                  <a:srgbClr val="6B7A8D"/>
                </a:solidFill>
                <a:latin typeface="Calibri" pitchFamily="34" charset="0"/>
                <a:ea typeface="Calibri" pitchFamily="34" charset="-122"/>
                <a:cs typeface="Calibri" pitchFamily="34" charset="-120"/>
              </a:rPr>
              <a:t>This is the one piece of security testing already done. Wireshark, Nmap and Metasploit testing comes in the evaluation phase.</a:t>
            </a:r>
            <a:endParaRPr lang="en-US" sz="1150" dirty="0"/>
          </a:p>
        </p:txBody>
      </p:sp>
      <p:sp>
        <p:nvSpPr>
          <p:cNvPr id="12" name="Text 8"/>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3" name="Text 9"/>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The security centre</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Current posture at a glance — failed sign-ins, unknown cards, bad signatures, rate limits</a:t>
            </a:r>
            <a:endParaRPr lang="en-US" sz="1400" dirty="0"/>
          </a:p>
        </p:txBody>
      </p:sp>
      <p:pic>
        <p:nvPicPr>
          <p:cNvPr id="4" name="Image 0" descr="/tmp/claude-0/-home-user-L-SIAMS/2182bf50-fd56-59f4-b4f8-a067e79520bc/scratchpad/slideimg/admin-19-security-center.png">    </p:cNvPr>
          <p:cNvPicPr>
            <a:picLocks noChangeAspect="1"/>
          </p:cNvPicPr>
          <p:nvPr/>
        </p:nvPicPr>
        <p:blipFill>
          <a:blip r:embed="rId1"/>
          <a:stretch>
            <a:fillRect/>
          </a:stretch>
        </p:blipFill>
        <p:spPr>
          <a:xfrm>
            <a:off x="2331720" y="1737360"/>
            <a:ext cx="7498080" cy="4690872"/>
          </a:xfrm>
          <a:prstGeom prst="rect">
            <a:avLst/>
          </a:prstGeom>
          <a:effectLst>
            <a:outerShdw sx="100000" sy="100000" kx="0" ky="0" algn="bl" rotWithShape="0" blurRad="177800" dist="25400" dir="5400000">
              <a:srgbClr val="7C8CA0">
                <a:alpha val="32000"/>
              </a:srgbClr>
            </a:outerShdw>
          </a:effectLst>
        </p:spPr>
      </p:pic>
      <p:sp>
        <p:nvSpPr>
          <p:cNvPr id="6" name="Text 2"/>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Monitoring and accountability</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Two separate records: security events, and the ordinary audit trail</a:t>
            </a:r>
            <a:endParaRPr lang="en-US" sz="1400" dirty="0"/>
          </a:p>
        </p:txBody>
      </p:sp>
      <p:pic>
        <p:nvPicPr>
          <p:cNvPr id="4" name="Image 0" descr="/tmp/claude-0/-home-user-L-SIAMS/2182bf50-fd56-59f4-b4f8-a067e79520bc/scratchpad/slideimg/admin-20-security-logs.png">    </p:cNvPr>
          <p:cNvPicPr>
            <a:picLocks noChangeAspect="1"/>
          </p:cNvPicPr>
          <p:nvPr/>
        </p:nvPicPr>
        <p:blipFill>
          <a:blip r:embed="rId1"/>
          <a:stretch>
            <a:fillRect/>
          </a:stretch>
        </p:blipFill>
        <p:spPr>
          <a:xfrm>
            <a:off x="640080" y="1828800"/>
            <a:ext cx="5257800" cy="3282696"/>
          </a:xfrm>
          <a:prstGeom prst="rect">
            <a:avLst/>
          </a:prstGeom>
          <a:effectLst>
            <a:outerShdw sx="100000" sy="100000" kx="0" ky="0" algn="bl" rotWithShape="0" blurRad="152400" dist="25400" dir="5400000">
              <a:srgbClr val="7C8CA0">
                <a:alpha val="30000"/>
              </a:srgbClr>
            </a:outerShdw>
          </a:effectLst>
        </p:spPr>
      </p:pic>
      <p:sp>
        <p:nvSpPr>
          <p:cNvPr id="5" name="Text 2"/>
          <p:cNvSpPr txBox="1"/>
          <p:nvPr/>
        </p:nvSpPr>
        <p:spPr>
          <a:xfrm>
            <a:off x="640080" y="5193792"/>
            <a:ext cx="5257800" cy="292608"/>
          </a:xfrm>
          <a:prstGeom prst="rect">
            <a:avLst/>
          </a:prstGeom>
          <a:noFill/>
          <a:ln/>
        </p:spPr>
        <p:txBody>
          <a:bodyPr wrap="square" lIns="0" tIns="0" rIns="0" bIns="0" rtlCol="0" anchor="ctr"/>
          <a:lstStyle/>
          <a:p>
            <a:pPr algn="ctr" indent="0" marL="0">
              <a:buNone/>
            </a:pPr>
            <a:r>
              <a:rPr lang="en-US" sz="1150" b="1" dirty="0">
                <a:solidFill>
                  <a:srgbClr val="2E6F9E"/>
                </a:solidFill>
                <a:latin typeface="Calibri" pitchFamily="34" charset="0"/>
                <a:ea typeface="Calibri" pitchFamily="34" charset="-122"/>
                <a:cs typeface="Calibri" pitchFamily="34" charset="-120"/>
              </a:rPr>
              <a:t>Security event log — severity and resolution state</a:t>
            </a:r>
            <a:endParaRPr lang="en-US" sz="1150" dirty="0"/>
          </a:p>
        </p:txBody>
      </p:sp>
      <p:pic>
        <p:nvPicPr>
          <p:cNvPr id="6" name="Image 1" descr="/tmp/claude-0/-home-user-L-SIAMS/2182bf50-fd56-59f4-b4f8-a067e79520bc/scratchpad/slideimg/admin-22-audit-trail.png">    </p:cNvPr>
          <p:cNvPicPr>
            <a:picLocks noChangeAspect="1"/>
          </p:cNvPicPr>
          <p:nvPr/>
        </p:nvPicPr>
        <p:blipFill>
          <a:blip r:embed="rId2"/>
          <a:stretch>
            <a:fillRect/>
          </a:stretch>
        </p:blipFill>
        <p:spPr>
          <a:xfrm>
            <a:off x="6263640" y="1828800"/>
            <a:ext cx="5257800" cy="3282696"/>
          </a:xfrm>
          <a:prstGeom prst="rect">
            <a:avLst/>
          </a:prstGeom>
          <a:effectLst>
            <a:outerShdw sx="100000" sy="100000" kx="0" ky="0" algn="bl" rotWithShape="0" blurRad="152400" dist="25400" dir="5400000">
              <a:srgbClr val="7C8CA0">
                <a:alpha val="30000"/>
              </a:srgbClr>
            </a:outerShdw>
          </a:effectLst>
        </p:spPr>
      </p:pic>
      <p:sp>
        <p:nvSpPr>
          <p:cNvPr id="7" name="Text 3"/>
          <p:cNvSpPr txBox="1"/>
          <p:nvPr/>
        </p:nvSpPr>
        <p:spPr>
          <a:xfrm>
            <a:off x="6263640" y="5193792"/>
            <a:ext cx="5257800" cy="292608"/>
          </a:xfrm>
          <a:prstGeom prst="rect">
            <a:avLst/>
          </a:prstGeom>
          <a:noFill/>
          <a:ln/>
        </p:spPr>
        <p:txBody>
          <a:bodyPr wrap="square" lIns="0" tIns="0" rIns="0" bIns="0" rtlCol="0" anchor="ctr"/>
          <a:lstStyle/>
          <a:p>
            <a:pPr algn="ctr" indent="0" marL="0">
              <a:buNone/>
            </a:pPr>
            <a:r>
              <a:rPr lang="en-US" sz="1150" b="1" dirty="0">
                <a:solidFill>
                  <a:srgbClr val="2E6F9E"/>
                </a:solidFill>
                <a:latin typeface="Calibri" pitchFamily="34" charset="0"/>
                <a:ea typeface="Calibri" pitchFamily="34" charset="-122"/>
                <a:cs typeface="Calibri" pitchFamily="34" charset="-120"/>
              </a:rPr>
              <a:t>Audit trail — who did what, and when</a:t>
            </a:r>
            <a:endParaRPr lang="en-US" sz="1150" dirty="0"/>
          </a:p>
        </p:txBody>
      </p:sp>
      <p:sp>
        <p:nvSpPr>
          <p:cNvPr id="9" name="Text 4"/>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0" name="Text 5"/>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Terminals and their credentials</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Registration, connection state, and per-device credential management</a:t>
            </a:r>
            <a:endParaRPr lang="en-US" sz="1400" dirty="0"/>
          </a:p>
        </p:txBody>
      </p:sp>
      <p:pic>
        <p:nvPicPr>
          <p:cNvPr id="4" name="Image 0" descr="/tmp/claude-0/-home-user-L-SIAMS/2182bf50-fd56-59f4-b4f8-a067e79520bc/scratchpad/slideimg/admin-16-devices.png">    </p:cNvPr>
          <p:cNvPicPr>
            <a:picLocks noChangeAspect="1"/>
          </p:cNvPicPr>
          <p:nvPr/>
        </p:nvPicPr>
        <p:blipFill>
          <a:blip r:embed="rId1"/>
          <a:stretch>
            <a:fillRect/>
          </a:stretch>
        </p:blipFill>
        <p:spPr>
          <a:xfrm>
            <a:off x="640080" y="1828800"/>
            <a:ext cx="5257800" cy="3282696"/>
          </a:xfrm>
          <a:prstGeom prst="rect">
            <a:avLst/>
          </a:prstGeom>
          <a:effectLst>
            <a:outerShdw sx="100000" sy="100000" kx="0" ky="0" algn="bl" rotWithShape="0" blurRad="152400" dist="25400" dir="5400000">
              <a:srgbClr val="7C8CA0">
                <a:alpha val="30000"/>
              </a:srgbClr>
            </a:outerShdw>
          </a:effectLst>
        </p:spPr>
      </p:pic>
      <p:sp>
        <p:nvSpPr>
          <p:cNvPr id="5" name="Text 2"/>
          <p:cNvSpPr txBox="1"/>
          <p:nvPr/>
        </p:nvSpPr>
        <p:spPr>
          <a:xfrm>
            <a:off x="640080" y="5193792"/>
            <a:ext cx="5257800" cy="292608"/>
          </a:xfrm>
          <a:prstGeom prst="rect">
            <a:avLst/>
          </a:prstGeom>
          <a:noFill/>
          <a:ln/>
        </p:spPr>
        <p:txBody>
          <a:bodyPr wrap="square" lIns="0" tIns="0" rIns="0" bIns="0" rtlCol="0" anchor="ctr"/>
          <a:lstStyle/>
          <a:p>
            <a:pPr algn="ctr" indent="0" marL="0">
              <a:buNone/>
            </a:pPr>
            <a:r>
              <a:rPr lang="en-US" sz="1150" b="1" dirty="0">
                <a:solidFill>
                  <a:srgbClr val="2E6F9E"/>
                </a:solidFill>
                <a:latin typeface="Calibri" pitchFamily="34" charset="0"/>
                <a:ea typeface="Calibri" pitchFamily="34" charset="-122"/>
                <a:cs typeface="Calibri" pitchFamily="34" charset="-120"/>
              </a:rPr>
              <a:t>Registered terminal registry</a:t>
            </a:r>
            <a:endParaRPr lang="en-US" sz="1150" dirty="0"/>
          </a:p>
        </p:txBody>
      </p:sp>
      <p:pic>
        <p:nvPicPr>
          <p:cNvPr id="6" name="Image 1" descr="/tmp/claude-0/-home-user-L-SIAMS/2182bf50-fd56-59f4-b4f8-a067e79520bc/scratchpad/slideimg/admin-17-device-detail.png">    </p:cNvPr>
          <p:cNvPicPr>
            <a:picLocks noChangeAspect="1"/>
          </p:cNvPicPr>
          <p:nvPr/>
        </p:nvPicPr>
        <p:blipFill>
          <a:blip r:embed="rId2"/>
          <a:stretch>
            <a:fillRect/>
          </a:stretch>
        </p:blipFill>
        <p:spPr>
          <a:xfrm>
            <a:off x="6263640" y="1828800"/>
            <a:ext cx="5257800" cy="3282696"/>
          </a:xfrm>
          <a:prstGeom prst="rect">
            <a:avLst/>
          </a:prstGeom>
          <a:effectLst>
            <a:outerShdw sx="100000" sy="100000" kx="0" ky="0" algn="bl" rotWithShape="0" blurRad="152400" dist="25400" dir="5400000">
              <a:srgbClr val="7C8CA0">
                <a:alpha val="30000"/>
              </a:srgbClr>
            </a:outerShdw>
          </a:effectLst>
        </p:spPr>
      </p:pic>
      <p:sp>
        <p:nvSpPr>
          <p:cNvPr id="7" name="Text 3"/>
          <p:cNvSpPr txBox="1"/>
          <p:nvPr/>
        </p:nvSpPr>
        <p:spPr>
          <a:xfrm>
            <a:off x="6263640" y="5193792"/>
            <a:ext cx="5257800" cy="292608"/>
          </a:xfrm>
          <a:prstGeom prst="rect">
            <a:avLst/>
          </a:prstGeom>
          <a:noFill/>
          <a:ln/>
        </p:spPr>
        <p:txBody>
          <a:bodyPr wrap="square" lIns="0" tIns="0" rIns="0" bIns="0" rtlCol="0" anchor="ctr"/>
          <a:lstStyle/>
          <a:p>
            <a:pPr algn="ctr" indent="0" marL="0">
              <a:buNone/>
            </a:pPr>
            <a:r>
              <a:rPr lang="en-US" sz="1150" b="1" dirty="0">
                <a:solidFill>
                  <a:srgbClr val="2E6F9E"/>
                </a:solidFill>
                <a:latin typeface="Calibri" pitchFamily="34" charset="0"/>
                <a:ea typeface="Calibri" pitchFamily="34" charset="-122"/>
                <a:cs typeface="Calibri" pitchFamily="34" charset="-120"/>
              </a:rPr>
              <a:t>Terminal detail — credential issue and rotation</a:t>
            </a:r>
            <a:endParaRPr lang="en-US" sz="1150" dirty="0"/>
          </a:p>
        </p:txBody>
      </p:sp>
      <p:sp>
        <p:nvSpPr>
          <p:cNvPr id="9" name="Text 4"/>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0" name="Text 5"/>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Access control in practice</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Roles decide what a user reaches; sessions can be revoked on sight</a:t>
            </a:r>
            <a:endParaRPr lang="en-US" sz="1400" dirty="0"/>
          </a:p>
        </p:txBody>
      </p:sp>
      <p:pic>
        <p:nvPicPr>
          <p:cNvPr id="4" name="Image 0" descr="/tmp/claude-0/-home-user-L-SIAMS/2182bf50-fd56-59f4-b4f8-a067e79520bc/scratchpad/slideimg/admin-25-users.png">    </p:cNvPr>
          <p:cNvPicPr>
            <a:picLocks noChangeAspect="1"/>
          </p:cNvPicPr>
          <p:nvPr/>
        </p:nvPicPr>
        <p:blipFill>
          <a:blip r:embed="rId1"/>
          <a:stretch>
            <a:fillRect/>
          </a:stretch>
        </p:blipFill>
        <p:spPr>
          <a:xfrm>
            <a:off x="640080" y="1828800"/>
            <a:ext cx="5257800" cy="3282696"/>
          </a:xfrm>
          <a:prstGeom prst="rect">
            <a:avLst/>
          </a:prstGeom>
          <a:effectLst>
            <a:outerShdw sx="100000" sy="100000" kx="0" ky="0" algn="bl" rotWithShape="0" blurRad="152400" dist="25400" dir="5400000">
              <a:srgbClr val="7C8CA0">
                <a:alpha val="30000"/>
              </a:srgbClr>
            </a:outerShdw>
          </a:effectLst>
        </p:spPr>
      </p:pic>
      <p:sp>
        <p:nvSpPr>
          <p:cNvPr id="5" name="Text 2"/>
          <p:cNvSpPr txBox="1"/>
          <p:nvPr/>
        </p:nvSpPr>
        <p:spPr>
          <a:xfrm>
            <a:off x="640080" y="5193792"/>
            <a:ext cx="5257800" cy="292608"/>
          </a:xfrm>
          <a:prstGeom prst="rect">
            <a:avLst/>
          </a:prstGeom>
          <a:noFill/>
          <a:ln/>
        </p:spPr>
        <p:txBody>
          <a:bodyPr wrap="square" lIns="0" tIns="0" rIns="0" bIns="0" rtlCol="0" anchor="ctr"/>
          <a:lstStyle/>
          <a:p>
            <a:pPr algn="ctr" indent="0" marL="0">
              <a:buNone/>
            </a:pPr>
            <a:r>
              <a:rPr lang="en-US" sz="1150" b="1" dirty="0">
                <a:solidFill>
                  <a:srgbClr val="2E6F9E"/>
                </a:solidFill>
                <a:latin typeface="Calibri" pitchFamily="34" charset="0"/>
                <a:ea typeface="Calibri" pitchFamily="34" charset="-122"/>
                <a:cs typeface="Calibri" pitchFamily="34" charset="-120"/>
              </a:rPr>
              <a:t>Accounts bound to roles</a:t>
            </a:r>
            <a:endParaRPr lang="en-US" sz="1150" dirty="0"/>
          </a:p>
        </p:txBody>
      </p:sp>
      <p:pic>
        <p:nvPicPr>
          <p:cNvPr id="6" name="Image 1" descr="/tmp/claude-0/-home-user-L-SIAMS/2182bf50-fd56-59f4-b4f8-a067e79520bc/scratchpad/slideimg/admin-21-security-sessions.png">    </p:cNvPr>
          <p:cNvPicPr>
            <a:picLocks noChangeAspect="1"/>
          </p:cNvPicPr>
          <p:nvPr/>
        </p:nvPicPr>
        <p:blipFill>
          <a:blip r:embed="rId2"/>
          <a:stretch>
            <a:fillRect/>
          </a:stretch>
        </p:blipFill>
        <p:spPr>
          <a:xfrm>
            <a:off x="6263640" y="1828800"/>
            <a:ext cx="5257800" cy="3282696"/>
          </a:xfrm>
          <a:prstGeom prst="rect">
            <a:avLst/>
          </a:prstGeom>
          <a:effectLst>
            <a:outerShdw sx="100000" sy="100000" kx="0" ky="0" algn="bl" rotWithShape="0" blurRad="152400" dist="25400" dir="5400000">
              <a:srgbClr val="7C8CA0">
                <a:alpha val="30000"/>
              </a:srgbClr>
            </a:outerShdw>
          </a:effectLst>
        </p:spPr>
      </p:pic>
      <p:sp>
        <p:nvSpPr>
          <p:cNvPr id="7" name="Text 3"/>
          <p:cNvSpPr txBox="1"/>
          <p:nvPr/>
        </p:nvSpPr>
        <p:spPr>
          <a:xfrm>
            <a:off x="6263640" y="5193792"/>
            <a:ext cx="5257800" cy="292608"/>
          </a:xfrm>
          <a:prstGeom prst="rect">
            <a:avLst/>
          </a:prstGeom>
          <a:noFill/>
          <a:ln/>
        </p:spPr>
        <p:txBody>
          <a:bodyPr wrap="square" lIns="0" tIns="0" rIns="0" bIns="0" rtlCol="0" anchor="ctr"/>
          <a:lstStyle/>
          <a:p>
            <a:pPr algn="ctr" indent="0" marL="0">
              <a:buNone/>
            </a:pPr>
            <a:r>
              <a:rPr lang="en-US" sz="1150" b="1" dirty="0">
                <a:solidFill>
                  <a:srgbClr val="2E6F9E"/>
                </a:solidFill>
                <a:latin typeface="Calibri" pitchFamily="34" charset="0"/>
                <a:ea typeface="Calibri" pitchFamily="34" charset="-122"/>
                <a:cs typeface="Calibri" pitchFamily="34" charset="-120"/>
              </a:rPr>
              <a:t>Active sessions, terminable individually or in bulk</a:t>
            </a:r>
            <a:endParaRPr lang="en-US" sz="1150" dirty="0"/>
          </a:p>
        </p:txBody>
      </p:sp>
      <p:sp>
        <p:nvSpPr>
          <p:cNvPr id="9" name="Text 4"/>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0" name="Text 5"/>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The teacher’s view</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Restricted by role to the classes that teacher is actually scheduled to teach</a:t>
            </a:r>
            <a:endParaRPr lang="en-US" sz="1400" dirty="0"/>
          </a:p>
        </p:txBody>
      </p:sp>
      <p:pic>
        <p:nvPicPr>
          <p:cNvPr id="4" name="Image 0" descr="/tmp/claude-0/-home-user-L-SIAMS/2182bf50-fd56-59f4-b4f8-a067e79520bc/scratchpad/slideimg/teacher-01-dashboard.png">    </p:cNvPr>
          <p:cNvPicPr>
            <a:picLocks noChangeAspect="1"/>
          </p:cNvPicPr>
          <p:nvPr/>
        </p:nvPicPr>
        <p:blipFill>
          <a:blip r:embed="rId1"/>
          <a:stretch>
            <a:fillRect/>
          </a:stretch>
        </p:blipFill>
        <p:spPr>
          <a:xfrm>
            <a:off x="640080" y="1828800"/>
            <a:ext cx="5257800" cy="3282696"/>
          </a:xfrm>
          <a:prstGeom prst="rect">
            <a:avLst/>
          </a:prstGeom>
          <a:effectLst>
            <a:outerShdw sx="100000" sy="100000" kx="0" ky="0" algn="bl" rotWithShape="0" blurRad="152400" dist="25400" dir="5400000">
              <a:srgbClr val="7C8CA0">
                <a:alpha val="30000"/>
              </a:srgbClr>
            </a:outerShdw>
          </a:effectLst>
        </p:spPr>
      </p:pic>
      <p:sp>
        <p:nvSpPr>
          <p:cNvPr id="5" name="Text 2"/>
          <p:cNvSpPr txBox="1"/>
          <p:nvPr/>
        </p:nvSpPr>
        <p:spPr>
          <a:xfrm>
            <a:off x="640080" y="5193792"/>
            <a:ext cx="5257800" cy="292608"/>
          </a:xfrm>
          <a:prstGeom prst="rect">
            <a:avLst/>
          </a:prstGeom>
          <a:noFill/>
          <a:ln/>
        </p:spPr>
        <p:txBody>
          <a:bodyPr wrap="square" lIns="0" tIns="0" rIns="0" bIns="0" rtlCol="0" anchor="ctr"/>
          <a:lstStyle/>
          <a:p>
            <a:pPr algn="ctr" indent="0" marL="0">
              <a:buNone/>
            </a:pPr>
            <a:r>
              <a:rPr lang="en-US" sz="1150" b="1" dirty="0">
                <a:solidFill>
                  <a:srgbClr val="2E6F9E"/>
                </a:solidFill>
                <a:latin typeface="Calibri" pitchFamily="34" charset="0"/>
                <a:ea typeface="Calibri" pitchFamily="34" charset="-122"/>
                <a:cs typeface="Calibri" pitchFamily="34" charset="-120"/>
              </a:rPr>
              <a:t>Teacher dashboard</a:t>
            </a:r>
            <a:endParaRPr lang="en-US" sz="1150" dirty="0"/>
          </a:p>
        </p:txBody>
      </p:sp>
      <p:pic>
        <p:nvPicPr>
          <p:cNvPr id="6" name="Image 1" descr="/tmp/claude-0/-home-user-L-SIAMS/2182bf50-fd56-59f4-b4f8-a067e79520bc/scratchpad/slideimg/teacher-03-attendance.png">    </p:cNvPr>
          <p:cNvPicPr>
            <a:picLocks noChangeAspect="1"/>
          </p:cNvPicPr>
          <p:nvPr/>
        </p:nvPicPr>
        <p:blipFill>
          <a:blip r:embed="rId2"/>
          <a:stretch>
            <a:fillRect/>
          </a:stretch>
        </p:blipFill>
        <p:spPr>
          <a:xfrm>
            <a:off x="6263640" y="1828800"/>
            <a:ext cx="5257800" cy="3282696"/>
          </a:xfrm>
          <a:prstGeom prst="rect">
            <a:avLst/>
          </a:prstGeom>
          <a:effectLst>
            <a:outerShdw sx="100000" sy="100000" kx="0" ky="0" algn="bl" rotWithShape="0" blurRad="152400" dist="25400" dir="5400000">
              <a:srgbClr val="7C8CA0">
                <a:alpha val="30000"/>
              </a:srgbClr>
            </a:outerShdw>
          </a:effectLst>
        </p:spPr>
      </p:pic>
      <p:sp>
        <p:nvSpPr>
          <p:cNvPr id="7" name="Text 3"/>
          <p:cNvSpPr txBox="1"/>
          <p:nvPr/>
        </p:nvSpPr>
        <p:spPr>
          <a:xfrm>
            <a:off x="6263640" y="5193792"/>
            <a:ext cx="5257800" cy="292608"/>
          </a:xfrm>
          <a:prstGeom prst="rect">
            <a:avLst/>
          </a:prstGeom>
          <a:noFill/>
          <a:ln/>
        </p:spPr>
        <p:txBody>
          <a:bodyPr wrap="square" lIns="0" tIns="0" rIns="0" bIns="0" rtlCol="0" anchor="ctr"/>
          <a:lstStyle/>
          <a:p>
            <a:pPr algn="ctr" indent="0" marL="0">
              <a:buNone/>
            </a:pPr>
            <a:r>
              <a:rPr lang="en-US" sz="1150" b="1" dirty="0">
                <a:solidFill>
                  <a:srgbClr val="2E6F9E"/>
                </a:solidFill>
                <a:latin typeface="Calibri" pitchFamily="34" charset="0"/>
                <a:ea typeface="Calibri" pitchFamily="34" charset="-122"/>
                <a:cs typeface="Calibri" pitchFamily="34" charset="-120"/>
              </a:rPr>
              <a:t>Attendance for the open session</a:t>
            </a:r>
            <a:endParaRPr lang="en-US" sz="1150" dirty="0"/>
          </a:p>
        </p:txBody>
      </p:sp>
      <p:sp>
        <p:nvSpPr>
          <p:cNvPr id="9" name="Text 4"/>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0" name="Text 5"/>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When the network drops</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9FB0C4"/>
                </a:solidFill>
                <a:latin typeface="Calibri" pitchFamily="34" charset="0"/>
                <a:ea typeface="Calibri" pitchFamily="34" charset="-122"/>
                <a:cs typeface="Calibri" pitchFamily="34" charset="-120"/>
              </a:rPr>
              <a:t>What the terminal does, and what it cannot do</a:t>
            </a:r>
            <a:endParaRPr lang="en-US" sz="1400" dirty="0"/>
          </a:p>
        </p:txBody>
      </p:sp>
      <p:sp>
        <p:nvSpPr>
          <p:cNvPr id="4" name="Shape 2"/>
          <p:cNvSpPr/>
          <p:nvPr/>
        </p:nvSpPr>
        <p:spPr>
          <a:xfrm>
            <a:off x="640080" y="1874520"/>
            <a:ext cx="5257800" cy="2377440"/>
          </a:xfrm>
          <a:prstGeom prst="roundRect">
            <a:avLst>
              <a:gd name="adj" fmla="val 1923"/>
            </a:avLst>
          </a:prstGeom>
          <a:solidFill>
            <a:srgbClr val="17273D"/>
          </a:solidFill>
          <a:ln/>
          <a:effectLst>
            <a:outerShdw sx="100000" sy="100000" kx="0" ky="0" algn="bl" rotWithShape="0" blurRad="127000" dist="19050" dir="5400000">
              <a:srgbClr val="9AA9BC">
                <a:alpha val="18000"/>
              </a:srgbClr>
            </a:outerShdw>
          </a:effectLst>
        </p:spPr>
      </p:sp>
      <p:sp>
        <p:nvSpPr>
          <p:cNvPr id="5" name="Text 3"/>
          <p:cNvSpPr txBox="1"/>
          <p:nvPr/>
        </p:nvSpPr>
        <p:spPr>
          <a:xfrm>
            <a:off x="960120" y="2084832"/>
            <a:ext cx="4572000" cy="365760"/>
          </a:xfrm>
          <a:prstGeom prst="rect">
            <a:avLst/>
          </a:prstGeom>
          <a:noFill/>
          <a:ln/>
        </p:spPr>
        <p:txBody>
          <a:bodyPr wrap="square" lIns="0" tIns="0" rIns="0" bIns="0" rtlCol="0" anchor="ctr"/>
          <a:lstStyle/>
          <a:p>
            <a:pPr indent="0" marL="0">
              <a:buNone/>
            </a:pPr>
            <a:r>
              <a:rPr lang="en-US" sz="1600" b="1" dirty="0">
                <a:solidFill>
                  <a:srgbClr val="2E9E6B"/>
                </a:solidFill>
                <a:latin typeface="Calibri" pitchFamily="34" charset="0"/>
                <a:ea typeface="Calibri" pitchFamily="34" charset="-122"/>
                <a:cs typeface="Calibri" pitchFamily="34" charset="-120"/>
              </a:rPr>
              <a:t>It keeps working</a:t>
            </a:r>
            <a:endParaRPr lang="en-US" sz="1600" dirty="0"/>
          </a:p>
        </p:txBody>
      </p:sp>
      <p:sp>
        <p:nvSpPr>
          <p:cNvPr id="6" name="Text 4"/>
          <p:cNvSpPr txBox="1"/>
          <p:nvPr/>
        </p:nvSpPr>
        <p:spPr>
          <a:xfrm>
            <a:off x="960120" y="2523744"/>
            <a:ext cx="4663440" cy="155448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E9EEF5"/>
                </a:solidFill>
                <a:latin typeface="Calibri" pitchFamily="34" charset="0"/>
                <a:ea typeface="Calibri" pitchFamily="34" charset="-122"/>
                <a:cs typeface="Calibri" pitchFamily="34" charset="-120"/>
              </a:rPr>
              <a:t>40 taps held in the terminal’s memory</a:t>
            </a:r>
            <a:endParaRPr lang="en-US" sz="1250" dirty="0"/>
          </a:p>
          <a:p>
            <a:pPr marL="342900" indent="-342900">
              <a:lnSpc>
                <a:spcPts val="1700"/>
              </a:lnSpc>
              <a:spcAft>
                <a:spcPts val="800"/>
              </a:spcAft>
              <a:buSzPct val="100000"/>
              <a:buChar char="•"/>
            </a:pPr>
            <a:r>
              <a:rPr lang="en-US" sz="1250" dirty="0">
                <a:solidFill>
                  <a:srgbClr val="E9EEF5"/>
                </a:solidFill>
                <a:latin typeface="Calibri" pitchFamily="34" charset="0"/>
                <a:ea typeface="Calibri" pitchFamily="34" charset="-122"/>
                <a:cs typeface="Calibri" pitchFamily="34" charset="-120"/>
              </a:rPr>
              <a:t>Each keeps the timestamp taken at the tap</a:t>
            </a:r>
            <a:endParaRPr lang="en-US" sz="1250" dirty="0"/>
          </a:p>
          <a:p>
            <a:pPr marL="342900" indent="-342900">
              <a:lnSpc>
                <a:spcPts val="1700"/>
              </a:lnSpc>
              <a:spcAft>
                <a:spcPts val="800"/>
              </a:spcAft>
              <a:buSzPct val="100000"/>
              <a:buChar char="•"/>
            </a:pPr>
            <a:r>
              <a:rPr lang="en-US" sz="1250" dirty="0">
                <a:solidFill>
                  <a:srgbClr val="E9EEF5"/>
                </a:solidFill>
                <a:latin typeface="Calibri" pitchFamily="34" charset="0"/>
                <a:ea typeface="Calibri" pitchFamily="34" charset="-122"/>
                <a:cs typeface="Calibri" pitchFamily="34" charset="-120"/>
              </a:rPr>
              <a:t>Replayed automatically when the link returns</a:t>
            </a:r>
            <a:endParaRPr lang="en-US" sz="1250" dirty="0"/>
          </a:p>
          <a:p>
            <a:pPr marL="342900" indent="-342900">
              <a:lnSpc>
                <a:spcPts val="1700"/>
              </a:lnSpc>
              <a:spcAft>
                <a:spcPts val="800"/>
              </a:spcAft>
              <a:buSzPct val="100000"/>
              <a:buChar char="•"/>
            </a:pPr>
            <a:r>
              <a:rPr lang="en-US" sz="1250" dirty="0">
                <a:solidFill>
                  <a:srgbClr val="E9EEF5"/>
                </a:solidFill>
                <a:latin typeface="Calibri" pitchFamily="34" charset="0"/>
                <a:ea typeface="Calibri" pitchFamily="34" charset="-122"/>
                <a:cs typeface="Calibri" pitchFamily="34" charset="-120"/>
              </a:rPr>
              <a:t>Idempotency keys make a retry safe — no duplicates</a:t>
            </a:r>
            <a:endParaRPr lang="en-US" sz="1250" dirty="0"/>
          </a:p>
        </p:txBody>
      </p:sp>
      <p:sp>
        <p:nvSpPr>
          <p:cNvPr id="7" name="Shape 5"/>
          <p:cNvSpPr/>
          <p:nvPr/>
        </p:nvSpPr>
        <p:spPr>
          <a:xfrm>
            <a:off x="6263640" y="1874520"/>
            <a:ext cx="5257800" cy="2377440"/>
          </a:xfrm>
          <a:prstGeom prst="roundRect">
            <a:avLst>
              <a:gd name="adj" fmla="val 1923"/>
            </a:avLst>
          </a:prstGeom>
          <a:solidFill>
            <a:srgbClr val="3A2418"/>
          </a:solidFill>
          <a:ln/>
          <a:effectLst>
            <a:outerShdw sx="100000" sy="100000" kx="0" ky="0" algn="bl" rotWithShape="0" blurRad="127000" dist="19050" dir="5400000">
              <a:srgbClr val="9AA9BC">
                <a:alpha val="18000"/>
              </a:srgbClr>
            </a:outerShdw>
          </a:effectLst>
        </p:spPr>
      </p:sp>
      <p:sp>
        <p:nvSpPr>
          <p:cNvPr id="8" name="Text 6"/>
          <p:cNvSpPr txBox="1"/>
          <p:nvPr/>
        </p:nvSpPr>
        <p:spPr>
          <a:xfrm>
            <a:off x="6583680" y="2084832"/>
            <a:ext cx="4572000" cy="365760"/>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The limit we will not hide</a:t>
            </a:r>
            <a:endParaRPr lang="en-US" sz="1600" dirty="0"/>
          </a:p>
        </p:txBody>
      </p:sp>
      <p:sp>
        <p:nvSpPr>
          <p:cNvPr id="9" name="Text 7"/>
          <p:cNvSpPr txBox="1"/>
          <p:nvPr/>
        </p:nvSpPr>
        <p:spPr>
          <a:xfrm>
            <a:off x="6583680" y="2560320"/>
            <a:ext cx="4663440" cy="1371600"/>
          </a:xfrm>
          <a:prstGeom prst="rect">
            <a:avLst/>
          </a:prstGeom>
          <a:noFill/>
          <a:ln/>
        </p:spPr>
        <p:txBody>
          <a:bodyPr wrap="square" lIns="0" tIns="0" rIns="0" bIns="0" rtlCol="0" anchor="ctr"/>
          <a:lstStyle/>
          <a:p>
            <a:pPr indent="0" marL="0">
              <a:lnSpc>
                <a:spcPts val="1900"/>
              </a:lnSpc>
              <a:buNone/>
            </a:pPr>
            <a:r>
              <a:rPr lang="en-US" sz="1300" dirty="0">
                <a:solidFill>
                  <a:srgbClr val="F0DCC4"/>
                </a:solidFill>
                <a:latin typeface="Calibri" pitchFamily="34" charset="0"/>
                <a:ea typeface="Calibri" pitchFamily="34" charset="-122"/>
                <a:cs typeface="Calibri" pitchFamily="34" charset="-120"/>
              </a:rPr>
              <a:t>That memory survives a reset or a watchdog reboot. It does not survive a power cut. If a classroom loses power before connectivity returns, the taps held at that moment are lost.</a:t>
            </a:r>
            <a:endParaRPr lang="en-US" sz="1300" dirty="0"/>
          </a:p>
        </p:txBody>
      </p:sp>
      <p:sp>
        <p:nvSpPr>
          <p:cNvPr id="10" name="Text 8"/>
          <p:cNvSpPr txBox="1"/>
          <p:nvPr/>
        </p:nvSpPr>
        <p:spPr>
          <a:xfrm>
            <a:off x="640080" y="4617720"/>
            <a:ext cx="10911535" cy="640080"/>
          </a:xfrm>
          <a:prstGeom prst="rect">
            <a:avLst/>
          </a:prstGeom>
          <a:noFill/>
          <a:ln/>
        </p:spPr>
        <p:txBody>
          <a:bodyPr wrap="square" lIns="0" tIns="0" rIns="0" bIns="0" rtlCol="0" anchor="ctr"/>
          <a:lstStyle/>
          <a:p>
            <a:pPr indent="0" marL="0">
              <a:lnSpc>
                <a:spcPts val="1900"/>
              </a:lnSpc>
              <a:buNone/>
            </a:pPr>
            <a:r>
              <a:rPr lang="en-US" sz="1350" i="1" dirty="0">
                <a:solidFill>
                  <a:srgbClr val="E9EEF5"/>
                </a:solidFill>
                <a:latin typeface="Calibri" pitchFamily="34" charset="0"/>
                <a:ea typeface="Calibri" pitchFamily="34" charset="-122"/>
                <a:cs typeface="Calibri" pitchFamily="34" charset="-120"/>
              </a:rPr>
              <a:t>We state this in the manuscript rather than leaving it to be found. An overstated reliability claim that fails under questioning costs more than a declared limitation.</a:t>
            </a:r>
            <a:endParaRPr lang="en-US" sz="1350" dirty="0"/>
          </a:p>
        </p:txBody>
      </p:sp>
      <p:sp>
        <p:nvSpPr>
          <p:cNvPr id="12" name="Text 9"/>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3" name="Text 10"/>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Where the study stands</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We are presenting a built system, not evaluation results</a:t>
            </a:r>
            <a:endParaRPr lang="en-US" sz="1400" dirty="0"/>
          </a:p>
        </p:txBody>
      </p:sp>
      <p:sp>
        <p:nvSpPr>
          <p:cNvPr id="4" name="Shape 2"/>
          <p:cNvSpPr/>
          <p:nvPr/>
        </p:nvSpPr>
        <p:spPr>
          <a:xfrm>
            <a:off x="640080" y="1828800"/>
            <a:ext cx="5257800" cy="3200400"/>
          </a:xfrm>
          <a:prstGeom prst="roundRect">
            <a:avLst>
              <a:gd name="adj" fmla="val 1429"/>
            </a:avLst>
          </a:prstGeom>
          <a:solidFill>
            <a:srgbClr val="FFFFFF"/>
          </a:solidFill>
          <a:ln/>
          <a:effectLst>
            <a:outerShdw sx="100000" sy="100000" kx="0" ky="0" algn="bl" rotWithShape="0" blurRad="127000" dist="19050" dir="5400000">
              <a:srgbClr val="9AA9BC">
                <a:alpha val="18000"/>
              </a:srgbClr>
            </a:outerShdw>
          </a:effectLst>
        </p:spPr>
      </p:sp>
      <p:sp>
        <p:nvSpPr>
          <p:cNvPr id="5" name="Shape 3"/>
          <p:cNvSpPr/>
          <p:nvPr/>
        </p:nvSpPr>
        <p:spPr>
          <a:xfrm>
            <a:off x="932688" y="2084832"/>
            <a:ext cx="201168" cy="201168"/>
          </a:xfrm>
          <a:prstGeom prst="roundRect">
            <a:avLst>
              <a:gd name="adj" fmla="val 22727"/>
            </a:avLst>
          </a:prstGeom>
          <a:solidFill>
            <a:srgbClr val="2E9E6B"/>
          </a:solidFill>
          <a:ln/>
        </p:spPr>
      </p:sp>
      <p:sp>
        <p:nvSpPr>
          <p:cNvPr id="6" name="Text 4"/>
          <p:cNvSpPr txBox="1"/>
          <p:nvPr/>
        </p:nvSpPr>
        <p:spPr>
          <a:xfrm>
            <a:off x="1243584" y="1993392"/>
            <a:ext cx="4389120" cy="365760"/>
          </a:xfrm>
          <a:prstGeom prst="rect">
            <a:avLst/>
          </a:prstGeom>
          <a:noFill/>
          <a:ln/>
        </p:spPr>
        <p:txBody>
          <a:bodyPr wrap="square" lIns="0" tIns="0" rIns="0" bIns="0" rtlCol="0" anchor="ctr"/>
          <a:lstStyle/>
          <a:p>
            <a:pPr indent="0" marL="0">
              <a:buNone/>
            </a:pPr>
            <a:r>
              <a:rPr lang="en-US" sz="1700" b="1" dirty="0">
                <a:solidFill>
                  <a:srgbClr val="2E9E6B"/>
                </a:solidFill>
                <a:latin typeface="Cambria" pitchFamily="34" charset="0"/>
                <a:ea typeface="Cambria" pitchFamily="34" charset="-122"/>
                <a:cs typeface="Cambria" pitchFamily="34" charset="-120"/>
              </a:rPr>
              <a:t>Completed</a:t>
            </a:r>
            <a:endParaRPr lang="en-US" sz="1700" dirty="0"/>
          </a:p>
        </p:txBody>
      </p:sp>
      <p:sp>
        <p:nvSpPr>
          <p:cNvPr id="7" name="Text 5"/>
          <p:cNvSpPr txBox="1"/>
          <p:nvPr/>
        </p:nvSpPr>
        <p:spPr>
          <a:xfrm>
            <a:off x="1024128" y="2514600"/>
            <a:ext cx="4617720" cy="2331720"/>
          </a:xfrm>
          <a:prstGeom prst="rect">
            <a:avLst/>
          </a:prstGeom>
          <a:noFill/>
          <a:ln/>
        </p:spPr>
        <p:txBody>
          <a:bodyPr wrap="square" lIns="0" tIns="0" rIns="0" bIns="0" rtlCol="0" anchor="ctr"/>
          <a:lstStyle/>
          <a:p>
            <a:pPr marL="342900" indent="-342900">
              <a:lnSpc>
                <a:spcPts val="1700"/>
              </a:lnSpc>
              <a:spcAft>
                <a:spcPts val="1000"/>
              </a:spcAft>
              <a:buSzPct val="100000"/>
              <a:buChar char="•"/>
            </a:pPr>
            <a:r>
              <a:rPr lang="en-US" sz="1250" dirty="0">
                <a:solidFill>
                  <a:srgbClr val="16202E"/>
                </a:solidFill>
                <a:latin typeface="Calibri" pitchFamily="34" charset="0"/>
                <a:ea typeface="Calibri" pitchFamily="34" charset="-122"/>
                <a:cs typeface="Calibri" pitchFamily="34" charset="-120"/>
              </a:rPr>
              <a:t>Requirement analysis and system design</a:t>
            </a:r>
            <a:endParaRPr lang="en-US" sz="1250" dirty="0"/>
          </a:p>
          <a:p>
            <a:pPr marL="342900" indent="-342900">
              <a:lnSpc>
                <a:spcPts val="1700"/>
              </a:lnSpc>
              <a:spcAft>
                <a:spcPts val="1000"/>
              </a:spcAft>
              <a:buSzPct val="100000"/>
              <a:buChar char="•"/>
            </a:pPr>
            <a:r>
              <a:rPr lang="en-US" sz="1250" dirty="0">
                <a:solidFill>
                  <a:srgbClr val="16202E"/>
                </a:solidFill>
                <a:latin typeface="Calibri" pitchFamily="34" charset="0"/>
                <a:ea typeface="Calibri" pitchFamily="34" charset="-122"/>
                <a:cs typeface="Calibri" pitchFamily="34" charset="-120"/>
              </a:rPr>
              <a:t>Full implementation — hardware, application, database</a:t>
            </a:r>
            <a:endParaRPr lang="en-US" sz="1250" dirty="0"/>
          </a:p>
          <a:p>
            <a:pPr marL="342900" indent="-342900">
              <a:lnSpc>
                <a:spcPts val="1700"/>
              </a:lnSpc>
              <a:spcAft>
                <a:spcPts val="1000"/>
              </a:spcAft>
              <a:buSzPct val="100000"/>
              <a:buChar char="•"/>
            </a:pPr>
            <a:r>
              <a:rPr lang="en-US" sz="1250" dirty="0">
                <a:solidFill>
                  <a:srgbClr val="16202E"/>
                </a:solidFill>
                <a:latin typeface="Calibri" pitchFamily="34" charset="0"/>
                <a:ea typeface="Calibri" pitchFamily="34" charset="-122"/>
                <a:cs typeface="Calibri" pitchFamily="34" charset="-120"/>
              </a:rPr>
              <a:t>All security mechanisms in Chapter IV</a:t>
            </a:r>
            <a:endParaRPr lang="en-US" sz="1250" dirty="0"/>
          </a:p>
          <a:p>
            <a:pPr marL="342900" indent="-342900">
              <a:lnSpc>
                <a:spcPts val="1700"/>
              </a:lnSpc>
              <a:spcAft>
                <a:spcPts val="1000"/>
              </a:spcAft>
              <a:buSzPct val="100000"/>
              <a:buChar char="•"/>
            </a:pPr>
            <a:r>
              <a:rPr lang="en-US" sz="1250" dirty="0">
                <a:solidFill>
                  <a:srgbClr val="16202E"/>
                </a:solidFill>
                <a:latin typeface="Calibri" pitchFamily="34" charset="0"/>
                <a:ea typeface="Calibri" pitchFamily="34" charset="-122"/>
                <a:cs typeface="Calibri" pitchFamily="34" charset="-120"/>
              </a:rPr>
              <a:t>Development-time verification: TLS suite, 40 assertions passed</a:t>
            </a:r>
            <a:endParaRPr lang="en-US" sz="1250" dirty="0"/>
          </a:p>
          <a:p>
            <a:pPr marL="342900" indent="-342900">
              <a:lnSpc>
                <a:spcPts val="1700"/>
              </a:lnSpc>
              <a:spcAft>
                <a:spcPts val="1000"/>
              </a:spcAft>
              <a:buSzPct val="100000"/>
              <a:buChar char="•"/>
            </a:pPr>
            <a:r>
              <a:rPr lang="en-US" sz="1250" dirty="0">
                <a:solidFill>
                  <a:srgbClr val="16202E"/>
                </a:solidFill>
                <a:latin typeface="Calibri" pitchFamily="34" charset="0"/>
                <a:ea typeface="Calibri" pitchFamily="34" charset="-122"/>
                <a:cs typeface="Calibri" pitchFamily="34" charset="-120"/>
              </a:rPr>
              <a:t>Concurrency and correctness suite written</a:t>
            </a:r>
            <a:endParaRPr lang="en-US" sz="1250" dirty="0"/>
          </a:p>
        </p:txBody>
      </p:sp>
      <p:sp>
        <p:nvSpPr>
          <p:cNvPr id="8" name="Shape 6"/>
          <p:cNvSpPr/>
          <p:nvPr/>
        </p:nvSpPr>
        <p:spPr>
          <a:xfrm>
            <a:off x="6263640" y="1828800"/>
            <a:ext cx="5257800" cy="3200400"/>
          </a:xfrm>
          <a:prstGeom prst="roundRect">
            <a:avLst>
              <a:gd name="adj" fmla="val 1429"/>
            </a:avLst>
          </a:prstGeom>
          <a:solidFill>
            <a:srgbClr val="FFFFFF"/>
          </a:solidFill>
          <a:ln/>
          <a:effectLst>
            <a:outerShdw sx="100000" sy="100000" kx="0" ky="0" algn="bl" rotWithShape="0" blurRad="127000" dist="19050" dir="5400000">
              <a:srgbClr val="9AA9BC">
                <a:alpha val="18000"/>
              </a:srgbClr>
            </a:outerShdw>
          </a:effectLst>
        </p:spPr>
      </p:sp>
      <p:sp>
        <p:nvSpPr>
          <p:cNvPr id="9" name="Shape 7"/>
          <p:cNvSpPr/>
          <p:nvPr/>
        </p:nvSpPr>
        <p:spPr>
          <a:xfrm>
            <a:off x="6556248" y="2084832"/>
            <a:ext cx="201168" cy="201168"/>
          </a:xfrm>
          <a:prstGeom prst="roundRect">
            <a:avLst>
              <a:gd name="adj" fmla="val 22727"/>
            </a:avLst>
          </a:prstGeom>
          <a:solidFill>
            <a:srgbClr val="E8A33D"/>
          </a:solidFill>
          <a:ln/>
        </p:spPr>
      </p:sp>
      <p:sp>
        <p:nvSpPr>
          <p:cNvPr id="10" name="Text 8"/>
          <p:cNvSpPr txBox="1"/>
          <p:nvPr/>
        </p:nvSpPr>
        <p:spPr>
          <a:xfrm>
            <a:off x="6867144" y="1993392"/>
            <a:ext cx="4389120" cy="365760"/>
          </a:xfrm>
          <a:prstGeom prst="rect">
            <a:avLst/>
          </a:prstGeom>
          <a:noFill/>
          <a:ln/>
        </p:spPr>
        <p:txBody>
          <a:bodyPr wrap="square" lIns="0" tIns="0" rIns="0" bIns="0" rtlCol="0" anchor="ctr"/>
          <a:lstStyle/>
          <a:p>
            <a:pPr indent="0" marL="0">
              <a:buNone/>
            </a:pPr>
            <a:r>
              <a:rPr lang="en-US" sz="1700" b="1" dirty="0">
                <a:solidFill>
                  <a:srgbClr val="E8A33D"/>
                </a:solidFill>
                <a:latin typeface="Cambria" pitchFamily="34" charset="0"/>
                <a:ea typeface="Cambria" pitchFamily="34" charset="-122"/>
                <a:cs typeface="Cambria" pitchFamily="34" charset="-120"/>
              </a:rPr>
              <a:t>Still ahead</a:t>
            </a:r>
            <a:endParaRPr lang="en-US" sz="1700" dirty="0"/>
          </a:p>
        </p:txBody>
      </p:sp>
      <p:sp>
        <p:nvSpPr>
          <p:cNvPr id="11" name="Text 9"/>
          <p:cNvSpPr txBox="1"/>
          <p:nvPr/>
        </p:nvSpPr>
        <p:spPr>
          <a:xfrm>
            <a:off x="6647688" y="2514600"/>
            <a:ext cx="4617720" cy="2331720"/>
          </a:xfrm>
          <a:prstGeom prst="rect">
            <a:avLst/>
          </a:prstGeom>
          <a:noFill/>
          <a:ln/>
        </p:spPr>
        <p:txBody>
          <a:bodyPr wrap="square" lIns="0" tIns="0" rIns="0" bIns="0" rtlCol="0" anchor="ctr"/>
          <a:lstStyle/>
          <a:p>
            <a:pPr marL="342900" indent="-342900">
              <a:lnSpc>
                <a:spcPts val="1700"/>
              </a:lnSpc>
              <a:spcAft>
                <a:spcPts val="1000"/>
              </a:spcAft>
              <a:buSzPct val="100000"/>
              <a:buChar char="•"/>
            </a:pPr>
            <a:r>
              <a:rPr lang="en-US" sz="1250" dirty="0">
                <a:solidFill>
                  <a:srgbClr val="16202E"/>
                </a:solidFill>
                <a:latin typeface="Calibri" pitchFamily="34" charset="0"/>
                <a:ea typeface="Calibri" pitchFamily="34" charset="-122"/>
                <a:cs typeface="Calibri" pitchFamily="34" charset="-120"/>
              </a:rPr>
              <a:t>Deployment in selected classrooms at TAPS</a:t>
            </a:r>
            <a:endParaRPr lang="en-US" sz="1250" dirty="0"/>
          </a:p>
          <a:p>
            <a:pPr marL="342900" indent="-342900">
              <a:lnSpc>
                <a:spcPts val="1700"/>
              </a:lnSpc>
              <a:spcAft>
                <a:spcPts val="1000"/>
              </a:spcAft>
              <a:buSzPct val="100000"/>
              <a:buChar char="•"/>
            </a:pPr>
            <a:r>
              <a:rPr lang="en-US" sz="1250" dirty="0">
                <a:solidFill>
                  <a:srgbClr val="16202E"/>
                </a:solidFill>
                <a:latin typeface="Calibri" pitchFamily="34" charset="0"/>
                <a:ea typeface="Calibri" pitchFamily="34" charset="-122"/>
                <a:cs typeface="Calibri" pitchFamily="34" charset="-120"/>
              </a:rPr>
              <a:t>Timing and accuracy against manual roll call</a:t>
            </a:r>
            <a:endParaRPr lang="en-US" sz="1250" dirty="0"/>
          </a:p>
          <a:p>
            <a:pPr marL="342900" indent="-342900">
              <a:lnSpc>
                <a:spcPts val="1700"/>
              </a:lnSpc>
              <a:spcAft>
                <a:spcPts val="1000"/>
              </a:spcAft>
              <a:buSzPct val="100000"/>
              <a:buChar char="•"/>
            </a:pPr>
            <a:r>
              <a:rPr lang="en-US" sz="1250" dirty="0">
                <a:solidFill>
                  <a:srgbClr val="16202E"/>
                </a:solidFill>
                <a:latin typeface="Calibri" pitchFamily="34" charset="0"/>
                <a:ea typeface="Calibri" pitchFamily="34" charset="-122"/>
                <a:cs typeface="Calibri" pitchFamily="34" charset="-120"/>
              </a:rPr>
              <a:t>Security testing with Wireshark, Nmap, Metasploit</a:t>
            </a:r>
            <a:endParaRPr lang="en-US" sz="1250" dirty="0"/>
          </a:p>
          <a:p>
            <a:pPr marL="342900" indent="-342900">
              <a:lnSpc>
                <a:spcPts val="1700"/>
              </a:lnSpc>
              <a:spcAft>
                <a:spcPts val="1000"/>
              </a:spcAft>
              <a:buSzPct val="100000"/>
              <a:buChar char="•"/>
            </a:pPr>
            <a:r>
              <a:rPr lang="en-US" sz="1250" dirty="0">
                <a:solidFill>
                  <a:srgbClr val="16202E"/>
                </a:solidFill>
                <a:latin typeface="Calibri" pitchFamily="34" charset="0"/>
                <a:ea typeface="Calibri" pitchFamily="34" charset="-122"/>
                <a:cs typeface="Calibri" pitchFamily="34" charset="-120"/>
              </a:rPr>
              <a:t>SUS and TAM surveys — 41 participants</a:t>
            </a:r>
            <a:endParaRPr lang="en-US" sz="1250" dirty="0"/>
          </a:p>
          <a:p>
            <a:pPr marL="342900" indent="-342900">
              <a:lnSpc>
                <a:spcPts val="1700"/>
              </a:lnSpc>
              <a:spcAft>
                <a:spcPts val="1000"/>
              </a:spcAft>
              <a:buSzPct val="100000"/>
              <a:buChar char="•"/>
            </a:pPr>
            <a:r>
              <a:rPr lang="en-US" sz="1250" dirty="0">
                <a:solidFill>
                  <a:srgbClr val="16202E"/>
                </a:solidFill>
                <a:latin typeface="Calibri" pitchFamily="34" charset="0"/>
                <a:ea typeface="Calibri" pitchFamily="34" charset="-122"/>
                <a:cs typeface="Calibri" pitchFamily="34" charset="-120"/>
              </a:rPr>
              <a:t>Paired t-test on processing time, accuracy, efficiency</a:t>
            </a:r>
            <a:endParaRPr lang="en-US" sz="1250" dirty="0"/>
          </a:p>
        </p:txBody>
      </p:sp>
      <p:sp>
        <p:nvSpPr>
          <p:cNvPr id="13" name="Text 10"/>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14" name="Text 11"/>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5F9"/>
        </a:solidFill>
      </p:bgPr>
    </p:bg>
    <p:spTree>
      <p:nvGrpSpPr>
        <p:cNvPr id="1" name=""/>
        <p:cNvGrpSpPr/>
        <p:nvPr/>
      </p:nvGrpSpPr>
      <p:grpSpPr>
        <a:xfrm>
          <a:off x="0" y="0"/>
          <a:ext cx="0" cy="0"/>
          <a:chOff x="0" y="0"/>
          <a:chExt cx="0" cy="0"/>
        </a:xfrm>
      </p:grpSpPr>
      <p:sp>
        <p:nvSpPr>
          <p:cNvPr id="2" name="Text 0"/>
          <p:cNvSpPr txBox="1"/>
          <p:nvPr/>
        </p:nvSpPr>
        <p:spPr>
          <a:xfrm>
            <a:off x="640080" y="420624"/>
            <a:ext cx="10911535" cy="640080"/>
          </a:xfrm>
          <a:prstGeom prst="rect">
            <a:avLst/>
          </a:prstGeom>
          <a:noFill/>
          <a:ln/>
        </p:spPr>
        <p:txBody>
          <a:bodyPr wrap="square" lIns="0" tIns="0" rIns="0" bIns="0" rtlCol="0" anchor="ctr"/>
          <a:lstStyle/>
          <a:p>
            <a:pPr indent="0" marL="0">
              <a:buNone/>
            </a:pPr>
            <a:r>
              <a:rPr lang="en-US" sz="3200" b="1" dirty="0">
                <a:solidFill>
                  <a:srgbClr val="16202E"/>
                </a:solidFill>
                <a:latin typeface="Cambria" pitchFamily="34" charset="0"/>
                <a:ea typeface="Cambria" pitchFamily="34" charset="-122"/>
                <a:cs typeface="Cambria" pitchFamily="34" charset="-120"/>
              </a:rPr>
              <a:t>How we will judge it</a:t>
            </a:r>
            <a:endParaRPr lang="en-US" sz="3200" dirty="0"/>
          </a:p>
        </p:txBody>
      </p:sp>
      <p:sp>
        <p:nvSpPr>
          <p:cNvPr id="3" name="Text 1"/>
          <p:cNvSpPr txBox="1"/>
          <p:nvPr/>
        </p:nvSpPr>
        <p:spPr>
          <a:xfrm>
            <a:off x="640080" y="1060704"/>
            <a:ext cx="10911535" cy="329184"/>
          </a:xfrm>
          <a:prstGeom prst="rect">
            <a:avLst/>
          </a:prstGeom>
          <a:noFill/>
          <a:ln/>
        </p:spPr>
        <p:txBody>
          <a:bodyPr wrap="square" lIns="0" tIns="0" rIns="0" bIns="0" rtlCol="0" anchor="ctr"/>
          <a:lstStyle/>
          <a:p>
            <a:pPr indent="0" marL="0">
              <a:buNone/>
            </a:pPr>
            <a:r>
              <a:rPr lang="en-US" sz="1400" dirty="0">
                <a:solidFill>
                  <a:srgbClr val="6B7A8D"/>
                </a:solidFill>
                <a:latin typeface="Calibri" pitchFamily="34" charset="0"/>
                <a:ea typeface="Calibri" pitchFamily="34" charset="-122"/>
                <a:cs typeface="Calibri" pitchFamily="34" charset="-120"/>
              </a:rPr>
              <a:t>Thresholds fixed in advance, so the result is not decided after the fact</a:t>
            </a:r>
            <a:endParaRPr lang="en-US" sz="1400" dirty="0"/>
          </a:p>
        </p:txBody>
      </p:sp>
      <p:sp>
        <p:nvSpPr>
          <p:cNvPr id="4" name="Shape 2"/>
          <p:cNvSpPr/>
          <p:nvPr/>
        </p:nvSpPr>
        <p:spPr>
          <a:xfrm>
            <a:off x="640080" y="1828800"/>
            <a:ext cx="5257800" cy="603504"/>
          </a:xfrm>
          <a:prstGeom prst="roundRect">
            <a:avLst>
              <a:gd name="adj" fmla="val 6061"/>
            </a:avLst>
          </a:prstGeom>
          <a:solidFill>
            <a:srgbClr val="FFFFFF"/>
          </a:solidFill>
          <a:ln/>
        </p:spPr>
      </p:sp>
      <p:sp>
        <p:nvSpPr>
          <p:cNvPr id="5" name="Text 3"/>
          <p:cNvSpPr txBox="1"/>
          <p:nvPr/>
        </p:nvSpPr>
        <p:spPr>
          <a:xfrm>
            <a:off x="896112" y="1828800"/>
            <a:ext cx="1691640" cy="603504"/>
          </a:xfrm>
          <a:prstGeom prst="rect">
            <a:avLst/>
          </a:prstGeom>
          <a:noFill/>
          <a:ln/>
        </p:spPr>
        <p:txBody>
          <a:bodyPr wrap="square" lIns="0" tIns="0" rIns="0" bIns="0" rtlCol="0" anchor="ctr"/>
          <a:lstStyle/>
          <a:p>
            <a:pPr indent="0" marL="0">
              <a:buNone/>
            </a:pPr>
            <a:r>
              <a:rPr lang="en-US" sz="1250" b="1" dirty="0">
                <a:solidFill>
                  <a:srgbClr val="0E1A2B"/>
                </a:solidFill>
                <a:latin typeface="Calibri" pitchFamily="34" charset="0"/>
                <a:ea typeface="Calibri" pitchFamily="34" charset="-122"/>
                <a:cs typeface="Calibri" pitchFamily="34" charset="-120"/>
              </a:rPr>
              <a:t>Usability</a:t>
            </a:r>
            <a:endParaRPr lang="en-US" sz="1250" dirty="0"/>
          </a:p>
        </p:txBody>
      </p:sp>
      <p:sp>
        <p:nvSpPr>
          <p:cNvPr id="6" name="Text 4"/>
          <p:cNvSpPr txBox="1"/>
          <p:nvPr/>
        </p:nvSpPr>
        <p:spPr>
          <a:xfrm>
            <a:off x="2606040" y="1828800"/>
            <a:ext cx="1828800" cy="603504"/>
          </a:xfrm>
          <a:prstGeom prst="rect">
            <a:avLst/>
          </a:prstGeom>
          <a:noFill/>
          <a:ln/>
        </p:spPr>
        <p:txBody>
          <a:bodyPr wrap="square" lIns="0" tIns="0" rIns="0" bIns="0" rtlCol="0" anchor="ctr"/>
          <a:lstStyle/>
          <a:p>
            <a:pPr indent="0" marL="0">
              <a:buNone/>
            </a:pPr>
            <a:r>
              <a:rPr lang="en-US" sz="1150" dirty="0">
                <a:solidFill>
                  <a:srgbClr val="6B7A8D"/>
                </a:solidFill>
                <a:latin typeface="Calibri" pitchFamily="34" charset="0"/>
                <a:ea typeface="Calibri" pitchFamily="34" charset="-122"/>
                <a:cs typeface="Calibri" pitchFamily="34" charset="-120"/>
              </a:rPr>
              <a:t>SUS score</a:t>
            </a:r>
            <a:endParaRPr lang="en-US" sz="1150" dirty="0"/>
          </a:p>
        </p:txBody>
      </p:sp>
      <p:sp>
        <p:nvSpPr>
          <p:cNvPr id="7" name="Text 5"/>
          <p:cNvSpPr txBox="1"/>
          <p:nvPr/>
        </p:nvSpPr>
        <p:spPr>
          <a:xfrm>
            <a:off x="4434840" y="1828800"/>
            <a:ext cx="1325880" cy="603504"/>
          </a:xfrm>
          <a:prstGeom prst="rect">
            <a:avLst/>
          </a:prstGeom>
          <a:noFill/>
          <a:ln/>
        </p:spPr>
        <p:txBody>
          <a:bodyPr wrap="square" lIns="0" tIns="0" rIns="0" bIns="0" rtlCol="0" anchor="ctr"/>
          <a:lstStyle/>
          <a:p>
            <a:pPr algn="r" indent="0" marL="0">
              <a:buNone/>
            </a:pPr>
            <a:r>
              <a:rPr lang="en-US" sz="1200" b="1" dirty="0">
                <a:solidFill>
                  <a:srgbClr val="2E6F9E"/>
                </a:solidFill>
                <a:latin typeface="Calibri" pitchFamily="34" charset="0"/>
                <a:ea typeface="Calibri" pitchFamily="34" charset="-122"/>
                <a:cs typeface="Calibri" pitchFamily="34" charset="-120"/>
              </a:rPr>
              <a:t>≥ 70</a:t>
            </a:r>
            <a:endParaRPr lang="en-US" sz="1200" dirty="0"/>
          </a:p>
        </p:txBody>
      </p:sp>
      <p:sp>
        <p:nvSpPr>
          <p:cNvPr id="8" name="Shape 6"/>
          <p:cNvSpPr/>
          <p:nvPr/>
        </p:nvSpPr>
        <p:spPr>
          <a:xfrm>
            <a:off x="6263640" y="1828800"/>
            <a:ext cx="5257800" cy="603504"/>
          </a:xfrm>
          <a:prstGeom prst="roundRect">
            <a:avLst>
              <a:gd name="adj" fmla="val 6061"/>
            </a:avLst>
          </a:prstGeom>
          <a:solidFill>
            <a:srgbClr val="FFFFFF"/>
          </a:solidFill>
          <a:ln/>
        </p:spPr>
      </p:sp>
      <p:sp>
        <p:nvSpPr>
          <p:cNvPr id="9" name="Text 7"/>
          <p:cNvSpPr txBox="1"/>
          <p:nvPr/>
        </p:nvSpPr>
        <p:spPr>
          <a:xfrm>
            <a:off x="6519672" y="1828800"/>
            <a:ext cx="1691640" cy="603504"/>
          </a:xfrm>
          <a:prstGeom prst="rect">
            <a:avLst/>
          </a:prstGeom>
          <a:noFill/>
          <a:ln/>
        </p:spPr>
        <p:txBody>
          <a:bodyPr wrap="square" lIns="0" tIns="0" rIns="0" bIns="0" rtlCol="0" anchor="ctr"/>
          <a:lstStyle/>
          <a:p>
            <a:pPr indent="0" marL="0">
              <a:buNone/>
            </a:pPr>
            <a:r>
              <a:rPr lang="en-US" sz="1250" b="1" dirty="0">
                <a:solidFill>
                  <a:srgbClr val="0E1A2B"/>
                </a:solidFill>
                <a:latin typeface="Calibri" pitchFamily="34" charset="0"/>
                <a:ea typeface="Calibri" pitchFamily="34" charset="-122"/>
                <a:cs typeface="Calibri" pitchFamily="34" charset="-120"/>
              </a:rPr>
              <a:t>Acceptance</a:t>
            </a:r>
            <a:endParaRPr lang="en-US" sz="1250" dirty="0"/>
          </a:p>
        </p:txBody>
      </p:sp>
      <p:sp>
        <p:nvSpPr>
          <p:cNvPr id="10" name="Text 8"/>
          <p:cNvSpPr txBox="1"/>
          <p:nvPr/>
        </p:nvSpPr>
        <p:spPr>
          <a:xfrm>
            <a:off x="8229600" y="1828800"/>
            <a:ext cx="1828800" cy="603504"/>
          </a:xfrm>
          <a:prstGeom prst="rect">
            <a:avLst/>
          </a:prstGeom>
          <a:noFill/>
          <a:ln/>
        </p:spPr>
        <p:txBody>
          <a:bodyPr wrap="square" lIns="0" tIns="0" rIns="0" bIns="0" rtlCol="0" anchor="ctr"/>
          <a:lstStyle/>
          <a:p>
            <a:pPr indent="0" marL="0">
              <a:buNone/>
            </a:pPr>
            <a:r>
              <a:rPr lang="en-US" sz="1150" dirty="0">
                <a:solidFill>
                  <a:srgbClr val="6B7A8D"/>
                </a:solidFill>
                <a:latin typeface="Calibri" pitchFamily="34" charset="0"/>
                <a:ea typeface="Calibri" pitchFamily="34" charset="-122"/>
                <a:cs typeface="Calibri" pitchFamily="34" charset="-120"/>
              </a:rPr>
              <a:t>TAM, Likert</a:t>
            </a:r>
            <a:endParaRPr lang="en-US" sz="1150" dirty="0"/>
          </a:p>
        </p:txBody>
      </p:sp>
      <p:sp>
        <p:nvSpPr>
          <p:cNvPr id="11" name="Text 9"/>
          <p:cNvSpPr txBox="1"/>
          <p:nvPr/>
        </p:nvSpPr>
        <p:spPr>
          <a:xfrm>
            <a:off x="10058400" y="1828800"/>
            <a:ext cx="1325880" cy="603504"/>
          </a:xfrm>
          <a:prstGeom prst="rect">
            <a:avLst/>
          </a:prstGeom>
          <a:noFill/>
          <a:ln/>
        </p:spPr>
        <p:txBody>
          <a:bodyPr wrap="square" lIns="0" tIns="0" rIns="0" bIns="0" rtlCol="0" anchor="ctr"/>
          <a:lstStyle/>
          <a:p>
            <a:pPr algn="r" indent="0" marL="0">
              <a:buNone/>
            </a:pPr>
            <a:r>
              <a:rPr lang="en-US" sz="1200" b="1" dirty="0">
                <a:solidFill>
                  <a:srgbClr val="2E6F9E"/>
                </a:solidFill>
                <a:latin typeface="Calibri" pitchFamily="34" charset="0"/>
                <a:ea typeface="Calibri" pitchFamily="34" charset="-122"/>
                <a:cs typeface="Calibri" pitchFamily="34" charset="-120"/>
              </a:rPr>
              <a:t>Mean ≥ 3.0</a:t>
            </a:r>
            <a:endParaRPr lang="en-US" sz="1200" dirty="0"/>
          </a:p>
        </p:txBody>
      </p:sp>
      <p:sp>
        <p:nvSpPr>
          <p:cNvPr id="12" name="Shape 10"/>
          <p:cNvSpPr/>
          <p:nvPr/>
        </p:nvSpPr>
        <p:spPr>
          <a:xfrm>
            <a:off x="640080" y="2542032"/>
            <a:ext cx="5257800" cy="603504"/>
          </a:xfrm>
          <a:prstGeom prst="roundRect">
            <a:avLst>
              <a:gd name="adj" fmla="val 6061"/>
            </a:avLst>
          </a:prstGeom>
          <a:solidFill>
            <a:srgbClr val="FFFFFF"/>
          </a:solidFill>
          <a:ln/>
        </p:spPr>
      </p:sp>
      <p:sp>
        <p:nvSpPr>
          <p:cNvPr id="13" name="Text 11"/>
          <p:cNvSpPr txBox="1"/>
          <p:nvPr/>
        </p:nvSpPr>
        <p:spPr>
          <a:xfrm>
            <a:off x="896112" y="2542032"/>
            <a:ext cx="1691640" cy="603504"/>
          </a:xfrm>
          <a:prstGeom prst="rect">
            <a:avLst/>
          </a:prstGeom>
          <a:noFill/>
          <a:ln/>
        </p:spPr>
        <p:txBody>
          <a:bodyPr wrap="square" lIns="0" tIns="0" rIns="0" bIns="0" rtlCol="0" anchor="ctr"/>
          <a:lstStyle/>
          <a:p>
            <a:pPr indent="0" marL="0">
              <a:buNone/>
            </a:pPr>
            <a:r>
              <a:rPr lang="en-US" sz="1250" b="1" dirty="0">
                <a:solidFill>
                  <a:srgbClr val="0E1A2B"/>
                </a:solidFill>
                <a:latin typeface="Calibri" pitchFamily="34" charset="0"/>
                <a:ea typeface="Calibri" pitchFamily="34" charset="-122"/>
                <a:cs typeface="Calibri" pitchFamily="34" charset="-120"/>
              </a:rPr>
              <a:t>Performance</a:t>
            </a:r>
            <a:endParaRPr lang="en-US" sz="1250" dirty="0"/>
          </a:p>
        </p:txBody>
      </p:sp>
      <p:sp>
        <p:nvSpPr>
          <p:cNvPr id="14" name="Text 12"/>
          <p:cNvSpPr txBox="1"/>
          <p:nvPr/>
        </p:nvSpPr>
        <p:spPr>
          <a:xfrm>
            <a:off x="2606040" y="2542032"/>
            <a:ext cx="1828800" cy="603504"/>
          </a:xfrm>
          <a:prstGeom prst="rect">
            <a:avLst/>
          </a:prstGeom>
          <a:noFill/>
          <a:ln/>
        </p:spPr>
        <p:txBody>
          <a:bodyPr wrap="square" lIns="0" tIns="0" rIns="0" bIns="0" rtlCol="0" anchor="ctr"/>
          <a:lstStyle/>
          <a:p>
            <a:pPr indent="0" marL="0">
              <a:buNone/>
            </a:pPr>
            <a:r>
              <a:rPr lang="en-US" sz="1150" dirty="0">
                <a:solidFill>
                  <a:srgbClr val="6B7A8D"/>
                </a:solidFill>
                <a:latin typeface="Calibri" pitchFamily="34" charset="0"/>
                <a:ea typeface="Calibri" pitchFamily="34" charset="-122"/>
                <a:cs typeface="Calibri" pitchFamily="34" charset="-120"/>
              </a:rPr>
              <a:t>Response time</a:t>
            </a:r>
            <a:endParaRPr lang="en-US" sz="1150" dirty="0"/>
          </a:p>
        </p:txBody>
      </p:sp>
      <p:sp>
        <p:nvSpPr>
          <p:cNvPr id="15" name="Text 13"/>
          <p:cNvSpPr txBox="1"/>
          <p:nvPr/>
        </p:nvSpPr>
        <p:spPr>
          <a:xfrm>
            <a:off x="4434840" y="2542032"/>
            <a:ext cx="1325880" cy="603504"/>
          </a:xfrm>
          <a:prstGeom prst="rect">
            <a:avLst/>
          </a:prstGeom>
          <a:noFill/>
          <a:ln/>
        </p:spPr>
        <p:txBody>
          <a:bodyPr wrap="square" lIns="0" tIns="0" rIns="0" bIns="0" rtlCol="0" anchor="ctr"/>
          <a:lstStyle/>
          <a:p>
            <a:pPr algn="r" indent="0" marL="0">
              <a:buNone/>
            </a:pPr>
            <a:r>
              <a:rPr lang="en-US" sz="1200" b="1" dirty="0">
                <a:solidFill>
                  <a:srgbClr val="2E6F9E"/>
                </a:solidFill>
                <a:latin typeface="Calibri" pitchFamily="34" charset="0"/>
                <a:ea typeface="Calibri" pitchFamily="34" charset="-122"/>
                <a:cs typeface="Calibri" pitchFamily="34" charset="-120"/>
              </a:rPr>
              <a:t>&lt; 2 seconds</a:t>
            </a:r>
            <a:endParaRPr lang="en-US" sz="1200" dirty="0"/>
          </a:p>
        </p:txBody>
      </p:sp>
      <p:sp>
        <p:nvSpPr>
          <p:cNvPr id="16" name="Shape 14"/>
          <p:cNvSpPr/>
          <p:nvPr/>
        </p:nvSpPr>
        <p:spPr>
          <a:xfrm>
            <a:off x="6263640" y="2542032"/>
            <a:ext cx="5257800" cy="603504"/>
          </a:xfrm>
          <a:prstGeom prst="roundRect">
            <a:avLst>
              <a:gd name="adj" fmla="val 6061"/>
            </a:avLst>
          </a:prstGeom>
          <a:solidFill>
            <a:srgbClr val="FFFFFF"/>
          </a:solidFill>
          <a:ln/>
        </p:spPr>
      </p:sp>
      <p:sp>
        <p:nvSpPr>
          <p:cNvPr id="17" name="Text 15"/>
          <p:cNvSpPr txBox="1"/>
          <p:nvPr/>
        </p:nvSpPr>
        <p:spPr>
          <a:xfrm>
            <a:off x="6519672" y="2542032"/>
            <a:ext cx="1691640" cy="603504"/>
          </a:xfrm>
          <a:prstGeom prst="rect">
            <a:avLst/>
          </a:prstGeom>
          <a:noFill/>
          <a:ln/>
        </p:spPr>
        <p:txBody>
          <a:bodyPr wrap="square" lIns="0" tIns="0" rIns="0" bIns="0" rtlCol="0" anchor="ctr"/>
          <a:lstStyle/>
          <a:p>
            <a:pPr indent="0" marL="0">
              <a:buNone/>
            </a:pPr>
            <a:r>
              <a:rPr lang="en-US" sz="1250" b="1" dirty="0">
                <a:solidFill>
                  <a:srgbClr val="0E1A2B"/>
                </a:solidFill>
                <a:latin typeface="Calibri" pitchFamily="34" charset="0"/>
                <a:ea typeface="Calibri" pitchFamily="34" charset="-122"/>
                <a:cs typeface="Calibri" pitchFamily="34" charset="-120"/>
              </a:rPr>
              <a:t>Accuracy</a:t>
            </a:r>
            <a:endParaRPr lang="en-US" sz="1250" dirty="0"/>
          </a:p>
        </p:txBody>
      </p:sp>
      <p:sp>
        <p:nvSpPr>
          <p:cNvPr id="18" name="Text 16"/>
          <p:cNvSpPr txBox="1"/>
          <p:nvPr/>
        </p:nvSpPr>
        <p:spPr>
          <a:xfrm>
            <a:off x="8229600" y="2542032"/>
            <a:ext cx="1828800" cy="603504"/>
          </a:xfrm>
          <a:prstGeom prst="rect">
            <a:avLst/>
          </a:prstGeom>
          <a:noFill/>
          <a:ln/>
        </p:spPr>
        <p:txBody>
          <a:bodyPr wrap="square" lIns="0" tIns="0" rIns="0" bIns="0" rtlCol="0" anchor="ctr"/>
          <a:lstStyle/>
          <a:p>
            <a:pPr indent="0" marL="0">
              <a:buNone/>
            </a:pPr>
            <a:r>
              <a:rPr lang="en-US" sz="1150" dirty="0">
                <a:solidFill>
                  <a:srgbClr val="6B7A8D"/>
                </a:solidFill>
                <a:latin typeface="Calibri" pitchFamily="34" charset="0"/>
                <a:ea typeface="Calibri" pitchFamily="34" charset="-122"/>
                <a:cs typeface="Calibri" pitchFamily="34" charset="-120"/>
              </a:rPr>
              <a:t>vs manual roll call</a:t>
            </a:r>
            <a:endParaRPr lang="en-US" sz="1150" dirty="0"/>
          </a:p>
        </p:txBody>
      </p:sp>
      <p:sp>
        <p:nvSpPr>
          <p:cNvPr id="19" name="Text 17"/>
          <p:cNvSpPr txBox="1"/>
          <p:nvPr/>
        </p:nvSpPr>
        <p:spPr>
          <a:xfrm>
            <a:off x="10058400" y="2542032"/>
            <a:ext cx="1325880" cy="603504"/>
          </a:xfrm>
          <a:prstGeom prst="rect">
            <a:avLst/>
          </a:prstGeom>
          <a:noFill/>
          <a:ln/>
        </p:spPr>
        <p:txBody>
          <a:bodyPr wrap="square" lIns="0" tIns="0" rIns="0" bIns="0" rtlCol="0" anchor="ctr"/>
          <a:lstStyle/>
          <a:p>
            <a:pPr algn="r" indent="0" marL="0">
              <a:buNone/>
            </a:pPr>
            <a:r>
              <a:rPr lang="en-US" sz="1200" b="1" dirty="0">
                <a:solidFill>
                  <a:srgbClr val="2E6F9E"/>
                </a:solidFill>
                <a:latin typeface="Calibri" pitchFamily="34" charset="0"/>
                <a:ea typeface="Calibri" pitchFamily="34" charset="-122"/>
                <a:cs typeface="Calibri" pitchFamily="34" charset="-120"/>
              </a:rPr>
              <a:t>≥ 95%</a:t>
            </a:r>
            <a:endParaRPr lang="en-US" sz="1200" dirty="0"/>
          </a:p>
        </p:txBody>
      </p:sp>
      <p:sp>
        <p:nvSpPr>
          <p:cNvPr id="20" name="Shape 18"/>
          <p:cNvSpPr/>
          <p:nvPr/>
        </p:nvSpPr>
        <p:spPr>
          <a:xfrm>
            <a:off x="640080" y="3255264"/>
            <a:ext cx="5257800" cy="603504"/>
          </a:xfrm>
          <a:prstGeom prst="roundRect">
            <a:avLst>
              <a:gd name="adj" fmla="val 6061"/>
            </a:avLst>
          </a:prstGeom>
          <a:solidFill>
            <a:srgbClr val="FFFFFF"/>
          </a:solidFill>
          <a:ln/>
        </p:spPr>
      </p:sp>
      <p:sp>
        <p:nvSpPr>
          <p:cNvPr id="21" name="Text 19"/>
          <p:cNvSpPr txBox="1"/>
          <p:nvPr/>
        </p:nvSpPr>
        <p:spPr>
          <a:xfrm>
            <a:off x="896112" y="3255264"/>
            <a:ext cx="1691640" cy="603504"/>
          </a:xfrm>
          <a:prstGeom prst="rect">
            <a:avLst/>
          </a:prstGeom>
          <a:noFill/>
          <a:ln/>
        </p:spPr>
        <p:txBody>
          <a:bodyPr wrap="square" lIns="0" tIns="0" rIns="0" bIns="0" rtlCol="0" anchor="ctr"/>
          <a:lstStyle/>
          <a:p>
            <a:pPr indent="0" marL="0">
              <a:buNone/>
            </a:pPr>
            <a:r>
              <a:rPr lang="en-US" sz="1250" b="1" dirty="0">
                <a:solidFill>
                  <a:srgbClr val="0E1A2B"/>
                </a:solidFill>
                <a:latin typeface="Calibri" pitchFamily="34" charset="0"/>
                <a:ea typeface="Calibri" pitchFamily="34" charset="-122"/>
                <a:cs typeface="Calibri" pitchFamily="34" charset="-120"/>
              </a:rPr>
              <a:t>Authentication</a:t>
            </a:r>
            <a:endParaRPr lang="en-US" sz="1250" dirty="0"/>
          </a:p>
        </p:txBody>
      </p:sp>
      <p:sp>
        <p:nvSpPr>
          <p:cNvPr id="22" name="Text 20"/>
          <p:cNvSpPr txBox="1"/>
          <p:nvPr/>
        </p:nvSpPr>
        <p:spPr>
          <a:xfrm>
            <a:off x="2606040" y="3255264"/>
            <a:ext cx="1828800" cy="603504"/>
          </a:xfrm>
          <a:prstGeom prst="rect">
            <a:avLst/>
          </a:prstGeom>
          <a:noFill/>
          <a:ln/>
        </p:spPr>
        <p:txBody>
          <a:bodyPr wrap="square" lIns="0" tIns="0" rIns="0" bIns="0" rtlCol="0" anchor="ctr"/>
          <a:lstStyle/>
          <a:p>
            <a:pPr indent="0" marL="0">
              <a:buNone/>
            </a:pPr>
            <a:r>
              <a:rPr lang="en-US" sz="1150" dirty="0">
                <a:solidFill>
                  <a:srgbClr val="6B7A8D"/>
                </a:solidFill>
                <a:latin typeface="Calibri" pitchFamily="34" charset="0"/>
                <a:ea typeface="Calibri" pitchFamily="34" charset="-122"/>
                <a:cs typeface="Calibri" pitchFamily="34" charset="-120"/>
              </a:rPr>
              <a:t>Success rate</a:t>
            </a:r>
            <a:endParaRPr lang="en-US" sz="1150" dirty="0"/>
          </a:p>
        </p:txBody>
      </p:sp>
      <p:sp>
        <p:nvSpPr>
          <p:cNvPr id="23" name="Text 21"/>
          <p:cNvSpPr txBox="1"/>
          <p:nvPr/>
        </p:nvSpPr>
        <p:spPr>
          <a:xfrm>
            <a:off x="4434840" y="3255264"/>
            <a:ext cx="1325880" cy="603504"/>
          </a:xfrm>
          <a:prstGeom prst="rect">
            <a:avLst/>
          </a:prstGeom>
          <a:noFill/>
          <a:ln/>
        </p:spPr>
        <p:txBody>
          <a:bodyPr wrap="square" lIns="0" tIns="0" rIns="0" bIns="0" rtlCol="0" anchor="ctr"/>
          <a:lstStyle/>
          <a:p>
            <a:pPr algn="r" indent="0" marL="0">
              <a:buNone/>
            </a:pPr>
            <a:r>
              <a:rPr lang="en-US" sz="1200" b="1" dirty="0">
                <a:solidFill>
                  <a:srgbClr val="2E6F9E"/>
                </a:solidFill>
                <a:latin typeface="Calibri" pitchFamily="34" charset="0"/>
                <a:ea typeface="Calibri" pitchFamily="34" charset="-122"/>
                <a:cs typeface="Calibri" pitchFamily="34" charset="-120"/>
              </a:rPr>
              <a:t>≥ 95%</a:t>
            </a:r>
            <a:endParaRPr lang="en-US" sz="1200" dirty="0"/>
          </a:p>
        </p:txBody>
      </p:sp>
      <p:sp>
        <p:nvSpPr>
          <p:cNvPr id="24" name="Shape 22"/>
          <p:cNvSpPr/>
          <p:nvPr/>
        </p:nvSpPr>
        <p:spPr>
          <a:xfrm>
            <a:off x="6263640" y="3255264"/>
            <a:ext cx="5257800" cy="603504"/>
          </a:xfrm>
          <a:prstGeom prst="roundRect">
            <a:avLst>
              <a:gd name="adj" fmla="val 6061"/>
            </a:avLst>
          </a:prstGeom>
          <a:solidFill>
            <a:srgbClr val="FFFFFF"/>
          </a:solidFill>
          <a:ln/>
        </p:spPr>
      </p:sp>
      <p:sp>
        <p:nvSpPr>
          <p:cNvPr id="25" name="Text 23"/>
          <p:cNvSpPr txBox="1"/>
          <p:nvPr/>
        </p:nvSpPr>
        <p:spPr>
          <a:xfrm>
            <a:off x="6519672" y="3255264"/>
            <a:ext cx="1691640" cy="603504"/>
          </a:xfrm>
          <a:prstGeom prst="rect">
            <a:avLst/>
          </a:prstGeom>
          <a:noFill/>
          <a:ln/>
        </p:spPr>
        <p:txBody>
          <a:bodyPr wrap="square" lIns="0" tIns="0" rIns="0" bIns="0" rtlCol="0" anchor="ctr"/>
          <a:lstStyle/>
          <a:p>
            <a:pPr indent="0" marL="0">
              <a:buNone/>
            </a:pPr>
            <a:r>
              <a:rPr lang="en-US" sz="1250" b="1" dirty="0">
                <a:solidFill>
                  <a:srgbClr val="0E1A2B"/>
                </a:solidFill>
                <a:latin typeface="Calibri" pitchFamily="34" charset="0"/>
                <a:ea typeface="Calibri" pitchFamily="34" charset="-122"/>
                <a:cs typeface="Calibri" pitchFamily="34" charset="-120"/>
              </a:rPr>
              <a:t>Reliability</a:t>
            </a:r>
            <a:endParaRPr lang="en-US" sz="1250" dirty="0"/>
          </a:p>
        </p:txBody>
      </p:sp>
      <p:sp>
        <p:nvSpPr>
          <p:cNvPr id="26" name="Text 24"/>
          <p:cNvSpPr txBox="1"/>
          <p:nvPr/>
        </p:nvSpPr>
        <p:spPr>
          <a:xfrm>
            <a:off x="8229600" y="3255264"/>
            <a:ext cx="1828800" cy="603504"/>
          </a:xfrm>
          <a:prstGeom prst="rect">
            <a:avLst/>
          </a:prstGeom>
          <a:noFill/>
          <a:ln/>
        </p:spPr>
        <p:txBody>
          <a:bodyPr wrap="square" lIns="0" tIns="0" rIns="0" bIns="0" rtlCol="0" anchor="ctr"/>
          <a:lstStyle/>
          <a:p>
            <a:pPr indent="0" marL="0">
              <a:buNone/>
            </a:pPr>
            <a:r>
              <a:rPr lang="en-US" sz="1150" dirty="0">
                <a:solidFill>
                  <a:srgbClr val="6B7A8D"/>
                </a:solidFill>
                <a:latin typeface="Calibri" pitchFamily="34" charset="0"/>
                <a:ea typeface="Calibri" pitchFamily="34" charset="-122"/>
                <a:cs typeface="Calibri" pitchFamily="34" charset="-120"/>
              </a:rPr>
              <a:t>Offline sync success</a:t>
            </a:r>
            <a:endParaRPr lang="en-US" sz="1150" dirty="0"/>
          </a:p>
        </p:txBody>
      </p:sp>
      <p:sp>
        <p:nvSpPr>
          <p:cNvPr id="27" name="Text 25"/>
          <p:cNvSpPr txBox="1"/>
          <p:nvPr/>
        </p:nvSpPr>
        <p:spPr>
          <a:xfrm>
            <a:off x="10058400" y="3255264"/>
            <a:ext cx="1325880" cy="603504"/>
          </a:xfrm>
          <a:prstGeom prst="rect">
            <a:avLst/>
          </a:prstGeom>
          <a:noFill/>
          <a:ln/>
        </p:spPr>
        <p:txBody>
          <a:bodyPr wrap="square" lIns="0" tIns="0" rIns="0" bIns="0" rtlCol="0" anchor="ctr"/>
          <a:lstStyle/>
          <a:p>
            <a:pPr algn="r" indent="0" marL="0">
              <a:buNone/>
            </a:pPr>
            <a:r>
              <a:rPr lang="en-US" sz="1200" b="1" dirty="0">
                <a:solidFill>
                  <a:srgbClr val="2E6F9E"/>
                </a:solidFill>
                <a:latin typeface="Calibri" pitchFamily="34" charset="0"/>
                <a:ea typeface="Calibri" pitchFamily="34" charset="-122"/>
                <a:cs typeface="Calibri" pitchFamily="34" charset="-120"/>
              </a:rPr>
              <a:t>≥ 95%</a:t>
            </a:r>
            <a:endParaRPr lang="en-US" sz="1200" dirty="0"/>
          </a:p>
        </p:txBody>
      </p:sp>
      <p:sp>
        <p:nvSpPr>
          <p:cNvPr id="28" name="Shape 26"/>
          <p:cNvSpPr/>
          <p:nvPr/>
        </p:nvSpPr>
        <p:spPr>
          <a:xfrm>
            <a:off x="640080" y="3968496"/>
            <a:ext cx="5257800" cy="603504"/>
          </a:xfrm>
          <a:prstGeom prst="roundRect">
            <a:avLst>
              <a:gd name="adj" fmla="val 6061"/>
            </a:avLst>
          </a:prstGeom>
          <a:solidFill>
            <a:srgbClr val="FFFFFF"/>
          </a:solidFill>
          <a:ln/>
        </p:spPr>
      </p:sp>
      <p:sp>
        <p:nvSpPr>
          <p:cNvPr id="29" name="Text 27"/>
          <p:cNvSpPr txBox="1"/>
          <p:nvPr/>
        </p:nvSpPr>
        <p:spPr>
          <a:xfrm>
            <a:off x="896112" y="3968496"/>
            <a:ext cx="1691640" cy="603504"/>
          </a:xfrm>
          <a:prstGeom prst="rect">
            <a:avLst/>
          </a:prstGeom>
          <a:noFill/>
          <a:ln/>
        </p:spPr>
        <p:txBody>
          <a:bodyPr wrap="square" lIns="0" tIns="0" rIns="0" bIns="0" rtlCol="0" anchor="ctr"/>
          <a:lstStyle/>
          <a:p>
            <a:pPr indent="0" marL="0">
              <a:buNone/>
            </a:pPr>
            <a:r>
              <a:rPr lang="en-US" sz="1250" b="1" dirty="0">
                <a:solidFill>
                  <a:srgbClr val="0E1A2B"/>
                </a:solidFill>
                <a:latin typeface="Calibri" pitchFamily="34" charset="0"/>
                <a:ea typeface="Calibri" pitchFamily="34" charset="-122"/>
                <a:cs typeface="Calibri" pitchFamily="34" charset="-120"/>
              </a:rPr>
              <a:t>Security</a:t>
            </a:r>
            <a:endParaRPr lang="en-US" sz="1250" dirty="0"/>
          </a:p>
        </p:txBody>
      </p:sp>
      <p:sp>
        <p:nvSpPr>
          <p:cNvPr id="30" name="Text 28"/>
          <p:cNvSpPr txBox="1"/>
          <p:nvPr/>
        </p:nvSpPr>
        <p:spPr>
          <a:xfrm>
            <a:off x="2606040" y="3968496"/>
            <a:ext cx="1828800" cy="603504"/>
          </a:xfrm>
          <a:prstGeom prst="rect">
            <a:avLst/>
          </a:prstGeom>
          <a:noFill/>
          <a:ln/>
        </p:spPr>
        <p:txBody>
          <a:bodyPr wrap="square" lIns="0" tIns="0" rIns="0" bIns="0" rtlCol="0" anchor="ctr"/>
          <a:lstStyle/>
          <a:p>
            <a:pPr indent="0" marL="0">
              <a:buNone/>
            </a:pPr>
            <a:r>
              <a:rPr lang="en-US" sz="1150" dirty="0">
                <a:solidFill>
                  <a:srgbClr val="6B7A8D"/>
                </a:solidFill>
                <a:latin typeface="Calibri" pitchFamily="34" charset="0"/>
                <a:ea typeface="Calibri" pitchFamily="34" charset="-122"/>
                <a:cs typeface="Calibri" pitchFamily="34" charset="-120"/>
              </a:rPr>
              <a:t>Vulnerability severity</a:t>
            </a:r>
            <a:endParaRPr lang="en-US" sz="1150" dirty="0"/>
          </a:p>
        </p:txBody>
      </p:sp>
      <p:sp>
        <p:nvSpPr>
          <p:cNvPr id="31" name="Text 29"/>
          <p:cNvSpPr txBox="1"/>
          <p:nvPr/>
        </p:nvSpPr>
        <p:spPr>
          <a:xfrm>
            <a:off x="4434840" y="3968496"/>
            <a:ext cx="1325880" cy="603504"/>
          </a:xfrm>
          <a:prstGeom prst="rect">
            <a:avLst/>
          </a:prstGeom>
          <a:noFill/>
          <a:ln/>
        </p:spPr>
        <p:txBody>
          <a:bodyPr wrap="square" lIns="0" tIns="0" rIns="0" bIns="0" rtlCol="0" anchor="ctr"/>
          <a:lstStyle/>
          <a:p>
            <a:pPr algn="r" indent="0" marL="0">
              <a:buNone/>
            </a:pPr>
            <a:r>
              <a:rPr lang="en-US" sz="1200" b="1" dirty="0">
                <a:solidFill>
                  <a:srgbClr val="2E6F9E"/>
                </a:solidFill>
                <a:latin typeface="Calibri" pitchFamily="34" charset="0"/>
                <a:ea typeface="Calibri" pitchFamily="34" charset="-122"/>
                <a:cs typeface="Calibri" pitchFamily="34" charset="-120"/>
              </a:rPr>
              <a:t>No high-risk (CVSS ≥ 7.0)</a:t>
            </a:r>
            <a:endParaRPr lang="en-US" sz="1200" dirty="0"/>
          </a:p>
        </p:txBody>
      </p:sp>
      <p:sp>
        <p:nvSpPr>
          <p:cNvPr id="32" name="Shape 30"/>
          <p:cNvSpPr/>
          <p:nvPr/>
        </p:nvSpPr>
        <p:spPr>
          <a:xfrm>
            <a:off x="6263640" y="3968496"/>
            <a:ext cx="5257800" cy="603504"/>
          </a:xfrm>
          <a:prstGeom prst="roundRect">
            <a:avLst>
              <a:gd name="adj" fmla="val 6061"/>
            </a:avLst>
          </a:prstGeom>
          <a:solidFill>
            <a:srgbClr val="FFFFFF"/>
          </a:solidFill>
          <a:ln/>
        </p:spPr>
      </p:sp>
      <p:sp>
        <p:nvSpPr>
          <p:cNvPr id="33" name="Text 31"/>
          <p:cNvSpPr txBox="1"/>
          <p:nvPr/>
        </p:nvSpPr>
        <p:spPr>
          <a:xfrm>
            <a:off x="6519672" y="3968496"/>
            <a:ext cx="1691640" cy="603504"/>
          </a:xfrm>
          <a:prstGeom prst="rect">
            <a:avLst/>
          </a:prstGeom>
          <a:noFill/>
          <a:ln/>
        </p:spPr>
        <p:txBody>
          <a:bodyPr wrap="square" lIns="0" tIns="0" rIns="0" bIns="0" rtlCol="0" anchor="ctr"/>
          <a:lstStyle/>
          <a:p>
            <a:pPr indent="0" marL="0">
              <a:buNone/>
            </a:pPr>
            <a:r>
              <a:rPr lang="en-US" sz="1250" b="1" dirty="0">
                <a:solidFill>
                  <a:srgbClr val="0E1A2B"/>
                </a:solidFill>
                <a:latin typeface="Calibri" pitchFamily="34" charset="0"/>
                <a:ea typeface="Calibri" pitchFamily="34" charset="-122"/>
                <a:cs typeface="Calibri" pitchFamily="34" charset="-120"/>
              </a:rPr>
              <a:t>Access control</a:t>
            </a:r>
            <a:endParaRPr lang="en-US" sz="1250" dirty="0"/>
          </a:p>
        </p:txBody>
      </p:sp>
      <p:sp>
        <p:nvSpPr>
          <p:cNvPr id="34" name="Text 32"/>
          <p:cNvSpPr txBox="1"/>
          <p:nvPr/>
        </p:nvSpPr>
        <p:spPr>
          <a:xfrm>
            <a:off x="8229600" y="3968496"/>
            <a:ext cx="1828800" cy="603504"/>
          </a:xfrm>
          <a:prstGeom prst="rect">
            <a:avLst/>
          </a:prstGeom>
          <a:noFill/>
          <a:ln/>
        </p:spPr>
        <p:txBody>
          <a:bodyPr wrap="square" lIns="0" tIns="0" rIns="0" bIns="0" rtlCol="0" anchor="ctr"/>
          <a:lstStyle/>
          <a:p>
            <a:pPr indent="0" marL="0">
              <a:buNone/>
            </a:pPr>
            <a:r>
              <a:rPr lang="en-US" sz="1150" dirty="0">
                <a:solidFill>
                  <a:srgbClr val="6B7A8D"/>
                </a:solidFill>
                <a:latin typeface="Calibri" pitchFamily="34" charset="0"/>
                <a:ea typeface="Calibri" pitchFamily="34" charset="-122"/>
                <a:cs typeface="Calibri" pitchFamily="34" charset="-120"/>
              </a:rPr>
              <a:t>Unauthorised requests</a:t>
            </a:r>
            <a:endParaRPr lang="en-US" sz="1150" dirty="0"/>
          </a:p>
        </p:txBody>
      </p:sp>
      <p:sp>
        <p:nvSpPr>
          <p:cNvPr id="35" name="Text 33"/>
          <p:cNvSpPr txBox="1"/>
          <p:nvPr/>
        </p:nvSpPr>
        <p:spPr>
          <a:xfrm>
            <a:off x="10058400" y="3968496"/>
            <a:ext cx="1325880" cy="603504"/>
          </a:xfrm>
          <a:prstGeom prst="rect">
            <a:avLst/>
          </a:prstGeom>
          <a:noFill/>
          <a:ln/>
        </p:spPr>
        <p:txBody>
          <a:bodyPr wrap="square" lIns="0" tIns="0" rIns="0" bIns="0" rtlCol="0" anchor="ctr"/>
          <a:lstStyle/>
          <a:p>
            <a:pPr algn="r" indent="0" marL="0">
              <a:buNone/>
            </a:pPr>
            <a:r>
              <a:rPr lang="en-US" sz="1200" b="1" dirty="0">
                <a:solidFill>
                  <a:srgbClr val="2E6F9E"/>
                </a:solidFill>
                <a:latin typeface="Calibri" pitchFamily="34" charset="0"/>
                <a:ea typeface="Calibri" pitchFamily="34" charset="-122"/>
                <a:cs typeface="Calibri" pitchFamily="34" charset="-120"/>
              </a:rPr>
              <a:t>100% rejected</a:t>
            </a:r>
            <a:endParaRPr lang="en-US" sz="1200" dirty="0"/>
          </a:p>
        </p:txBody>
      </p:sp>
      <p:sp>
        <p:nvSpPr>
          <p:cNvPr id="37" name="Text 34"/>
          <p:cNvSpPr txBox="1"/>
          <p:nvPr/>
        </p:nvSpPr>
        <p:spPr>
          <a:xfrm>
            <a:off x="640080" y="6382512"/>
            <a:ext cx="4572000" cy="274320"/>
          </a:xfrm>
          <a:prstGeom prst="rect">
            <a:avLst/>
          </a:prstGeom>
          <a:noFill/>
          <a:ln/>
        </p:spPr>
        <p:txBody>
          <a:bodyPr wrap="square" lIns="0" tIns="0" rIns="0" bIns="0" rtlCol="0" anchor="ctr"/>
          <a:lstStyle/>
          <a:p>
            <a:pPr indent="0" marL="0">
              <a:buNone/>
            </a:pPr>
            <a:r>
              <a:rPr lang="en-US" sz="900" dirty="0">
                <a:solidFill>
                  <a:srgbClr val="6B7A8D"/>
                </a:solidFill>
                <a:latin typeface="Calibri" pitchFamily="34" charset="0"/>
                <a:ea typeface="Calibri" pitchFamily="34" charset="-122"/>
                <a:cs typeface="Calibri" pitchFamily="34" charset="-120"/>
              </a:rPr>
              <a:t>L-SIAMS  ·  Prototype Defense</a:t>
            </a:r>
            <a:endParaRPr lang="en-US" sz="900" dirty="0"/>
          </a:p>
        </p:txBody>
      </p:sp>
      <p:sp>
        <p:nvSpPr>
          <p:cNvPr id="38" name="Text 35"/>
          <p:cNvSpPr txBox="1"/>
          <p:nvPr/>
        </p:nvSpPr>
        <p:spPr>
          <a:xfrm>
            <a:off x="10637215" y="6382512"/>
            <a:ext cx="914400" cy="274320"/>
          </a:xfrm>
          <a:prstGeom prst="rect">
            <a:avLst/>
          </a:prstGeom>
          <a:noFill/>
          <a:ln/>
        </p:spPr>
        <p:txBody>
          <a:bodyPr wrap="square" lIns="0" tIns="0" rIns="0" bIns="0" rtlCol="0" anchor="ctr"/>
          <a:lstStyle/>
          <a:p>
            <a:pPr algn="r" indent="0" marL="0">
              <a:buNone/>
            </a:pPr>
            <a:r>
              <a:rPr lang="en-US" sz="900" dirty="0">
                <a:solidFill>
                  <a:srgbClr val="6B7A8D"/>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2B"/>
        </a:solidFill>
      </p:bgPr>
    </p:bg>
    <p:spTree>
      <p:nvGrpSpPr>
        <p:cNvPr id="1" name=""/>
        <p:cNvGrpSpPr/>
        <p:nvPr/>
      </p:nvGrpSpPr>
      <p:grpSpPr>
        <a:xfrm>
          <a:off x="0" y="0"/>
          <a:ext cx="0" cy="0"/>
          <a:chOff x="0" y="0"/>
          <a:chExt cx="0" cy="0"/>
        </a:xfrm>
      </p:grpSpPr>
      <p:sp>
        <p:nvSpPr>
          <p:cNvPr id="2" name="Text 0"/>
          <p:cNvSpPr txBox="1"/>
          <p:nvPr/>
        </p:nvSpPr>
        <p:spPr>
          <a:xfrm>
            <a:off x="640080" y="2103120"/>
            <a:ext cx="731520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3" name="Text 1"/>
          <p:cNvSpPr txBox="1"/>
          <p:nvPr/>
        </p:nvSpPr>
        <p:spPr>
          <a:xfrm>
            <a:off x="640080" y="3017520"/>
            <a:ext cx="7315200" cy="411480"/>
          </a:xfrm>
          <a:prstGeom prst="rect">
            <a:avLst/>
          </a:prstGeom>
          <a:noFill/>
          <a:ln/>
        </p:spPr>
        <p:txBody>
          <a:bodyPr wrap="square" lIns="0" tIns="0" rIns="0" bIns="0" rtlCol="0" anchor="ctr"/>
          <a:lstStyle/>
          <a:p>
            <a:pPr indent="0" marL="0">
              <a:buNone/>
            </a:pPr>
            <a:r>
              <a:rPr lang="en-US" sz="1800" dirty="0">
                <a:solidFill>
                  <a:srgbClr val="E9EEF5"/>
                </a:solidFill>
                <a:latin typeface="Calibri" pitchFamily="34" charset="0"/>
                <a:ea typeface="Calibri" pitchFamily="34" charset="-122"/>
                <a:cs typeface="Calibri" pitchFamily="34" charset="-120"/>
              </a:rPr>
              <a:t>We welcome your questions.</a:t>
            </a:r>
            <a:endParaRPr lang="en-US" sz="1800" dirty="0"/>
          </a:p>
        </p:txBody>
      </p:sp>
      <p:sp>
        <p:nvSpPr>
          <p:cNvPr id="4" name="Text 2"/>
          <p:cNvSpPr txBox="1"/>
          <p:nvPr/>
        </p:nvSpPr>
        <p:spPr>
          <a:xfrm>
            <a:off x="640080" y="4114800"/>
            <a:ext cx="3291840" cy="274320"/>
          </a:xfrm>
          <a:prstGeom prst="rect">
            <a:avLst/>
          </a:prstGeom>
          <a:noFill/>
          <a:ln/>
        </p:spPr>
        <p:txBody>
          <a:bodyPr wrap="square" lIns="0" tIns="0" rIns="0" bIns="0" rtlCol="0" anchor="ctr"/>
          <a:lstStyle/>
          <a:p>
            <a:pPr indent="0" marL="0">
              <a:buNone/>
            </a:pPr>
            <a:r>
              <a:rPr lang="en-US" sz="1100" b="1" spc="100" kern="0" dirty="0">
                <a:solidFill>
                  <a:srgbClr val="E8A33D"/>
                </a:solidFill>
                <a:latin typeface="Calibri" pitchFamily="34" charset="0"/>
                <a:ea typeface="Calibri" pitchFamily="34" charset="-122"/>
                <a:cs typeface="Calibri" pitchFamily="34" charset="-120"/>
              </a:rPr>
              <a:t>BUILT</a:t>
            </a:r>
            <a:endParaRPr lang="en-US" sz="1100" dirty="0"/>
          </a:p>
        </p:txBody>
      </p:sp>
      <p:sp>
        <p:nvSpPr>
          <p:cNvPr id="5" name="Text 3"/>
          <p:cNvSpPr txBox="1"/>
          <p:nvPr/>
        </p:nvSpPr>
        <p:spPr>
          <a:xfrm>
            <a:off x="640080" y="4425696"/>
            <a:ext cx="3291840" cy="731520"/>
          </a:xfrm>
          <a:prstGeom prst="rect">
            <a:avLst/>
          </a:prstGeom>
          <a:noFill/>
          <a:ln/>
        </p:spPr>
        <p:txBody>
          <a:bodyPr wrap="square" lIns="0" tIns="0" rIns="0" bIns="0" rtlCol="0" anchor="ctr"/>
          <a:lstStyle/>
          <a:p>
            <a:pPr indent="0" marL="0">
              <a:lnSpc>
                <a:spcPts val="1700"/>
              </a:lnSpc>
              <a:buNone/>
            </a:pPr>
            <a:r>
              <a:rPr lang="en-US" sz="1250" dirty="0">
                <a:solidFill>
                  <a:srgbClr val="9FB0C4"/>
                </a:solidFill>
                <a:latin typeface="Calibri" pitchFamily="34" charset="0"/>
                <a:ea typeface="Calibri" pitchFamily="34" charset="-122"/>
                <a:cs typeface="Calibri" pitchFamily="34" charset="-120"/>
              </a:rPr>
              <a:t>Hardware, application, database and every security layer</a:t>
            </a:r>
            <a:endParaRPr lang="en-US" sz="1250" dirty="0"/>
          </a:p>
        </p:txBody>
      </p:sp>
      <p:sp>
        <p:nvSpPr>
          <p:cNvPr id="6" name="Text 4"/>
          <p:cNvSpPr txBox="1"/>
          <p:nvPr/>
        </p:nvSpPr>
        <p:spPr>
          <a:xfrm>
            <a:off x="4297680" y="4114800"/>
            <a:ext cx="3291840" cy="274320"/>
          </a:xfrm>
          <a:prstGeom prst="rect">
            <a:avLst/>
          </a:prstGeom>
          <a:noFill/>
          <a:ln/>
        </p:spPr>
        <p:txBody>
          <a:bodyPr wrap="square" lIns="0" tIns="0" rIns="0" bIns="0" rtlCol="0" anchor="ctr"/>
          <a:lstStyle/>
          <a:p>
            <a:pPr indent="0" marL="0">
              <a:buNone/>
            </a:pPr>
            <a:r>
              <a:rPr lang="en-US" sz="1100" b="1" spc="100" kern="0" dirty="0">
                <a:solidFill>
                  <a:srgbClr val="E8A33D"/>
                </a:solidFill>
                <a:latin typeface="Calibri" pitchFamily="34" charset="0"/>
                <a:ea typeface="Calibri" pitchFamily="34" charset="-122"/>
                <a:cs typeface="Calibri" pitchFamily="34" charset="-120"/>
              </a:rPr>
              <a:t>VERIFIED</a:t>
            </a:r>
            <a:endParaRPr lang="en-US" sz="1100" dirty="0"/>
          </a:p>
        </p:txBody>
      </p:sp>
      <p:sp>
        <p:nvSpPr>
          <p:cNvPr id="7" name="Text 5"/>
          <p:cNvSpPr txBox="1"/>
          <p:nvPr/>
        </p:nvSpPr>
        <p:spPr>
          <a:xfrm>
            <a:off x="4297680" y="4425696"/>
            <a:ext cx="3291840" cy="731520"/>
          </a:xfrm>
          <a:prstGeom prst="rect">
            <a:avLst/>
          </a:prstGeom>
          <a:noFill/>
          <a:ln/>
        </p:spPr>
        <p:txBody>
          <a:bodyPr wrap="square" lIns="0" tIns="0" rIns="0" bIns="0" rtlCol="0" anchor="ctr"/>
          <a:lstStyle/>
          <a:p>
            <a:pPr indent="0" marL="0">
              <a:lnSpc>
                <a:spcPts val="1700"/>
              </a:lnSpc>
              <a:buNone/>
            </a:pPr>
            <a:r>
              <a:rPr lang="en-US" sz="1250" dirty="0">
                <a:solidFill>
                  <a:srgbClr val="9FB0C4"/>
                </a:solidFill>
                <a:latin typeface="Calibri" pitchFamily="34" charset="0"/>
                <a:ea typeface="Calibri" pitchFamily="34" charset="-122"/>
                <a:cs typeface="Calibri" pitchFamily="34" charset="-120"/>
              </a:rPr>
              <a:t>TLS suite passing; correctness suite written</a:t>
            </a:r>
            <a:endParaRPr lang="en-US" sz="1250" dirty="0"/>
          </a:p>
        </p:txBody>
      </p:sp>
      <p:sp>
        <p:nvSpPr>
          <p:cNvPr id="8" name="Text 6"/>
          <p:cNvSpPr txBox="1"/>
          <p:nvPr/>
        </p:nvSpPr>
        <p:spPr>
          <a:xfrm>
            <a:off x="7955280" y="4114800"/>
            <a:ext cx="3291840" cy="274320"/>
          </a:xfrm>
          <a:prstGeom prst="rect">
            <a:avLst/>
          </a:prstGeom>
          <a:noFill/>
          <a:ln/>
        </p:spPr>
        <p:txBody>
          <a:bodyPr wrap="square" lIns="0" tIns="0" rIns="0" bIns="0" rtlCol="0" anchor="ctr"/>
          <a:lstStyle/>
          <a:p>
            <a:pPr indent="0" marL="0">
              <a:buNone/>
            </a:pPr>
            <a:r>
              <a:rPr lang="en-US" sz="1100" b="1" spc="100" kern="0" dirty="0">
                <a:solidFill>
                  <a:srgbClr val="E8A33D"/>
                </a:solidFill>
                <a:latin typeface="Calibri" pitchFamily="34" charset="0"/>
                <a:ea typeface="Calibri" pitchFamily="34" charset="-122"/>
                <a:cs typeface="Calibri" pitchFamily="34" charset="-120"/>
              </a:rPr>
              <a:t>NEXT</a:t>
            </a:r>
            <a:endParaRPr lang="en-US" sz="1100" dirty="0"/>
          </a:p>
        </p:txBody>
      </p:sp>
      <p:sp>
        <p:nvSpPr>
          <p:cNvPr id="9" name="Text 7"/>
          <p:cNvSpPr txBox="1"/>
          <p:nvPr/>
        </p:nvSpPr>
        <p:spPr>
          <a:xfrm>
            <a:off x="7955280" y="4425696"/>
            <a:ext cx="3291840" cy="731520"/>
          </a:xfrm>
          <a:prstGeom prst="rect">
            <a:avLst/>
          </a:prstGeom>
          <a:noFill/>
          <a:ln/>
        </p:spPr>
        <p:txBody>
          <a:bodyPr wrap="square" lIns="0" tIns="0" rIns="0" bIns="0" rtlCol="0" anchor="ctr"/>
          <a:lstStyle/>
          <a:p>
            <a:pPr indent="0" marL="0">
              <a:lnSpc>
                <a:spcPts val="1700"/>
              </a:lnSpc>
              <a:buNone/>
            </a:pPr>
            <a:r>
              <a:rPr lang="en-US" sz="1250" dirty="0">
                <a:solidFill>
                  <a:srgbClr val="9FB0C4"/>
                </a:solidFill>
                <a:latin typeface="Calibri" pitchFamily="34" charset="0"/>
                <a:ea typeface="Calibri" pitchFamily="34" charset="-122"/>
                <a:cs typeface="Calibri" pitchFamily="34" charset="-120"/>
              </a:rPr>
              <a:t>Classroom deployment, security testing, user evaluation</a:t>
            </a:r>
            <a:endParaRPr lang="en-US" sz="1250" dirty="0"/>
          </a:p>
        </p:txBody>
      </p:sp>
      <p:sp>
        <p:nvSpPr>
          <p:cNvPr id="10" name="Text 8"/>
          <p:cNvSpPr txBox="1"/>
          <p:nvPr/>
        </p:nvSpPr>
        <p:spPr>
          <a:xfrm>
            <a:off x="640080" y="5806440"/>
            <a:ext cx="10058400" cy="320040"/>
          </a:xfrm>
          <a:prstGeom prst="rect">
            <a:avLst/>
          </a:prstGeom>
          <a:noFill/>
          <a:ln/>
        </p:spPr>
        <p:txBody>
          <a:bodyPr wrap="square" lIns="0" tIns="0" rIns="0" bIns="0" rtlCol="0" anchor="ctr"/>
          <a:lstStyle/>
          <a:p>
            <a:pPr indent="0" marL="0">
              <a:buNone/>
            </a:pPr>
            <a:r>
              <a:rPr lang="en-US" sz="1200" dirty="0">
                <a:solidFill>
                  <a:srgbClr val="6B7A8D"/>
                </a:solidFill>
                <a:latin typeface="Calibri" pitchFamily="34" charset="0"/>
                <a:ea typeface="Calibri" pitchFamily="34" charset="-122"/>
                <a:cs typeface="Calibri" pitchFamily="34" charset="-120"/>
              </a:rPr>
              <a:t>Ched Nikko P. Pangilinan  ·  Joshkirby Tyler M. Bote  ·  Naph Yvan P. Villamar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2026-09-01T05:45:12Z</dcterms:created>
  <dcterms:modified xsi:type="dcterms:W3CDTF">2026-09-01T05:45:12Z</dcterms:modified>
</cp:coreProperties>
</file>